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3"/>
  </p:sldMasterIdLst>
  <p:notesMasterIdLst>
    <p:notesMasterId r:id="rId20"/>
  </p:notesMasterIdLst>
  <p:handoutMasterIdLst>
    <p:handoutMasterId r:id="rId21"/>
  </p:handoutMasterIdLst>
  <p:sldIdLst>
    <p:sldId id="463" r:id="rId4"/>
    <p:sldId id="464" r:id="rId5"/>
    <p:sldId id="483" r:id="rId6"/>
    <p:sldId id="485" r:id="rId7"/>
    <p:sldId id="482" r:id="rId8"/>
    <p:sldId id="479" r:id="rId9"/>
    <p:sldId id="478" r:id="rId10"/>
    <p:sldId id="484" r:id="rId11"/>
    <p:sldId id="480" r:id="rId12"/>
    <p:sldId id="489" r:id="rId13"/>
    <p:sldId id="481" r:id="rId14"/>
    <p:sldId id="465" r:id="rId15"/>
    <p:sldId id="471" r:id="rId16"/>
    <p:sldId id="466" r:id="rId17"/>
    <p:sldId id="488" r:id="rId18"/>
    <p:sldId id="444" r:id="rId19"/>
  </p:sldIdLst>
  <p:sldSz cx="12192000" cy="6858000"/>
  <p:notesSz cx="6858000" cy="9144000"/>
  <p:custDataLst>
    <p:tags r:id="rId22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120C8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E9094C-DC18-7172-F32E-C0C314541269}" name="Cláudio Ângelo Gonçalves Gomes" initials="CG" userId="S::au602135@uni.au.dk::88ad1fd7-93d7-440b-80bb-a69b506dfa8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C80"/>
    <a:srgbClr val="00376F"/>
    <a:srgbClr val="91100E"/>
    <a:srgbClr val="5E676E"/>
    <a:srgbClr val="C91330"/>
    <a:srgbClr val="FFE79D"/>
    <a:srgbClr val="ED6A50"/>
    <a:srgbClr val="F9E300"/>
    <a:srgbClr val="E3FF00"/>
    <a:srgbClr val="4F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824" autoAdjust="0"/>
  </p:normalViewPr>
  <p:slideViewPr>
    <p:cSldViewPr snapToGrid="0">
      <p:cViewPr varScale="1">
        <p:scale>
          <a:sx n="71" d="100"/>
          <a:sy n="71" d="100"/>
        </p:scale>
        <p:origin x="974" y="48"/>
      </p:cViewPr>
      <p:guideLst>
        <p:guide orient="horz" pos="218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4DDB95-9110-49C7-9D00-DE752580CD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93738F-46BC-4330-B613-4C94BEDEF2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796A944-C12F-4BF4-A69A-0C008A8C285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CCFA6AD-3184-4D20-ADD5-106C66D5944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1DF58F-2A57-452A-958D-23C67E78F907}" type="slidenum">
              <a:rPr lang="de-DE" altLang="en-US"/>
              <a:pPr>
                <a:defRPr/>
              </a:pPr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7DDC6B2-BAE9-4F15-BA17-0988F2AC4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2D93E0-79D8-4A1A-94C8-E2FAFFFE15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4BA1F97-1BE7-4EFA-9D91-E765E6F6BC0D}" type="datetimeFigureOut">
              <a:rPr lang="en-US"/>
              <a:pPr>
                <a:defRPr/>
              </a:pPr>
              <a:t>9/7/2025</a:t>
            </a:fld>
            <a:endParaRPr lang="en-US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C0472C7B-0169-4D84-989F-CCC06BAE6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B7BFA9F0-B57E-48A0-8F1A-E7AD8BE8E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AC7A05-627B-407F-AB8B-2DEA46ACF3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35BE4-0B65-4095-A55D-040C4721E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B06A50-7B57-4553-B2BC-E857236DEF86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98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co-sim and intermediate output notebooks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28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B06A50-7B57-4553-B2BC-E857236DEF8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60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D4F8991D-8E07-4CE6-801D-D42CAD1C25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0534" y="63658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5E676E"/>
                </a:solidFill>
              </a:rPr>
              <a:t>© 2025 FMI Modelica Association Project | www.fmi-standard.org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01539" y="3448808"/>
            <a:ext cx="9755716" cy="511442"/>
          </a:xfrm>
        </p:spPr>
        <p:txBody>
          <a:bodyPr bIns="43200">
            <a:spAutoFit/>
          </a:bodyPr>
          <a:lstStyle>
            <a:lvl1pPr algn="ctr">
              <a:defRPr lang="de-DE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01539" y="4760007"/>
            <a:ext cx="9755716" cy="1256510"/>
          </a:xfrm>
        </p:spPr>
        <p:txBody>
          <a:bodyPr/>
          <a:lstStyle>
            <a:lvl1pPr>
              <a:lnSpc>
                <a:spcPct val="95000"/>
              </a:lnSpc>
              <a:spcAft>
                <a:spcPct val="0"/>
              </a:spcAft>
              <a:defRPr lang="de-DE" sz="1800" kern="1200" baseline="0" dirty="0">
                <a:solidFill>
                  <a:srgbClr val="5E676E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886034-1211-45CD-971F-790844FF5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57" y="784058"/>
            <a:ext cx="4831080" cy="170078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67A0470-3E52-49B6-AC24-42ABC47AC5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104" y="6234354"/>
            <a:ext cx="1075060" cy="51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324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119" y="1461331"/>
            <a:ext cx="11003744" cy="4760007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fr-FR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132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497013"/>
            <a:ext cx="5371008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497013"/>
            <a:ext cx="5467351" cy="4513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014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6991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46561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692971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>
            <a:extLst>
              <a:ext uri="{FF2B5EF4-FFF2-40B4-BE49-F238E27FC236}">
                <a16:creationId xmlns:a16="http://schemas.microsoft.com/office/drawing/2014/main" id="{4A481C86-0EB0-4659-8599-FB1BED336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0184" y="703263"/>
            <a:ext cx="1104053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Page master 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3F7AA6AE-173C-471C-B562-46C348AAD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0184" y="1470819"/>
            <a:ext cx="11040533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Mastertextformat bearbeiten</a:t>
            </a:r>
          </a:p>
          <a:p>
            <a:pPr lvl="1"/>
            <a:r>
              <a:rPr lang="de-DE" altLang="en-US" dirty="0"/>
              <a:t>Zweite Ebene</a:t>
            </a:r>
          </a:p>
          <a:p>
            <a:pPr lvl="2"/>
            <a:r>
              <a:rPr lang="de-DE" altLang="en-US" dirty="0"/>
              <a:t>Dritte Ebene</a:t>
            </a:r>
          </a:p>
          <a:p>
            <a:pPr lvl="3"/>
            <a:r>
              <a:rPr lang="de-DE" altLang="en-US" dirty="0"/>
              <a:t>Vierte Ebene</a:t>
            </a:r>
          </a:p>
          <a:p>
            <a:pPr lvl="4"/>
            <a:r>
              <a:rPr lang="de-DE" altLang="en-US" dirty="0"/>
              <a:t>Fünfte Ebene</a:t>
            </a:r>
            <a:endParaRPr lang="en-US" altLang="en-US" dirty="0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03EADC3-11C7-4216-8817-8EA214D7F0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2234" y="6391275"/>
            <a:ext cx="3810931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dirty="0">
                <a:solidFill>
                  <a:srgbClr val="C00000"/>
                </a:solidFill>
              </a:rPr>
              <a:t>© 2025 FMI Modelica Association Project | www.fmi-standard.org</a:t>
            </a:r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2C3C27CE-FEF9-4C65-AC15-1FD889E5B5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8105" y="6391275"/>
            <a:ext cx="385313" cy="24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36000" bIns="46800">
            <a:spAutoFit/>
          </a:bodyPr>
          <a:lstStyle>
            <a:lvl1pPr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120C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60E12587-5785-4F82-9271-E67CE8CC889B}" type="slidenum">
              <a:rPr lang="de-DE" altLang="en-US" sz="1000" smtClean="0">
                <a:solidFill>
                  <a:srgbClr val="C00000"/>
                </a:solidFill>
              </a:rPr>
              <a:pPr algn="r">
                <a:spcBef>
                  <a:spcPct val="50000"/>
                </a:spcBef>
                <a:defRPr/>
              </a:pPr>
              <a:t>‹Nr.›</a:t>
            </a:fld>
            <a:endParaRPr lang="de-DE" altLang="en-US" sz="1000" dirty="0">
              <a:solidFill>
                <a:srgbClr val="C00000"/>
              </a:solidFill>
            </a:endParaRPr>
          </a:p>
        </p:txBody>
      </p:sp>
      <p:cxnSp>
        <p:nvCxnSpPr>
          <p:cNvPr id="2" name="Gerade Verbindung 17">
            <a:extLst>
              <a:ext uri="{FF2B5EF4-FFF2-40B4-BE49-F238E27FC236}">
                <a16:creationId xmlns:a16="http://schemas.microsoft.com/office/drawing/2014/main" id="{A54CB9AE-F6C2-4360-A3A1-E1284117E8CE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8" y="6342063"/>
            <a:ext cx="110257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Gerade Verbindung 25">
            <a:extLst>
              <a:ext uri="{FF2B5EF4-FFF2-40B4-BE49-F238E27FC236}">
                <a16:creationId xmlns:a16="http://schemas.microsoft.com/office/drawing/2014/main" id="{03FE9DB0-6C5D-4F81-8FD9-76F0388817E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4417" y="595313"/>
            <a:ext cx="9514416" cy="0"/>
          </a:xfrm>
          <a:prstGeom prst="line">
            <a:avLst/>
          </a:prstGeom>
          <a:noFill/>
          <a:ln w="25400" algn="ctr">
            <a:solidFill>
              <a:srgbClr val="C9133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6791679E-0829-41EF-8E10-9F455B579B8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360" y="168844"/>
            <a:ext cx="1276774" cy="4494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373" r:id="rId1"/>
    <p:sldLayoutId id="2147485368" r:id="rId2"/>
    <p:sldLayoutId id="2147485369" r:id="rId3"/>
    <p:sldLayoutId id="2147485370" r:id="rId4"/>
    <p:sldLayoutId id="2147485371" r:id="rId5"/>
    <p:sldLayoutId id="2147485372" r:id="rId6"/>
  </p:sldLayoutIdLst>
  <p:transition/>
  <p:hf sldNum="0"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5E676E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30000"/>
        </a:spcAft>
        <a:buSzPct val="75000"/>
        <a:defRPr sz="2000">
          <a:solidFill>
            <a:srgbClr val="5E676E"/>
          </a:solidFill>
          <a:latin typeface="+mn-lt"/>
          <a:ea typeface="+mn-ea"/>
          <a:cs typeface="+mn-cs"/>
        </a:defRPr>
      </a:lvl1pPr>
      <a:lvl2pPr marL="265113" indent="-263525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100000"/>
        <a:buFont typeface="Wingdings" panose="05000000000000000000" pitchFamily="2" charset="2"/>
        <a:buChar char="§"/>
        <a:defRPr>
          <a:solidFill>
            <a:srgbClr val="5E676E"/>
          </a:solidFill>
          <a:latin typeface="+mn-lt"/>
        </a:defRPr>
      </a:lvl2pPr>
      <a:lvl3pPr marL="536575" indent="-265113" algn="l" rtl="0" eaLnBrk="1" fontAlgn="base" hangingPunct="1">
        <a:spcBef>
          <a:spcPct val="0"/>
        </a:spcBef>
        <a:spcAft>
          <a:spcPct val="30000"/>
        </a:spcAft>
        <a:buClr>
          <a:srgbClr val="120C80"/>
        </a:buClr>
        <a:buSzPct val="90000"/>
        <a:buFont typeface="Wingdings" panose="05000000000000000000" pitchFamily="2" charset="2"/>
        <a:buChar char="§"/>
        <a:defRPr sz="1800">
          <a:solidFill>
            <a:srgbClr val="5E676E"/>
          </a:solidFill>
          <a:latin typeface="+mn-lt"/>
        </a:defRPr>
      </a:lvl3pPr>
      <a:lvl4pPr marL="803275" indent="-265113" algn="l" defTabSz="896938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600">
          <a:solidFill>
            <a:srgbClr val="5E676E"/>
          </a:solidFill>
          <a:latin typeface="+mn-lt"/>
        </a:defRPr>
      </a:lvl4pPr>
      <a:lvl5pPr marL="982663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600">
          <a:solidFill>
            <a:srgbClr val="5E676E"/>
          </a:solidFill>
          <a:latin typeface="+mn-lt"/>
        </a:defRPr>
      </a:lvl5pPr>
      <a:lvl6pPr marL="15335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6pPr>
      <a:lvl7pPr marL="19907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7pPr>
      <a:lvl8pPr marL="24479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8pPr>
      <a:lvl9pPr marL="2905125" indent="-177800" algn="l" rtl="0" eaLnBrk="1" fontAlgn="base" hangingPunct="1">
        <a:spcBef>
          <a:spcPct val="0"/>
        </a:spcBef>
        <a:spcAft>
          <a:spcPct val="30000"/>
        </a:spcAft>
        <a:buClr>
          <a:schemeClr val="bg2"/>
        </a:buClr>
        <a:buSzPct val="7500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ithub.com/modelica/fmi-beginners-tutorial-2023/tree/mai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dhp3L6aMaA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hyperlink" Target="https://colab.research.google.com/github/chrbertsch/fmi3-features/blob/main/array_variables.ipynb" TargetMode="External"/><Relationship Id="rId4" Type="http://schemas.openxmlformats.org/officeDocument/2006/relationships/hyperlink" Target="https://github.com/chrbertsch/fmi3-features/blob/main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hyperlink" Target="https://colab.research.google.com/github/chrbertsch/fmi3-features/blob/main/array_variables.ipynb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github.com/chrbertsch/fmi3-features/blob/mai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hyperlink" Target="https://colab.research.google.com/github/chrbertsch/fmi3-features/blob/main/array_variables.ipynb" TargetMode="External"/><Relationship Id="rId4" Type="http://schemas.openxmlformats.org/officeDocument/2006/relationships/hyperlink" Target="https://github.com/chrbertsch/fmi3-features/blob/ma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hyperlink" Target="https://github.com/clagms/synchronous-clock-fmu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newsletter.modelica.org/2021-03/inde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github.com/t-sommer/fmi3-features/blob/main/adjoint_derivatives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asadi/casadi/blob/main/docs/notebooks/fmu_demo.ipynb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ldefense.com/v3/__https:/github.com/modelica/fmi-ls-bus__;!!FbCVDoc3r24SyHFW!5l_S7VaMdkN0iUbwyc1QWMjSoM-4ajwim5JTJGcxHOcMteTDeFXbSgQLfNy15zVSTGnkWiz1iIR2F4dH8zt6890x6RTcUk4$" TargetMode="External"/><Relationship Id="rId2" Type="http://schemas.openxmlformats.org/officeDocument/2006/relationships/hyperlink" Target="https://urldefense.com/v3/__https:/github.com/modelica/fmi-ls-xcp__;!!FbCVDoc3r24SyHFW!5l_S7VaMdkN0iUbwyc1QWMjSoM-4ajwim5JTJGcxHOcMteTDeFXbSgQLfNy15zVSTGnkWiz1iIR2F4dH8zt6890xmtmCXYc$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hyperlink" Target="https://urldefense.com/v3/__https:/github.com/modelica/fmi-ls-ref__;!!FbCVDoc3r24SyHFW!5l_S7VaMdkN0iUbwyc1QWMjSoM-4ajwim5JTJGcxHOcMteTDeFXbSgQLfNy15zVSTGnkWiz1iIR2F4dH8zt6890xVlZrt2s$" TargetMode="External"/><Relationship Id="rId4" Type="http://schemas.openxmlformats.org/officeDocument/2006/relationships/hyperlink" Target="https://urldefense.com/v3/__https:/github.com/modelica/fmi-ls-struct__;!!FbCVDoc3r24SyHFW!5l_S7VaMdkN0iUbwyc1QWMjSoM-4ajwim5JTJGcxHOcMteTDeFXbSgQLfNy15zVSTGnkWiz1iIR2F4dH8zt6890xdWYmNFc$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fmi-standard.org/validation/" TargetMode="External"/><Relationship Id="rId7" Type="http://schemas.openxmlformats.org/officeDocument/2006/relationships/hyperlink" Target="https://www.linkedin.com/groups/7477473/" TargetMode="External"/><Relationship Id="rId2" Type="http://schemas.openxmlformats.org/officeDocument/2006/relationships/hyperlink" Target="https://fmi-standard.org/tools/: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/tagged/fmi" TargetMode="External"/><Relationship Id="rId5" Type="http://schemas.openxmlformats.org/officeDocument/2006/relationships/hyperlink" Target="https://github.com/modelica/Reference-FMUs/tree/main" TargetMode="External"/><Relationship Id="rId10" Type="http://schemas.openxmlformats.org/officeDocument/2006/relationships/image" Target="../media/image29.png"/><Relationship Id="rId4" Type="http://schemas.openxmlformats.org/officeDocument/2006/relationships/hyperlink" Target="https://fmi-standard.org/literature/" TargetMode="External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fmi-standard.org" TargetMode="External"/><Relationship Id="rId2" Type="http://schemas.openxmlformats.org/officeDocument/2006/relationships/hyperlink" Target="mailto:Christian.Bertsch@de.bosch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laudio.gomes@ece.au.dk" TargetMode="External"/><Relationship Id="rId4" Type="http://schemas.openxmlformats.org/officeDocument/2006/relationships/hyperlink" Target="mailto:maurizio.palmieri@ing.unipi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0DB3F18D-4C30-4ACB-B112-0DA65BFB96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21971" y="2938298"/>
            <a:ext cx="9241972" cy="569920"/>
          </a:xfrm>
        </p:spPr>
        <p:txBody>
          <a:bodyPr/>
          <a:lstStyle/>
          <a:p>
            <a:r>
              <a:rPr lang="en-US" altLang="en-US" sz="3600" dirty="0"/>
              <a:t>FMI 3.0 advanced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81365-8BC5-0ED2-B57B-4A2854E67B43}"/>
              </a:ext>
            </a:extLst>
          </p:cNvPr>
          <p:cNvSpPr txBox="1"/>
          <p:nvPr/>
        </p:nvSpPr>
        <p:spPr>
          <a:xfrm>
            <a:off x="3118757" y="599203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Released under </a:t>
            </a:r>
            <a:r>
              <a:rPr lang="en-US" dirty="0">
                <a:hlinkClick r:id="rId3"/>
              </a:rPr>
              <a:t>Attribution-</a:t>
            </a:r>
            <a:r>
              <a:rPr lang="en-US" dirty="0" err="1">
                <a:hlinkClick r:id="rId3"/>
              </a:rPr>
              <a:t>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 License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2595-DD16-3C89-57F0-2D88EEA7533C}"/>
              </a:ext>
            </a:extLst>
          </p:cNvPr>
          <p:cNvSpPr txBox="1"/>
          <p:nvPr/>
        </p:nvSpPr>
        <p:spPr>
          <a:xfrm>
            <a:off x="4365171" y="3956033"/>
            <a:ext cx="39515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Presenters: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Christian Bertsch, Bosch Research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Claudio Gomes, Aarhus University</a:t>
            </a: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Maurizio Palmieri, University of Pisa</a:t>
            </a:r>
          </a:p>
          <a:p>
            <a:pPr algn="ctr"/>
            <a:endParaRPr lang="en-US" dirty="0">
              <a:solidFill>
                <a:srgbClr val="5E676E"/>
              </a:solidFill>
              <a:latin typeface="+mn-lt"/>
              <a:cs typeface="+mn-cs"/>
            </a:endParaRPr>
          </a:p>
          <a:p>
            <a:pPr algn="ctr"/>
            <a:r>
              <a:rPr lang="en-US" sz="1600" dirty="0">
                <a:solidFill>
                  <a:srgbClr val="5E676E"/>
                </a:solidFill>
                <a:latin typeface="+mn-lt"/>
                <a:cs typeface="+mn-cs"/>
              </a:rPr>
              <a:t>Special thanks to </a:t>
            </a:r>
          </a:p>
          <a:p>
            <a:pPr algn="ctr"/>
            <a:r>
              <a:rPr lang="en-US" dirty="0">
                <a:solidFill>
                  <a:srgbClr val="5E676E"/>
                </a:solidFill>
                <a:latin typeface="+mn-lt"/>
                <a:cs typeface="+mn-cs"/>
              </a:rPr>
              <a:t>Torsten Sommer, Dassault </a:t>
            </a:r>
            <a:r>
              <a:rPr lang="en-US" dirty="0" err="1">
                <a:solidFill>
                  <a:srgbClr val="5E676E"/>
                </a:solidFill>
                <a:latin typeface="+mn-lt"/>
                <a:cs typeface="+mn-cs"/>
              </a:rPr>
              <a:t>Systèmes</a:t>
            </a:r>
            <a:endParaRPr lang="en-US" sz="16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96AC6-CF00-3FD5-F8CA-C71EE1916A46}"/>
              </a:ext>
            </a:extLst>
          </p:cNvPr>
          <p:cNvSpPr txBox="1"/>
          <p:nvPr/>
        </p:nvSpPr>
        <p:spPr>
          <a:xfrm>
            <a:off x="9619757" y="3586701"/>
            <a:ext cx="214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5E676E"/>
                </a:solidFill>
                <a:latin typeface="+mn-lt"/>
                <a:cs typeface="+mn-cs"/>
              </a:rPr>
              <a:t>Online Materials: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F751A-6DA8-5D6B-6AA8-9CFB62027B2C}"/>
              </a:ext>
            </a:extLst>
          </p:cNvPr>
          <p:cNvSpPr txBox="1"/>
          <p:nvPr/>
        </p:nvSpPr>
        <p:spPr>
          <a:xfrm>
            <a:off x="9350283" y="5890140"/>
            <a:ext cx="4823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https://github.com/modelica/</a:t>
            </a:r>
            <a:b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</a:br>
            <a:r>
              <a:rPr lang="en-US" sz="1200" dirty="0">
                <a:solidFill>
                  <a:srgbClr val="5E676E"/>
                </a:solidFill>
                <a:latin typeface="+mn-lt"/>
                <a:cs typeface="+mn-cs"/>
                <a:hlinkClick r:id="rId4"/>
              </a:rPr>
              <a:t>fmi-beginners-tutorial-2025/tree/main</a:t>
            </a:r>
            <a:endParaRPr lang="en-US" sz="1200" dirty="0">
              <a:solidFill>
                <a:srgbClr val="5E676E"/>
              </a:solidFill>
              <a:latin typeface="+mn-lt"/>
              <a:cs typeface="+mn-cs"/>
            </a:endParaRPr>
          </a:p>
          <a:p>
            <a:endParaRPr lang="en-US" sz="1800" dirty="0">
              <a:solidFill>
                <a:srgbClr val="5E676E"/>
              </a:solidFill>
              <a:latin typeface="+mn-lt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6029A5-4090-9F21-1EE7-AC7F1D537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200" y="3898088"/>
            <a:ext cx="1681480" cy="16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4981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2A51A01-30D4-A5F0-ED73-4E148EF0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FMI 3.0 news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New data types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Binary Variables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Co-Simulation with Events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Intermediate variable access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Clocks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Adjoint derivatives</a:t>
            </a:r>
          </a:p>
          <a:p>
            <a:r>
              <a:rPr lang="en-US" dirty="0"/>
              <a:t>Layered Standards using FMI 3.0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Layered Standard for Network Communication (FMI-LS-BUS)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Layered Standard for structured Data (v1.0.0alpha) FMI-LS-STRUCT</a:t>
            </a:r>
          </a:p>
          <a:p>
            <a:r>
              <a:rPr lang="en-US" dirty="0"/>
              <a:t>Outlook</a:t>
            </a:r>
            <a:br>
              <a:rPr lang="en-US" dirty="0"/>
            </a:b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CB7B1AE-642E-C91D-397C-0B91AEF4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84678477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956C31-B9BE-4BDF-A6C5-E49F182FC002}"/>
              </a:ext>
            </a:extLst>
          </p:cNvPr>
          <p:cNvSpPr/>
          <p:nvPr/>
        </p:nvSpPr>
        <p:spPr bwMode="auto">
          <a:xfrm>
            <a:off x="710609" y="2586083"/>
            <a:ext cx="8283309" cy="3297505"/>
          </a:xfrm>
          <a:prstGeom prst="rect">
            <a:avLst/>
          </a:prstGeom>
          <a:solidFill>
            <a:schemeClr val="accent1">
              <a:lumMod val="20000"/>
              <a:lumOff val="80000"/>
              <a:alpha val="3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New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30631-12C3-4188-91E3-8755CCF14C33}"/>
              </a:ext>
            </a:extLst>
          </p:cNvPr>
          <p:cNvSpPr/>
          <p:nvPr/>
        </p:nvSpPr>
        <p:spPr bwMode="auto">
          <a:xfrm>
            <a:off x="501516" y="1447675"/>
            <a:ext cx="8283309" cy="2688861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vert270" wrap="square" lIns="90000" tIns="46800" rIns="36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120C80"/>
                </a:solidFill>
                <a:effectLst/>
                <a:latin typeface="Arial" charset="0"/>
                <a:cs typeface="Arial" charset="0"/>
              </a:rPr>
              <a:t>Performance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Arial" charset="0"/>
                <a:cs typeface="Arial" charset="0"/>
              </a:rPr>
              <a:t>Accuracy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120C80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489FC11-1B87-4A94-BC4C-5839C304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19" y="1461331"/>
            <a:ext cx="6798120" cy="4760007"/>
          </a:xfrm>
        </p:spPr>
        <p:txBody>
          <a:bodyPr/>
          <a:lstStyle/>
          <a:p>
            <a:pPr lvl="2"/>
            <a:r>
              <a:rPr lang="en-US" sz="2800" dirty="0"/>
              <a:t>Event mode for Co-Simulation</a:t>
            </a:r>
          </a:p>
          <a:p>
            <a:pPr lvl="2"/>
            <a:r>
              <a:rPr lang="en-US" sz="2800" dirty="0"/>
              <a:t>Intermediate variable update</a:t>
            </a:r>
          </a:p>
          <a:p>
            <a:pPr lvl="2"/>
            <a:r>
              <a:rPr lang="en-US" sz="2800" dirty="0"/>
              <a:t>Clocks</a:t>
            </a:r>
          </a:p>
          <a:p>
            <a:pPr lvl="2"/>
            <a:r>
              <a:rPr lang="en-US" sz="2800" dirty="0"/>
              <a:t>New variable types</a:t>
            </a:r>
          </a:p>
          <a:p>
            <a:pPr lvl="2"/>
            <a:r>
              <a:rPr lang="en-US" sz="2800" dirty="0"/>
              <a:t>Array variables</a:t>
            </a:r>
          </a:p>
          <a:p>
            <a:pPr lvl="2"/>
            <a:r>
              <a:rPr lang="en-US" sz="2800" dirty="0"/>
              <a:t>Terminals and icon</a:t>
            </a:r>
          </a:p>
          <a:p>
            <a:pPr lvl="2"/>
            <a:r>
              <a:rPr lang="en-US" sz="2800" dirty="0"/>
              <a:t>FMI for Scheduled Execution (SE)</a:t>
            </a:r>
          </a:p>
          <a:p>
            <a:pPr lvl="2"/>
            <a:r>
              <a:rPr lang="en-US" sz="2800" dirty="0"/>
              <a:t>Preparation for layered Standards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97258B-A793-49DF-8C34-83A62B08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3.0: Main Improvements</a:t>
            </a:r>
          </a:p>
        </p:txBody>
      </p:sp>
    </p:spTree>
    <p:extLst>
      <p:ext uri="{BB962C8B-B14F-4D97-AF65-F5344CB8AC3E}">
        <p14:creationId xmlns:p14="http://schemas.microsoft.com/office/powerpoint/2010/main" val="28156871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55A08C6-C556-EE5E-ADE2-926F8D41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FMO 2.0 abstract types (e.g. “Real”)		FMI 3.0 Concrete types (e.g. Float64)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584732-5948-1E4B-9E3D-8B79E62A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Variable types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7FFC3EA-7E88-4C9A-1B86-C63DEC27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49" y="2516952"/>
            <a:ext cx="4703939" cy="157814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039A6CA-0A26-2EC7-A8E9-52F75DCAD2B3}"/>
              </a:ext>
            </a:extLst>
          </p:cNvPr>
          <p:cNvSpPr txBox="1"/>
          <p:nvPr/>
        </p:nvSpPr>
        <p:spPr>
          <a:xfrm>
            <a:off x="745649" y="5680102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.fmi-beginners-tutorial-2025\part2\</a:t>
            </a:r>
            <a:r>
              <a:rPr lang="en-US" dirty="0" err="1"/>
              <a:t>Drive.fmu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AE0E266-C1A9-9A8F-0B9F-DAE856C2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820" y="2516952"/>
            <a:ext cx="4353240" cy="244726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258A1C5-5DB0-28C3-75E7-D62D5626B064}"/>
              </a:ext>
            </a:extLst>
          </p:cNvPr>
          <p:cNvSpPr txBox="1"/>
          <p:nvPr/>
        </p:nvSpPr>
        <p:spPr>
          <a:xfrm>
            <a:off x="7376337" y="5681287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Drive_FMI3.fmu</a:t>
            </a:r>
          </a:p>
        </p:txBody>
      </p:sp>
    </p:spTree>
    <p:extLst>
      <p:ext uri="{BB962C8B-B14F-4D97-AF65-F5344CB8AC3E}">
        <p14:creationId xmlns:p14="http://schemas.microsoft.com/office/powerpoint/2010/main" val="28110754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5577251-1A17-02DD-2A09-05033E853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B73862-47A5-66F5-A9D9-715D857E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 Binary Data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FABFE2-50E1-E1A6-B33A-CCC8FC853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50" y="2296632"/>
            <a:ext cx="4854150" cy="249208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DD4878-F976-3418-2400-2AD760827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95" y="2182957"/>
            <a:ext cx="4091273" cy="249208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3077D3F-2938-82E3-2920-7E3BDBF5A8BB}"/>
              </a:ext>
            </a:extLst>
          </p:cNvPr>
          <p:cNvSpPr txBox="1"/>
          <p:nvPr/>
        </p:nvSpPr>
        <p:spPr>
          <a:xfrm>
            <a:off x="3117104" y="5341067"/>
            <a:ext cx="7164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https://www.youtube.com/watch?v=dhp3L6aMaAQ</a:t>
            </a:r>
            <a:r>
              <a:rPr lang="en-US" dirty="0"/>
              <a:t>   FMI 3.0 Demo </a:t>
            </a:r>
          </a:p>
        </p:txBody>
      </p:sp>
    </p:spTree>
    <p:extLst>
      <p:ext uri="{BB962C8B-B14F-4D97-AF65-F5344CB8AC3E}">
        <p14:creationId xmlns:p14="http://schemas.microsoft.com/office/powerpoint/2010/main" val="8243944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6108B23-BD53-2C8A-D4AA-B3CEF98FA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FMI 2.0 supports arrays only via a naming convention, all variables are serialized</a:t>
            </a:r>
          </a:p>
          <a:p>
            <a:r>
              <a:rPr lang="en-US" dirty="0"/>
              <a:t>FMI 3.0 brings active array support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2BA9CF-FE05-F0DC-4EA6-66E8BBCE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 Array variables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AF8738-9BFF-3F3E-E1E7-46A076B8D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80" y="2098603"/>
            <a:ext cx="9657421" cy="318611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7C883C-22FD-5113-E880-70AE3CC1267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0184" y="5801756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https://github.com/chrbertsch/fmi3-features/blob/main</a:t>
            </a:r>
            <a:r>
              <a:rPr lang="en-US" dirty="0"/>
              <a:t> </a:t>
            </a:r>
          </a:p>
        </p:txBody>
      </p:sp>
      <p:sp>
        <p:nvSpPr>
          <p:cNvPr id="4" name="AutoShape 2" descr="Open In Colab">
            <a:hlinkClick r:id="rId5"/>
            <a:extLst>
              <a:ext uri="{FF2B5EF4-FFF2-40B4-BE49-F238E27FC236}">
                <a16:creationId xmlns:a16="http://schemas.microsoft.com/office/drawing/2014/main" id="{55EEC886-68CB-34BE-84A6-BA9D935BCC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8" descr="Open In Colab">
            <a:extLst>
              <a:ext uri="{FF2B5EF4-FFF2-40B4-BE49-F238E27FC236}">
                <a16:creationId xmlns:a16="http://schemas.microsoft.com/office/drawing/2014/main" id="{D29F41E0-787E-2A3D-A7B5-417CC61341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Grafik 12">
            <a:hlinkClick r:id="rId5"/>
            <a:extLst>
              <a:ext uri="{FF2B5EF4-FFF2-40B4-BE49-F238E27FC236}">
                <a16:creationId xmlns:a16="http://schemas.microsoft.com/office/drawing/2014/main" id="{14BBB87F-F830-7E93-659B-B3DF23A31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921985"/>
            <a:ext cx="1151207" cy="2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572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A0C9647-08D2-E5CE-ABEA-2ADBFAAA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Bouncing ball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https://github.com/t-sommer/fmi3-features/blob/main/cs_events.ipynb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7E7D4E-0399-C144-13E6-67D458BA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3.0 Co-Simulation with examples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0B9856-0C40-B144-B991-1D0059278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19" y="3351288"/>
            <a:ext cx="4369728" cy="206177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55D4E45-CD58-87FA-1832-8488EC427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255" y="4243148"/>
            <a:ext cx="4583009" cy="18312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FACD880-D7F0-7213-8173-5F06E89E0B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5255" y="1391527"/>
            <a:ext cx="2507359" cy="18815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3924E8E-5725-27A6-1F07-E0CC1556D8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843" y="1784012"/>
            <a:ext cx="2386790" cy="119491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9D410DE-413E-9B53-42EF-46BD70D71D31}"/>
              </a:ext>
            </a:extLst>
          </p:cNvPr>
          <p:cNvSpPr txBox="1"/>
          <p:nvPr/>
        </p:nvSpPr>
        <p:spPr>
          <a:xfrm>
            <a:off x="866024" y="5413061"/>
            <a:ext cx="56108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 with FMI 2.0 CS</a:t>
            </a:r>
            <a:br>
              <a:rPr lang="en-US" dirty="0"/>
            </a:br>
            <a:r>
              <a:rPr lang="en-US" dirty="0"/>
              <a:t>Exact timepoints where the ball hits the ground missed</a:t>
            </a:r>
            <a:br>
              <a:rPr lang="en-US" dirty="0"/>
            </a:br>
            <a:r>
              <a:rPr lang="en-US" dirty="0"/>
              <a:t>in Simulation of CS FMU with fixed communication timestep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331729-79A5-8F6B-C354-4F29977977C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76610" y="6454815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https://github.com/chrbertsch/fmi3-features/blob/main</a:t>
            </a:r>
            <a:r>
              <a:rPr lang="en-US" dirty="0"/>
              <a:t> </a:t>
            </a:r>
          </a:p>
        </p:txBody>
      </p:sp>
      <p:pic>
        <p:nvPicPr>
          <p:cNvPr id="8" name="Grafik 7">
            <a:hlinkClick r:id="rId10"/>
            <a:extLst>
              <a:ext uri="{FF2B5EF4-FFF2-40B4-BE49-F238E27FC236}">
                <a16:creationId xmlns:a16="http://schemas.microsoft.com/office/drawing/2014/main" id="{6EFD1252-153A-E29C-481F-C270954277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2426" y="6575044"/>
            <a:ext cx="1151207" cy="2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064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20177160-B611-371C-CC89-67FF78EF1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705" y="1536167"/>
            <a:ext cx="10528590" cy="3484117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1661CA5D-EB05-7DAA-D7D8-B126EEB4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variable access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25D2B0B-F60D-3982-A987-A1CFA568C38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0184" y="5801756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https://github.com/chrbertsch/fmi3-features/blob/main</a:t>
            </a:r>
            <a:r>
              <a:rPr lang="en-US" dirty="0"/>
              <a:t> </a:t>
            </a:r>
          </a:p>
        </p:txBody>
      </p:sp>
      <p:pic>
        <p:nvPicPr>
          <p:cNvPr id="4" name="Grafik 3">
            <a:hlinkClick r:id="rId5"/>
            <a:extLst>
              <a:ext uri="{FF2B5EF4-FFF2-40B4-BE49-F238E27FC236}">
                <a16:creationId xmlns:a16="http://schemas.microsoft.com/office/drawing/2014/main" id="{E382A519-B893-636A-16AC-D7F9FC88F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921985"/>
            <a:ext cx="1151207" cy="22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5130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5C85094-B399-2ACA-20A3-E7B98E21B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123" y="2449870"/>
            <a:ext cx="6223332" cy="3366313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0A5F602F-B110-A016-B4C4-D6256877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Clocks example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3787FC-7058-9573-2468-1AB378EE0E65}"/>
              </a:ext>
            </a:extLst>
          </p:cNvPr>
          <p:cNvSpPr txBox="1"/>
          <p:nvPr/>
        </p:nvSpPr>
        <p:spPr>
          <a:xfrm>
            <a:off x="2611120" y="581618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https://github.com/clagms/synchronous-clock-fmus</a:t>
            </a:r>
            <a:r>
              <a:rPr lang="en-US" dirty="0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A7949F9-34BF-720C-30F3-0A7C416EAF4A}"/>
              </a:ext>
            </a:extLst>
          </p:cNvPr>
          <p:cNvSpPr txBox="1"/>
          <p:nvPr/>
        </p:nvSpPr>
        <p:spPr>
          <a:xfrm>
            <a:off x="7719237" y="1998921"/>
            <a:ext cx="3366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FMI 3.0 features used: </a:t>
            </a:r>
            <a:br>
              <a:rPr lang="en-US" dirty="0"/>
            </a:br>
            <a:r>
              <a:rPr lang="en-US" dirty="0"/>
              <a:t>event-based, time-triggered Clocks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F2B681-34C6-4858-DF87-F7DFA4D38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9341" y="3252033"/>
            <a:ext cx="3208946" cy="225258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84D7E16-BFA1-F426-4332-2F0E4A1CE0BC}"/>
              </a:ext>
            </a:extLst>
          </p:cNvPr>
          <p:cNvSpPr txBox="1"/>
          <p:nvPr/>
        </p:nvSpPr>
        <p:spPr>
          <a:xfrm>
            <a:off x="610341" y="1526541"/>
            <a:ext cx="6136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Clocks are used to synchronize events between different systems</a:t>
            </a:r>
          </a:p>
        </p:txBody>
      </p:sp>
    </p:spTree>
    <p:extLst>
      <p:ext uri="{BB962C8B-B14F-4D97-AF65-F5344CB8AC3E}">
        <p14:creationId xmlns:p14="http://schemas.microsoft.com/office/powerpoint/2010/main" val="127852466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08647D1-C106-C31F-1F7B-4077C97A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Grouping multiple signals into a new entity.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https://newsletter.modelica.org/2021-03/index</a:t>
            </a:r>
            <a:r>
              <a:rPr lang="en-US" dirty="0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0300702-A10B-A615-62FB-8861391F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FMI Terminals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2F1A852-3074-A00F-CC58-EC4A5EB8D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921" y="2051032"/>
            <a:ext cx="5907888" cy="301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170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6A3796E-07EA-AA9A-07DE-B2F5FA6C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FMI in optimization, # </a:t>
            </a:r>
            <a:r>
              <a:rPr lang="en-US" dirty="0" err="1"/>
              <a:t>retrive</a:t>
            </a:r>
            <a:r>
              <a:rPr lang="en-US" dirty="0"/>
              <a:t> </a:t>
            </a:r>
            <a:r>
              <a:rPr lang="en-US" dirty="0" err="1"/>
              <a:t>v^T</a:t>
            </a:r>
            <a:r>
              <a:rPr lang="en-US" dirty="0"/>
              <a:t> * J with a single </a:t>
            </a:r>
            <a:r>
              <a:rPr lang="en-US" dirty="0" err="1"/>
              <a:t>callsensitivity</a:t>
            </a:r>
            <a:r>
              <a:rPr lang="en-US" dirty="0"/>
              <a:t> = </a:t>
            </a:r>
            <a:r>
              <a:rPr lang="en-US" dirty="0" err="1"/>
              <a:t>fmu_instance.getAdjointDerivative</a:t>
            </a:r>
            <a:r>
              <a:rPr lang="en-US" dirty="0"/>
              <a:t>(unknowns, knowns, seed)</a:t>
            </a:r>
          </a:p>
          <a:p>
            <a:r>
              <a:rPr lang="en-US" dirty="0"/>
              <a:t>FMI 3.0 features used: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https://github.com/t-sommer/fmi3-features/blob/main/adjoint_derivatives.ipynb</a:t>
            </a:r>
            <a:r>
              <a:rPr lang="en-US" dirty="0"/>
              <a:t> 	</a:t>
            </a:r>
          </a:p>
          <a:p>
            <a:r>
              <a:rPr lang="en-US" dirty="0"/>
              <a:t>- directional, adjoint derivatives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retrive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v^T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J with a single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callsensitivity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fmu_instance.getAdjointDerivative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(unknowns, knowns, seed)</a:t>
            </a:r>
          </a:p>
          <a:p>
            <a:endParaRPr lang="en-US" dirty="0"/>
          </a:p>
          <a:p>
            <a:r>
              <a:rPr lang="en-US" dirty="0"/>
              <a:t>E.g..  Implemented in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2971531-CAE2-107D-AA57-17B29EFF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Adjoint derivatives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906726-FEBA-A840-6FC6-C64CBBC69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84" y="5246505"/>
            <a:ext cx="1944310" cy="44273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5655071-231D-E720-CA1A-5EF85FFBB801}"/>
              </a:ext>
            </a:extLst>
          </p:cNvPr>
          <p:cNvSpPr txBox="1"/>
          <p:nvPr/>
        </p:nvSpPr>
        <p:spPr>
          <a:xfrm>
            <a:off x="1912967" y="5786011"/>
            <a:ext cx="72522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https://github.com/casadi/casadi/blob/main/docs/notebooks/fmu_demo.ipynb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789145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139D521-490F-6164-8F25-817B78944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</a:rPr>
              <a:t>Concept in FMI 3.0: Layered standards to allow standards extending FMI 3.0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Means: /extra directory, standardized annotations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 panose="020B0604020202020204" pitchFamily="34" charset="0"/>
              </a:rPr>
              <a:t>Layered Standards in development by the FMI Project:</a:t>
            </a: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FMI-LS-XCP: </a:t>
            </a:r>
            <a:r>
              <a:rPr lang="en-US" dirty="0">
                <a:latin typeface="Calibri" panose="020F0502020204030204" pitchFamily="34" charset="0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https://github.com/modelica/fmi-ls-xcp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XCP support 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v1.0 released 12/2024</a:t>
            </a:r>
          </a:p>
          <a:p>
            <a:pPr lvl="1" indent="0">
              <a:buNone/>
            </a:pPr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FMI-LS-BUS</a:t>
            </a:r>
            <a:r>
              <a:rPr lang="en-US" dirty="0">
                <a:latin typeface="Calibri" panose="020F0502020204030204" pitchFamily="34" charset="0"/>
                <a:cs typeface="+mn-cs"/>
              </a:rPr>
              <a:t>: </a:t>
            </a:r>
            <a:r>
              <a:rPr lang="en-US" dirty="0">
                <a:latin typeface="Calibri" panose="020F0502020204030204" pitchFamily="34" charset="0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https://github.com/modelica/fmi-ls-bus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network communication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v1.0 released 07/2025</a:t>
            </a:r>
            <a:br>
              <a:rPr lang="en-US" i="1" dirty="0">
                <a:effectLst/>
                <a:latin typeface="Arial" panose="020B0604020202020204" pitchFamily="34" charset="0"/>
              </a:rPr>
            </a:br>
            <a:r>
              <a:rPr lang="en-US" i="1" dirty="0">
                <a:effectLst/>
                <a:latin typeface="Arial" panose="020B0604020202020204" pitchFamily="34" charset="0"/>
              </a:rPr>
              <a:t>Demo of </a:t>
            </a:r>
            <a:r>
              <a:rPr lang="en-US" i="1" dirty="0">
                <a:latin typeface="Arial" panose="020B0604020202020204" pitchFamily="34" charset="0"/>
              </a:rPr>
              <a:t>interoperability at International ASAM Conference </a:t>
            </a:r>
            <a:endParaRPr lang="en-US" i="1" dirty="0">
              <a:effectLst/>
              <a:latin typeface="Arial" panose="020B0604020202020204" pitchFamily="34" charset="0"/>
            </a:endParaRPr>
          </a:p>
          <a:p>
            <a:pPr lvl="1" indent="0">
              <a:buNone/>
            </a:pPr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FMI-LS-STRUCT</a:t>
            </a:r>
            <a:r>
              <a:rPr lang="en-US" dirty="0">
                <a:latin typeface="Calibri" panose="020F0502020204030204" pitchFamily="34" charset="0"/>
                <a:cs typeface="+mn-cs"/>
              </a:rPr>
              <a:t>: </a:t>
            </a:r>
            <a:r>
              <a:rPr lang="en-US" dirty="0">
                <a:latin typeface="Calibri" panose="020F0502020204030204" pitchFamily="34" charset="0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https://github.com/modelica/fmi-ls-struct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sampled maps and structuring of variables </a:t>
            </a:r>
            <a:br>
              <a:rPr lang="en-US" dirty="0">
                <a:latin typeface="Calibri" panose="020F0502020204030204" pitchFamily="34" charset="0"/>
                <a:cs typeface="+mn-cs"/>
              </a:rPr>
            </a:br>
            <a:r>
              <a:rPr lang="en-US" dirty="0">
                <a:latin typeface="Calibri" panose="020F0502020204030204" pitchFamily="34" charset="0"/>
                <a:cs typeface="+mn-cs"/>
              </a:rPr>
              <a:t>v1.0.0-alpha.1 available</a:t>
            </a:r>
          </a:p>
          <a:p>
            <a:pPr marL="608013" lvl="1" indent="-342900"/>
            <a:endParaRPr lang="en-US" dirty="0">
              <a:latin typeface="Calibri" panose="020F0502020204030204" pitchFamily="34" charset="0"/>
              <a:cs typeface="+mn-cs"/>
            </a:endParaRPr>
          </a:p>
          <a:p>
            <a:pPr marL="608013" lvl="1" indent="-342900"/>
            <a:r>
              <a:rPr lang="en-US" b="1" dirty="0">
                <a:latin typeface="Calibri" panose="020F0502020204030204" pitchFamily="34" charset="0"/>
                <a:cs typeface="+mn-cs"/>
              </a:rPr>
              <a:t>FMI-LS-REF</a:t>
            </a:r>
            <a:r>
              <a:rPr lang="en-US" dirty="0">
                <a:latin typeface="Calibri" panose="020F0502020204030204" pitchFamily="34" charset="0"/>
                <a:cs typeface="+mn-cs"/>
              </a:rPr>
              <a:t> </a:t>
            </a:r>
            <a:r>
              <a:rPr lang="en-US" dirty="0">
                <a:latin typeface="Calibri" panose="020F0502020204030204" pitchFamily="34" charset="0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https://github.com/modelica/fmi-ls-ref</a:t>
            </a:r>
            <a:r>
              <a:rPr lang="en-US" dirty="0">
                <a:latin typeface="Calibri" panose="020F0502020204030204" pitchFamily="34" charset="0"/>
                <a:cs typeface="+mn-cs"/>
              </a:rPr>
              <a:t> for the description of basic validation experiments and other files attached to an FMU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C4410CB-3950-17CA-4B7C-3C2EF12A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Standards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218CAC3-EA48-63E8-3478-95B2E10CB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952" y="3028749"/>
            <a:ext cx="2412124" cy="16251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73470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C0D988-624D-2C10-7FFF-A70DA15F6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Simulation of automotive systems </a:t>
            </a:r>
            <a:r>
              <a:rPr lang="en-US" dirty="0"/>
              <a:t>requires </a:t>
            </a:r>
            <a:r>
              <a:rPr lang="en-US" b="1" dirty="0"/>
              <a:t>network communication between vECUs.</a:t>
            </a:r>
          </a:p>
          <a:p>
            <a:r>
              <a:rPr lang="en-US" dirty="0"/>
              <a:t>Idea: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Use FMI 3.0 core standard features </a:t>
            </a:r>
            <a:r>
              <a:rPr lang="en-US" dirty="0"/>
              <a:t>to specify a common bus interface,</a:t>
            </a:r>
            <a:br>
              <a:rPr lang="en-US" dirty="0"/>
            </a:br>
            <a:r>
              <a:rPr lang="en-US" dirty="0"/>
              <a:t>using </a:t>
            </a:r>
            <a:r>
              <a:rPr lang="en-US" sz="1800" b="1" dirty="0"/>
              <a:t>Co-Simulation</a:t>
            </a:r>
            <a:r>
              <a:rPr lang="en-US" sz="1800" dirty="0"/>
              <a:t>, </a:t>
            </a:r>
            <a:r>
              <a:rPr lang="en-US" sz="1800" b="1" dirty="0"/>
              <a:t>Binary Variables</a:t>
            </a:r>
            <a:r>
              <a:rPr lang="en-US" sz="1800" dirty="0"/>
              <a:t>, </a:t>
            </a:r>
            <a:r>
              <a:rPr lang="en-US" sz="1800" b="1" dirty="0"/>
              <a:t>Clocks </a:t>
            </a:r>
            <a:r>
              <a:rPr lang="en-US" sz="1800" dirty="0"/>
              <a:t>and </a:t>
            </a:r>
            <a:r>
              <a:rPr lang="en-US" sz="1800" b="1" dirty="0"/>
              <a:t>Terminals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Support </a:t>
            </a:r>
            <a:r>
              <a:rPr lang="en-US" b="1" dirty="0"/>
              <a:t>automotive networks protocols </a:t>
            </a:r>
            <a:r>
              <a:rPr lang="en-US" dirty="0"/>
              <a:t>and others from </a:t>
            </a:r>
            <a:r>
              <a:rPr lang="en-US" b="1" dirty="0"/>
              <a:t>different </a:t>
            </a:r>
            <a:br>
              <a:rPr lang="en-US" b="1" dirty="0"/>
            </a:br>
            <a:r>
              <a:rPr lang="en-US" b="1" dirty="0"/>
              <a:t>industries </a:t>
            </a:r>
            <a:r>
              <a:rPr lang="en-US" dirty="0"/>
              <a:t>(CAN, LIN, </a:t>
            </a:r>
            <a:r>
              <a:rPr lang="en-US" dirty="0" err="1"/>
              <a:t>FlexRay</a:t>
            </a:r>
            <a:r>
              <a:rPr lang="en-US" dirty="0"/>
              <a:t>, Ethernet, …)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Using network description formats DBC, LDF,                 FIBEX, ARXML 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Two variants: </a:t>
            </a:r>
          </a:p>
          <a:p>
            <a:pPr marL="608013" lvl="1" indent="-342900"/>
            <a:r>
              <a:rPr lang="en-US" b="1" dirty="0"/>
              <a:t>Physical abstraction layer ("high cut"): </a:t>
            </a:r>
            <a:r>
              <a:rPr lang="en-US" dirty="0">
                <a:latin typeface="-apple-system"/>
              </a:rPr>
              <a:t>S</a:t>
            </a:r>
            <a:r>
              <a:rPr lang="en-US" b="0" i="0" dirty="0">
                <a:effectLst/>
                <a:latin typeface="-apple-system"/>
              </a:rPr>
              <a:t>imply transport physical signal 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values between virtual ECUs by using </a:t>
            </a:r>
            <a:r>
              <a:rPr lang="en-US" dirty="0">
                <a:latin typeface="-apple-system"/>
              </a:rPr>
              <a:t>unit-based and </a:t>
            </a:r>
            <a:r>
              <a:rPr lang="en-US" b="0" i="0" dirty="0">
                <a:effectLst/>
                <a:latin typeface="-apple-system"/>
              </a:rPr>
              <a:t>clocked </a:t>
            </a:r>
            <a:r>
              <a:rPr lang="en-US" dirty="0">
                <a:latin typeface="-apple-system"/>
              </a:rPr>
              <a:t>variables</a:t>
            </a:r>
          </a:p>
          <a:p>
            <a:pPr marL="608013" lvl="1" indent="-342900"/>
            <a:r>
              <a:rPr lang="en-US" b="1" dirty="0"/>
              <a:t>Network abstraction ("low cut"): </a:t>
            </a:r>
            <a:r>
              <a:rPr lang="en-US" dirty="0">
                <a:latin typeface="-apple-system"/>
              </a:rPr>
              <a:t>Detailed</a:t>
            </a:r>
            <a:r>
              <a:rPr lang="de-DE" b="0" i="0" dirty="0">
                <a:effectLst/>
                <a:latin typeface="-apple-system"/>
              </a:rPr>
              <a:t> </a:t>
            </a:r>
            <a:r>
              <a:rPr lang="de-DE" b="0" i="0" dirty="0" err="1">
                <a:effectLst/>
                <a:latin typeface="-apple-system"/>
              </a:rPr>
              <a:t>emulation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de-DE" b="0" i="0" dirty="0" err="1">
                <a:effectLst/>
                <a:latin typeface="-apple-system"/>
              </a:rPr>
              <a:t>of</a:t>
            </a:r>
            <a:r>
              <a:rPr lang="de-DE" b="0" i="0" dirty="0">
                <a:effectLst/>
                <a:latin typeface="-apple-system"/>
              </a:rPr>
              <a:t> a </a:t>
            </a:r>
            <a:r>
              <a:rPr lang="de-DE" b="0" i="0" dirty="0" err="1">
                <a:effectLst/>
                <a:latin typeface="-apple-system"/>
              </a:rPr>
              <a:t>specified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de-DE" b="0" i="0" dirty="0" err="1">
                <a:effectLst/>
                <a:latin typeface="-apple-system"/>
              </a:rPr>
              <a:t>bus</a:t>
            </a:r>
            <a:br>
              <a:rPr lang="de-DE" b="0" i="0" dirty="0">
                <a:effectLst/>
                <a:latin typeface="-apple-system"/>
              </a:rPr>
            </a:br>
            <a:r>
              <a:rPr lang="de-DE" b="0" i="0" dirty="0" err="1">
                <a:effectLst/>
                <a:latin typeface="-apple-system"/>
              </a:rPr>
              <a:t>system</a:t>
            </a:r>
            <a:r>
              <a:rPr lang="de-DE" b="0" i="0" dirty="0">
                <a:effectLst/>
                <a:latin typeface="-apple-system"/>
              </a:rPr>
              <a:t> </a:t>
            </a:r>
            <a:r>
              <a:rPr lang="en-US" b="0" i="0" dirty="0">
                <a:effectLst/>
                <a:latin typeface="-apple-system"/>
              </a:rPr>
              <a:t>to realize virtualized bus driver implementations, including feedback 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from the physical drivers about transmission status or network node states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 marL="342900" indent="-342900"/>
            <a:endParaRPr lang="en-US" b="1" dirty="0">
              <a:latin typeface="Arial" panose="020B0604020202020204" pitchFamily="34" charset="0"/>
            </a:endParaRPr>
          </a:p>
          <a:p>
            <a:pPr marL="342900" indent="-342900"/>
            <a:endParaRPr lang="en-US" b="1" dirty="0">
              <a:effectLst/>
              <a:latin typeface="Arial" panose="020B0604020202020204" pitchFamily="34" charset="0"/>
            </a:endParaRPr>
          </a:p>
          <a:p>
            <a:pPr marL="608013" lvl="1" indent="-342900"/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DF15B6-1D6F-FCCA-9153-B3557351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FMI-LS-BUS: Layered Standard Network Communication </a:t>
            </a:r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3058C0F-7887-859B-64A3-3FD5BC97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424" y="4460706"/>
            <a:ext cx="2868439" cy="1506605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0B1757C8-F9A3-7FFB-7A81-57657B083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577" y="2377880"/>
            <a:ext cx="2522043" cy="1828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6C4393F-6CA0-87D0-E68B-2D451D5FE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91" y="3674837"/>
            <a:ext cx="1095421" cy="27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8323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F1B4D-C109-D61F-C900-1450D418F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713" y="1643191"/>
            <a:ext cx="3255251" cy="3063766"/>
          </a:xfrm>
          <a:prstGeom prst="rect">
            <a:avLst/>
          </a:prstGeom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7D4E26F-D711-B8AA-5603-9FE75832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err="1"/>
              <a:t>Current</a:t>
            </a:r>
            <a:r>
              <a:rPr lang="de-DE" b="1" dirty="0"/>
              <a:t> </a:t>
            </a:r>
            <a:r>
              <a:rPr lang="de-DE" b="1" dirty="0" err="1"/>
              <a:t>scope</a:t>
            </a:r>
            <a:r>
              <a:rPr lang="de-DE" b="1" dirty="0"/>
              <a:t>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</a:rPr>
              <a:t>Maps sampled on rectilinear grids</a:t>
            </a:r>
            <a:br>
              <a:rPr lang="en-US" b="1" dirty="0">
                <a:latin typeface="Arial" panose="020B0604020202020204" pitchFamily="34" charset="0"/>
              </a:rPr>
            </a:br>
            <a:r>
              <a:rPr lang="de-DE" dirty="0" err="1">
                <a:effectLst/>
                <a:latin typeface="Arial" panose="020B0604020202020204" pitchFamily="34" charset="0"/>
              </a:rPr>
              <a:t>using</a:t>
            </a:r>
            <a:r>
              <a:rPr lang="de-DE" dirty="0">
                <a:effectLst/>
                <a:latin typeface="Arial" panose="020B0604020202020204" pitchFamily="34" charset="0"/>
              </a:rPr>
              <a:t> FMI 3.0 </a:t>
            </a:r>
            <a:r>
              <a:rPr lang="de-DE" dirty="0" err="1">
                <a:effectLst/>
                <a:latin typeface="Arial" panose="020B0604020202020204" pitchFamily="34" charset="0"/>
              </a:rPr>
              <a:t>arrays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 meta-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define</a:t>
            </a:r>
            <a:endParaRPr lang="de-DE" dirty="0"/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Domains</a:t>
            </a:r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Codomain</a:t>
            </a:r>
          </a:p>
          <a:p>
            <a:pPr marL="608013" lvl="1" indent="-342900"/>
            <a:r>
              <a:rPr lang="en-US" dirty="0">
                <a:effectLst/>
                <a:latin typeface="Arial" panose="020B0604020202020204" pitchFamily="34" charset="0"/>
              </a:rPr>
              <a:t>Optionally</a:t>
            </a:r>
            <a:r>
              <a:rPr lang="en-US" dirty="0">
                <a:latin typeface="Arial" panose="020B0604020202020204" pitchFamily="34" charset="0"/>
              </a:rPr>
              <a:t>: V</a:t>
            </a:r>
            <a:r>
              <a:rPr lang="en-US" dirty="0">
                <a:effectLst/>
                <a:latin typeface="Arial" panose="020B0604020202020204" pitchFamily="34" charset="0"/>
              </a:rPr>
              <a:t>ariables referencing current operating point, …</a:t>
            </a:r>
          </a:p>
          <a:p>
            <a:pPr marL="608013" lvl="1" indent="-342900"/>
            <a:r>
              <a:rPr lang="en-US" dirty="0">
                <a:latin typeface="Arial" panose="020B0604020202020204" pitchFamily="34" charset="0"/>
              </a:rPr>
              <a:t>Support for Modelica Standard Library </a:t>
            </a:r>
            <a:r>
              <a:rPr lang="en-US" dirty="0" err="1">
                <a:latin typeface="Arial" panose="020B0604020202020204" pitchFamily="34" charset="0"/>
              </a:rPr>
              <a:t>CombiTables</a:t>
            </a:r>
            <a:endParaRPr lang="en-US" dirty="0">
              <a:latin typeface="Arial" panose="020B0604020202020204" pitchFamily="34" charset="0"/>
            </a:endParaRPr>
          </a:p>
          <a:p>
            <a:pPr marL="608013" lvl="1" indent="-342900"/>
            <a:r>
              <a:rPr lang="en-US" dirty="0">
                <a:latin typeface="Arial" panose="020B0604020202020204" pitchFamily="34" charset="0"/>
              </a:rPr>
              <a:t>Compatible with                        -MCD2 MAPs, CURVEs, …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Maps sampled on an irregular grid ("Point Cloud“)</a:t>
            </a:r>
            <a:endParaRPr lang="en-US" dirty="0"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Using “FMI 3.0 Terminals” for grouping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652F323-20E9-91F2-B2E8-A87C4C4A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Arial" panose="020B0604020202020204" pitchFamily="34" charset="0"/>
              </a:rPr>
              <a:t>FMI LS-STRUCT: Layered Standard for </a:t>
            </a:r>
            <a:r>
              <a:rPr lang="en-US" sz="2400" dirty="0">
                <a:latin typeface="Arial" panose="020B0604020202020204" pitchFamily="34" charset="0"/>
              </a:rPr>
              <a:t>V</a:t>
            </a:r>
            <a:r>
              <a:rPr lang="en-US" sz="2400" dirty="0">
                <a:effectLst/>
                <a:latin typeface="Arial" panose="020B0604020202020204" pitchFamily="34" charset="0"/>
              </a:rPr>
              <a:t>ariable Structuring 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002C4AB-D2AA-5FA2-59FB-78BAB9A6C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866" y="3895124"/>
            <a:ext cx="1402423" cy="34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3676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EB1448-A606-356D-21CD-EB85865D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73" y="1609754"/>
            <a:ext cx="11003744" cy="476000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FMI Webpage</a:t>
            </a:r>
            <a:endParaRPr lang="en-US" dirty="0"/>
          </a:p>
          <a:p>
            <a:pPr marL="608013" lvl="1" indent="-342900"/>
            <a:r>
              <a:rPr lang="en-US" dirty="0">
                <a:hlinkClick r:id="rId2"/>
              </a:rPr>
              <a:t>FMI tools list</a:t>
            </a:r>
            <a:endParaRPr lang="en-US" dirty="0"/>
          </a:p>
          <a:p>
            <a:pPr marL="608013" lvl="1" indent="-342900"/>
            <a:r>
              <a:rPr lang="en-US" dirty="0">
                <a:hlinkClick r:id="rId3"/>
              </a:rPr>
              <a:t>FMU validation</a:t>
            </a:r>
            <a:endParaRPr lang="en-US" dirty="0"/>
          </a:p>
          <a:p>
            <a:pPr marL="608013" lvl="1" indent="-342900"/>
            <a:r>
              <a:rPr lang="en-US" dirty="0">
                <a:hlinkClick r:id="rId4"/>
              </a:rPr>
              <a:t>Publications</a:t>
            </a: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Reference FMUs</a:t>
            </a:r>
            <a:endParaRPr lang="en-US" dirty="0"/>
          </a:p>
          <a:p>
            <a:pPr marL="608013" lvl="1" indent="-342900"/>
            <a:r>
              <a:rPr lang="en-US" dirty="0"/>
              <a:t>A set of hand-coded FMUs for development, testing and debugging of FMI.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In case of questions we recommend to use </a:t>
            </a:r>
            <a:r>
              <a:rPr lang="en-US" dirty="0" err="1">
                <a:hlinkClick r:id="rId6"/>
              </a:rPr>
              <a:t>StackOverflow</a:t>
            </a:r>
            <a:r>
              <a:rPr lang="en-US" dirty="0">
                <a:hlinkClick r:id="rId6"/>
              </a:rPr>
              <a:t> with tag „</a:t>
            </a:r>
            <a:r>
              <a:rPr lang="en-US" dirty="0" err="1">
                <a:hlinkClick r:id="rId6"/>
              </a:rPr>
              <a:t>fmi</a:t>
            </a:r>
            <a:r>
              <a:rPr lang="en-US" dirty="0">
                <a:hlinkClick r:id="rId6"/>
              </a:rPr>
              <a:t>“ 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You are welcome to join the (unofficial) </a:t>
            </a:r>
            <a:r>
              <a:rPr lang="en-US" dirty="0">
                <a:hlinkClick r:id="rId7"/>
              </a:rPr>
              <a:t>FMI LinkedIn Group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2E9CC4-362C-29FA-8245-5663A7F1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2D0D8-DF6F-72F9-C17C-ECFEB0836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1530" y="1412081"/>
            <a:ext cx="3350698" cy="1456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E3B75B-E2CB-6176-0877-2D1D3F8958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879" y="4472298"/>
            <a:ext cx="1981364" cy="386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3D4B93-BCA7-B3CA-C487-6DB71A87A0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879" y="5056103"/>
            <a:ext cx="501890" cy="50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3623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001F4-E65E-6E2F-EC48-F883483A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Thank you!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347E8-D638-C528-AB7E-0883994ABFBA}"/>
              </a:ext>
            </a:extLst>
          </p:cNvPr>
          <p:cNvSpPr txBox="1"/>
          <p:nvPr/>
        </p:nvSpPr>
        <p:spPr>
          <a:xfrm>
            <a:off x="620184" y="1911365"/>
            <a:ext cx="1104053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i="1" dirty="0">
                <a:solidFill>
                  <a:srgbClr val="5E676E"/>
                </a:solidFill>
                <a:latin typeface="+mn-lt"/>
              </a:rPr>
              <a:t>Any questions or comments?</a:t>
            </a:r>
          </a:p>
          <a:p>
            <a:endParaRPr lang="en-US" sz="2800" b="1" dirty="0">
              <a:solidFill>
                <a:srgbClr val="5E676E"/>
              </a:solidFill>
              <a:latin typeface="+mn-lt"/>
            </a:endParaRPr>
          </a:p>
          <a:p>
            <a:endParaRPr lang="en-US" sz="2800" b="1" dirty="0">
              <a:solidFill>
                <a:srgbClr val="5E676E"/>
              </a:solidFill>
              <a:latin typeface="+mn-lt"/>
            </a:endParaRPr>
          </a:p>
          <a:p>
            <a:endParaRPr lang="en-US" b="1" dirty="0">
              <a:solidFill>
                <a:srgbClr val="5E676E"/>
              </a:solidFill>
              <a:latin typeface="+mn-lt"/>
            </a:endParaRPr>
          </a:p>
          <a:p>
            <a:r>
              <a:rPr lang="en-US" b="1" dirty="0">
                <a:solidFill>
                  <a:srgbClr val="5E676E"/>
                </a:solidFill>
                <a:latin typeface="+mn-lt"/>
              </a:rPr>
              <a:t>Presenter Contacts</a:t>
            </a: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it-IT" dirty="0" err="1">
                <a:solidFill>
                  <a:srgbClr val="5E676E"/>
                </a:solidFill>
                <a:latin typeface="+mn-lt"/>
              </a:rPr>
              <a:t>Christian.Bertsch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 </a:t>
            </a:r>
            <a:r>
              <a:rPr lang="it-IT" dirty="0">
                <a:solidFill>
                  <a:srgbClr val="5E676E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Christian.Bertsch@de.bosch.com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, </a:t>
            </a:r>
            <a:r>
              <a:rPr lang="it-IT" dirty="0">
                <a:solidFill>
                  <a:srgbClr val="5E676E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contact@fmi-standard.org</a:t>
            </a:r>
            <a:r>
              <a:rPr lang="it-IT" dirty="0">
                <a:solidFill>
                  <a:srgbClr val="5E676E"/>
                </a:solidFill>
                <a:latin typeface="+mn-lt"/>
              </a:rPr>
              <a:t>  </a:t>
            </a: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it-IT" dirty="0">
                <a:solidFill>
                  <a:srgbClr val="5E676E"/>
                </a:solidFill>
                <a:latin typeface="+mn-lt"/>
              </a:rPr>
              <a:t>Maurizio Palmieri </a:t>
            </a:r>
            <a:r>
              <a:rPr lang="it-IT" dirty="0">
                <a:solidFill>
                  <a:srgbClr val="5E676E"/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maurizio.palmieri@ing.unipi.it</a:t>
            </a:r>
            <a:endParaRPr lang="it-IT" dirty="0">
              <a:solidFill>
                <a:srgbClr val="5E676E"/>
              </a:solidFill>
              <a:latin typeface="+mn-lt"/>
            </a:endParaRPr>
          </a:p>
          <a:p>
            <a:endParaRPr lang="it-IT" dirty="0">
              <a:solidFill>
                <a:srgbClr val="5E676E"/>
              </a:solidFill>
              <a:latin typeface="+mn-lt"/>
            </a:endParaRPr>
          </a:p>
          <a:p>
            <a:r>
              <a:rPr lang="pt-BR" dirty="0">
                <a:solidFill>
                  <a:srgbClr val="5E676E"/>
                </a:solidFill>
                <a:latin typeface="+mn-lt"/>
              </a:rPr>
              <a:t>Cláudio Gomes </a:t>
            </a:r>
            <a:r>
              <a:rPr lang="pt-BR" dirty="0">
                <a:solidFill>
                  <a:srgbClr val="5E676E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claudio.gomes@ece.au.dk</a:t>
            </a:r>
            <a:endParaRPr lang="pt-BR" dirty="0">
              <a:solidFill>
                <a:srgbClr val="5E676E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645824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xFDsxXLpNBIlAhf2ovXpfcEAAAAAAADAAAAAAADAAAAAwADAAEA////////BQAAAAMAEAALHmXTd2OnlkKGc8roTf90kQ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EUOzFcuk0EiUCF/ai9el9wNEYXRhAFMAAAAIUHJlc2VudGF0aW9uU2Nhbm5lZEZvckxpbmtlZFNoYXBlcwAAAk51bWJlckZvcm1hdFNlcGFyYXRvck1vZGUACgAAAEF1dG9tYXRpYwAAAk5hbWUAJAAAAExpbmtlZFNoYXBlUHJlc2VudGF0aW9uU2V0dGluZ3NEYXRhABBWZXJzaW9uAAAAAAAJTGFzdFdyaXRlABfTpjiYAQAAAAEA/////4MAgwAAAAVfaWQAEAAAAAQeZdN3Y6eWQoZzyuhN/3SRA0RhdGEAGwAAAARMaW5rZWRTaGFwZURhdGEABQAAAAAAAk5hbWUAGQAAAExpbmtlZFNoYXBlc0RhdGFQcm9wZXJ0eQAQVmVyc2lvbgABAAAACUxhc3RXcml0ZQD60qY4m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P///////w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88939139197104"/>
  <p:tag name="EMPOWERCHARTSPROPERTIES_A_LENGTH" val="24576"/>
  <p:tag name="COAUTHORING_SESSION_ID" val="e58276d2-87ab-4348-a9b1-d35fa503961a"/>
  <p:tag name="UNDO_REDO_REVISION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1420cf2c-1ab6-4c6e-849b-ab382f70ce37"/>
  <p:tag name="F021C77BD77B4420AF9C257AA0279F60-0" val="&lt;Properties&gt;&#10;  &lt;Property Name=&quot;LinkDataList&quot; Version=&quot;1&quot;&gt;&#10;    &lt;data&gt;kA==&lt;/data&gt;&#10;    &lt;timestamp&gt;638928597026038215&lt;/timestamp&gt;&#10;  &lt;/Property&gt;&#10;  &lt;Property Name=&quot;PersonalId&quot; Version=&quot;0&quot;&gt;&#10;    &lt;data&gt;kaA=&lt;/data&gt;&#10;    &lt;timestamp&gt;638928597026114351&lt;/timestamp&gt;&#10;  &lt;/Property&gt;&#10;&lt;/Properties&gt;"/>
  <p:tag name="EMPOWER_CHARTS_DATA_ID" val="F021C77BD77B4420AF9C257AA0279F60"/>
  <p:tag name="EMPOWER_DATA_LAST_WRITE" val="63892859703628778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7885bea7-d909-41b9-a979-23a46bc25c61"/>
  <p:tag name="08E9B16B68204DE2BE578E8E0AB13AEB-0" val="&lt;Properties&gt;&#10;  &lt;Property Name=&quot;LinkDataList&quot; Version=&quot;1&quot;&gt;&#10;    &lt;data&gt;kA==&lt;/data&gt;&#10;    &lt;timestamp&gt;638928597075072265&lt;/timestamp&gt;&#10;  &lt;/Property&gt;&#10;  &lt;Property Name=&quot;PersonalId&quot; Version=&quot;0&quot;&gt;&#10;    &lt;data&gt;kaA=&lt;/data&gt;&#10;    &lt;timestamp&gt;638928597075100707&lt;/timestamp&gt;&#10;  &lt;/Property&gt;&#10;&lt;/Properties&gt;"/>
  <p:tag name="EMPOWER_CHARTS_DATA_ID" val="08E9B16B68204DE2BE578E8E0AB13AEB"/>
  <p:tag name="EMPOWER_DATA_LAST_WRITE" val="63892859708515424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NTIME_ID" val="5264ae01-37b2-4e91-910c-93cb4a4c4b37"/>
  <p:tag name="7812D6EA2A5C4DEE826CBDD3BBB2F8B2-0" val="&lt;Properties&gt;&#10;  &lt;Property Name=&quot;LinkDataList&quot; Version=&quot;1&quot;&gt;&#10;    &lt;data&gt;kA==&lt;/data&gt;&#10;    &lt;timestamp&gt;638928597207568789&lt;/timestamp&gt;&#10;  &lt;/Property&gt;&#10;  &lt;Property Name=&quot;PersonalId&quot; Version=&quot;0&quot;&gt;&#10;    &lt;data&gt;kaA=&lt;/data&gt;&#10;    &lt;timestamp&gt;638928597207572391&lt;/timestamp&gt;&#10;  &lt;/Property&gt;&#10;&lt;/Properties&gt;"/>
  <p:tag name="EMPOWER_CHARTS_DATA_ID" val="7812D6EA2A5C4DEE826CBDD3BBB2F8B2"/>
  <p:tag name="EMPOWER_DATA_LAST_WRITE" val="638928597217747218"/>
</p:tagLst>
</file>

<file path=ppt/theme/theme1.xml><?xml version="1.0" encoding="utf-8"?>
<a:theme xmlns:a="http://schemas.openxmlformats.org/drawingml/2006/main" name="Modelisar Template - HighRes">
  <a:themeElements>
    <a:clrScheme name="FMI Colors">
      <a:dk1>
        <a:srgbClr val="00376F"/>
      </a:dk1>
      <a:lt1>
        <a:srgbClr val="FFFFFF"/>
      </a:lt1>
      <a:dk2>
        <a:srgbClr val="00376F"/>
      </a:dk2>
      <a:lt2>
        <a:srgbClr val="00376F"/>
      </a:lt2>
      <a:accent1>
        <a:srgbClr val="E8450B"/>
      </a:accent1>
      <a:accent2>
        <a:srgbClr val="006BAB"/>
      </a:accent2>
      <a:accent3>
        <a:srgbClr val="0099D9"/>
      </a:accent3>
      <a:accent4>
        <a:srgbClr val="000000"/>
      </a:accent4>
      <a:accent5>
        <a:srgbClr val="E5E6E8"/>
      </a:accent5>
      <a:accent6>
        <a:srgbClr val="6A6C6E"/>
      </a:accent6>
      <a:hlink>
        <a:srgbClr val="AFB2B4"/>
      </a:hlink>
      <a:folHlink>
        <a:srgbClr val="006BAB"/>
      </a:folHlink>
    </a:clrScheme>
    <a:fontScheme name="Modelisar Template - Variant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vert="horz" wrap="square" lIns="90000" tIns="46800" rIns="36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20C8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/>
      <a:lstStyle/>
    </a:lnDef>
  </a:objectDefaults>
  <a:extraClrSchemeLst>
    <a:extraClrScheme>
      <a:clrScheme name="Modelisar Template - Variant3 1">
        <a:dk1>
          <a:srgbClr val="000000"/>
        </a:dk1>
        <a:lt1>
          <a:srgbClr val="FFFFFF"/>
        </a:lt1>
        <a:dk2>
          <a:srgbClr val="263F6A"/>
        </a:dk2>
        <a:lt2>
          <a:srgbClr val="3F9AC9"/>
        </a:lt2>
        <a:accent1>
          <a:srgbClr val="D2D4D6"/>
        </a:accent1>
        <a:accent2>
          <a:srgbClr val="76787A"/>
        </a:accent2>
        <a:accent3>
          <a:srgbClr val="FFFFFF"/>
        </a:accent3>
        <a:accent4>
          <a:srgbClr val="000000"/>
        </a:accent4>
        <a:accent5>
          <a:srgbClr val="E5E6E8"/>
        </a:accent5>
        <a:accent6>
          <a:srgbClr val="6A6C6E"/>
        </a:accent6>
        <a:hlink>
          <a:srgbClr val="AFB2B4"/>
        </a:hlink>
        <a:folHlink>
          <a:srgbClr val="DFE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MI_Slides_Template.potx" id="{DDA90B7E-EDEC-4FD0-B18D-1DE6322ED5AA}" vid="{215188B0-EEDC-497C-AD67-C5A97F0357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5FCAD8E6222F478CF98AE6458717E4" ma:contentTypeVersion="0" ma:contentTypeDescription="Create a new document." ma:contentTypeScope="" ma:versionID="ae4c969974cdc097ec4092e4953e579e">
  <xsd:schema xmlns:xsd="http://www.w3.org/2001/XMLSchema" xmlns:p="http://schemas.microsoft.com/office/2006/metadata/properties" targetNamespace="http://schemas.microsoft.com/office/2006/metadata/properties" ma:root="true" ma:fieldsID="9684e7e44b4b32ae9d4fdaa413507a5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DDF4F8-48B7-40A7-A044-30F13F7F8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605D1E8-C791-4C95-A083-CBF3AF871BEC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Microsoft Office PowerPoint</Application>
  <PresentationFormat>Breitbild</PresentationFormat>
  <Paragraphs>181</Paragraphs>
  <Slides>16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-apple-system</vt:lpstr>
      <vt:lpstr>Arial</vt:lpstr>
      <vt:lpstr>Calibri</vt:lpstr>
      <vt:lpstr>Courier New</vt:lpstr>
      <vt:lpstr>Wingdings</vt:lpstr>
      <vt:lpstr>Modelisar Template - HighRes</vt:lpstr>
      <vt:lpstr>FMI 3.0 advanced topics</vt:lpstr>
      <vt:lpstr>Content</vt:lpstr>
      <vt:lpstr>FMI 3.0: Main Improvements</vt:lpstr>
      <vt:lpstr>New Variable types</vt:lpstr>
      <vt:lpstr>FMI 3.0 Binary Data </vt:lpstr>
      <vt:lpstr>FMI 3.0 Array variables</vt:lpstr>
      <vt:lpstr>FMI 3.0 Co-Simulation with examples</vt:lpstr>
      <vt:lpstr>Intermediate variable access</vt:lpstr>
      <vt:lpstr>Clocks example</vt:lpstr>
      <vt:lpstr>FMI Terminals</vt:lpstr>
      <vt:lpstr>Adjoint derivatives</vt:lpstr>
      <vt:lpstr>Layered Standards</vt:lpstr>
      <vt:lpstr>FMI-LS-BUS: Layered Standard Network Communication </vt:lpstr>
      <vt:lpstr>FMI LS-STRUCT: Layered Standard for Variable Structuring </vt:lpstr>
      <vt:lpstr>Resources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FMI – Current Challenges, Trends and Developments</dc:title>
  <dc:creator>Andreas Junghanns</dc:creator>
  <cp:lastModifiedBy>Bertsch Christian (CR/ASI3)</cp:lastModifiedBy>
  <cp:revision>301</cp:revision>
  <dcterms:created xsi:type="dcterms:W3CDTF">2021-01-29T10:20:31Z</dcterms:created>
  <dcterms:modified xsi:type="dcterms:W3CDTF">2025-09-07T16:36:33Z</dcterms:modified>
</cp:coreProperties>
</file>