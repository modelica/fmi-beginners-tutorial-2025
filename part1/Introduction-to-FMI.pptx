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3"/>
  </p:sldMasterIdLst>
  <p:notesMasterIdLst>
    <p:notesMasterId r:id="rId38"/>
  </p:notesMasterIdLst>
  <p:handoutMasterIdLst>
    <p:handoutMasterId r:id="rId39"/>
  </p:handoutMasterIdLst>
  <p:sldIdLst>
    <p:sldId id="314" r:id="rId4"/>
    <p:sldId id="436" r:id="rId5"/>
    <p:sldId id="427" r:id="rId6"/>
    <p:sldId id="447" r:id="rId7"/>
    <p:sldId id="435" r:id="rId8"/>
    <p:sldId id="437" r:id="rId9"/>
    <p:sldId id="448" r:id="rId10"/>
    <p:sldId id="499" r:id="rId11"/>
    <p:sldId id="500" r:id="rId12"/>
    <p:sldId id="501" r:id="rId13"/>
    <p:sldId id="440" r:id="rId14"/>
    <p:sldId id="425" r:id="rId15"/>
    <p:sldId id="450" r:id="rId16"/>
    <p:sldId id="438" r:id="rId17"/>
    <p:sldId id="441" r:id="rId18"/>
    <p:sldId id="446" r:id="rId19"/>
    <p:sldId id="451" r:id="rId20"/>
    <p:sldId id="452" r:id="rId21"/>
    <p:sldId id="468" r:id="rId22"/>
    <p:sldId id="475" r:id="rId23"/>
    <p:sldId id="473" r:id="rId24"/>
    <p:sldId id="445" r:id="rId25"/>
    <p:sldId id="457" r:id="rId26"/>
    <p:sldId id="455" r:id="rId27"/>
    <p:sldId id="456" r:id="rId28"/>
    <p:sldId id="464" r:id="rId29"/>
    <p:sldId id="461" r:id="rId30"/>
    <p:sldId id="463" r:id="rId31"/>
    <p:sldId id="462" r:id="rId32"/>
    <p:sldId id="466" r:id="rId33"/>
    <p:sldId id="474" r:id="rId34"/>
    <p:sldId id="471" r:id="rId35"/>
    <p:sldId id="476" r:id="rId36"/>
    <p:sldId id="477" r:id="rId37"/>
  </p:sldIdLst>
  <p:sldSz cx="12192000" cy="6858000"/>
  <p:notesSz cx="6858000" cy="9144000"/>
  <p:custDataLst>
    <p:tags r:id="rId40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300"/>
    <a:srgbClr val="120C80"/>
    <a:srgbClr val="00376F"/>
    <a:srgbClr val="91100E"/>
    <a:srgbClr val="5E676E"/>
    <a:srgbClr val="C91330"/>
    <a:srgbClr val="FFE79D"/>
    <a:srgbClr val="ED6A5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85320" autoAdjust="0"/>
  </p:normalViewPr>
  <p:slideViewPr>
    <p:cSldViewPr snapToGrid="0">
      <p:cViewPr varScale="1">
        <p:scale>
          <a:sx n="78" d="100"/>
          <a:sy n="78" d="100"/>
        </p:scale>
        <p:origin x="427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9/19/2025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7568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necessary for collaborative development of complex system controllers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2282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4875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  <p:sldLayoutId id="2147485374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modelica/fmi-beginners-tutorial-2024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ica/fmi-beginners-tutorial-2024/tree/mai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fmi-standard.org/about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png"/><Relationship Id="rId3" Type="http://schemas.openxmlformats.org/officeDocument/2006/relationships/hyperlink" Target="https://modelica.org/libraries/" TargetMode="External"/><Relationship Id="rId7" Type="http://schemas.openxmlformats.org/officeDocument/2006/relationships/hyperlink" Target="https://efmi-standard.org/" TargetMode="External"/><Relationship Id="rId12" Type="http://schemas.openxmlformats.org/officeDocument/2006/relationships/image" Target="../media/image13.png"/><Relationship Id="rId2" Type="http://schemas.openxmlformats.org/officeDocument/2006/relationships/hyperlink" Target="https://modelica.org/languag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cp-standard.org/" TargetMode="External"/><Relationship Id="rId11" Type="http://schemas.openxmlformats.org/officeDocument/2006/relationships/image" Target="../media/image12.png"/><Relationship Id="rId5" Type="http://schemas.openxmlformats.org/officeDocument/2006/relationships/hyperlink" Target="https://ssp-standard.org/" TargetMode="External"/><Relationship Id="rId10" Type="http://schemas.openxmlformats.org/officeDocument/2006/relationships/image" Target="../media/image11.png"/><Relationship Id="rId4" Type="http://schemas.openxmlformats.org/officeDocument/2006/relationships/hyperlink" Target="https://fmi-standard.org/" TargetMode="External"/><Relationship Id="rId9" Type="http://schemas.openxmlformats.org/officeDocument/2006/relationships/image" Target="../media/image1.png"/><Relationship Id="rId1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delica.org/" TargetMode="External"/><Relationship Id="rId2" Type="http://schemas.openxmlformats.org/officeDocument/2006/relationships/hyperlink" Target="https://modelica.org/associ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16.emf"/><Relationship Id="rId4" Type="http://schemas.openxmlformats.org/officeDocument/2006/relationships/hyperlink" Target="https://fmi-standard.org/about/#project-rule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downloads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delica/Reference-FMUs/blob/main/fmusim/fmusim_fmi2_cs.c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github.com/modelica/Reference-FMUs/blob/main/BouncingBall/FMI2.x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INTO-CPS-Association/FMI-VDM-Model" TargetMode="External"/><Relationship Id="rId3" Type="http://schemas.openxmlformats.org/officeDocument/2006/relationships/hyperlink" Target="https://fmi-standard.org/tools/" TargetMode="External"/><Relationship Id="rId7" Type="http://schemas.openxmlformats.org/officeDocument/2006/relationships/hyperlink" Target="https://github.com/modelica/reference-fmus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TIA-Systems/FMPy" TargetMode="External"/><Relationship Id="rId5" Type="http://schemas.openxmlformats.org/officeDocument/2006/relationships/hyperlink" Target="https://fmu-check.herokuapp.com/" TargetMode="External"/><Relationship Id="rId4" Type="http://schemas.openxmlformats.org/officeDocument/2006/relationships/hyperlink" Target="https://fmi-standard.org/validation/" TargetMode="External"/><Relationship Id="rId9" Type="http://schemas.openxmlformats.org/officeDocument/2006/relationships/image" Target="../media/image33.jp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5.emf"/><Relationship Id="rId4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198424"/>
            <a:ext cx="9241972" cy="1622516"/>
          </a:xfrm>
        </p:spPr>
        <p:txBody>
          <a:bodyPr/>
          <a:lstStyle/>
          <a:p>
            <a:br>
              <a:rPr lang="en-US" altLang="en-US" sz="3600" dirty="0"/>
            </a:br>
            <a:r>
              <a:rPr lang="en-US" altLang="en-US" sz="3600" dirty="0"/>
              <a:t>The Functional Mock-up Interface</a:t>
            </a:r>
            <a:br>
              <a:rPr lang="en-US" altLang="en-US" sz="3600" dirty="0"/>
            </a:br>
            <a:r>
              <a:rPr lang="en-US" altLang="en-US" sz="3600" dirty="0"/>
              <a:t>Beginners’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Contributors: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u="sng" dirty="0">
                <a:solidFill>
                  <a:srgbClr val="5E676E"/>
                </a:solidFill>
                <a:latin typeface="+mn-lt"/>
                <a:cs typeface="+mn-cs"/>
              </a:rPr>
              <a:t>Christian Bertsch</a:t>
            </a:r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, Bosch Research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Claudio Gomes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Aarhus University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Maurizio Palmieri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534916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0227A9-AC1B-B66E-20E0-8E525BD98E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354" y="910094"/>
            <a:ext cx="4071291" cy="14429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177D94-F5B4-0EF9-4E60-66E4A4E913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757" y="3935135"/>
            <a:ext cx="1942707" cy="194270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34C688-16B3-B453-B079-67DC29D4D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Part 1: Introduction to FMI (40Min)</a:t>
            </a:r>
          </a:p>
          <a:p>
            <a:pPr lvl="1"/>
            <a:r>
              <a:rPr lang="en-US" dirty="0"/>
              <a:t>Motivation / History</a:t>
            </a:r>
          </a:p>
          <a:p>
            <a:pPr lvl="1"/>
            <a:r>
              <a:rPr lang="en-US" dirty="0"/>
              <a:t>How does FMI work?</a:t>
            </a:r>
          </a:p>
          <a:p>
            <a:pPr lvl="1"/>
            <a:r>
              <a:rPr lang="en-US" dirty="0"/>
              <a:t>Tool support</a:t>
            </a:r>
          </a:p>
          <a:p>
            <a:pPr lvl="1"/>
            <a:r>
              <a:rPr lang="en-US" dirty="0"/>
              <a:t>New features in FMI 3.0</a:t>
            </a:r>
          </a:p>
          <a:p>
            <a:pPr lvl="1"/>
            <a:endParaRPr lang="en-US" dirty="0"/>
          </a:p>
          <a:p>
            <a:r>
              <a:rPr lang="en-US" b="1" dirty="0"/>
              <a:t>Part 2: Working with (single) FMUs (45 min)</a:t>
            </a:r>
          </a:p>
          <a:p>
            <a:endParaRPr lang="en-US" b="1" dirty="0"/>
          </a:p>
          <a:p>
            <a:r>
              <a:rPr lang="en-US" b="1" dirty="0"/>
              <a:t>Part 3: Interacting with multiple FMUs (45 min)</a:t>
            </a:r>
          </a:p>
          <a:p>
            <a:endParaRPr lang="en-US" b="1" dirty="0"/>
          </a:p>
          <a:p>
            <a:r>
              <a:rPr lang="en-US" b="1" dirty="0"/>
              <a:t>Part 4: Closing Session (10 min)</a:t>
            </a:r>
          </a:p>
          <a:p>
            <a:endParaRPr lang="en-US" b="1" dirty="0"/>
          </a:p>
          <a:p>
            <a:r>
              <a:rPr lang="en-US" b="1" dirty="0"/>
              <a:t>Q&amp;A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1588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E7EA68-8D1C-689A-76B2-62492C233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9361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7430165-842A-5F14-A591-01F55A11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Introduction to FMI</a:t>
            </a:r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1C8FE56-2E01-097C-45C4-D3BC2A5AD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3130345"/>
            <a:ext cx="5818812" cy="2378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8BF98-CDEA-294F-5A40-BA21B6EEF1E0}"/>
              </a:ext>
            </a:extLst>
          </p:cNvPr>
          <p:cNvSpPr txBox="1"/>
          <p:nvPr/>
        </p:nvSpPr>
        <p:spPr>
          <a:xfrm>
            <a:off x="664119" y="2022364"/>
            <a:ext cx="4823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Presenter:</a:t>
            </a:r>
            <a:b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978ADD06-3B1E-7161-A229-C13B73EE0EAF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29415F6-21ED-FE69-17BC-A2F9B50AC688}"/>
              </a:ext>
            </a:extLst>
          </p:cNvPr>
          <p:cNvSpPr txBox="1"/>
          <p:nvPr/>
        </p:nvSpPr>
        <p:spPr>
          <a:xfrm>
            <a:off x="9619757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fmi-beginners-tutorial-2024/tree/main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5547DFE-87A6-5D51-B6B2-16817869D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7923" y="4049318"/>
            <a:ext cx="1974090" cy="19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35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Motivation, Timeline</a:t>
            </a:r>
          </a:p>
          <a:p>
            <a:endParaRPr lang="en-US" sz="4000" b="1" dirty="0"/>
          </a:p>
          <a:p>
            <a:endParaRPr lang="en-US" sz="4000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366592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CE00-6F7E-AD47-FDA6-A2165852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sz="2000" dirty="0"/>
              <a:t>Define </a:t>
            </a:r>
            <a:r>
              <a:rPr lang="en-US" sz="2000" b="1" dirty="0"/>
              <a:t>a tool-independent</a:t>
            </a:r>
            <a:r>
              <a:rPr lang="en-US" sz="2000" dirty="0"/>
              <a:t>, </a:t>
            </a:r>
            <a:r>
              <a:rPr lang="en-US" sz="2000" b="1" dirty="0"/>
              <a:t>free-to-use</a:t>
            </a:r>
            <a:r>
              <a:rPr lang="en-US" sz="2000" dirty="0"/>
              <a:t> standard for exchange and co-simulation of models between different simulation tools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Provide models in a containerized form that </a:t>
            </a:r>
            <a:r>
              <a:rPr lang="en-US" sz="2000" dirty="0"/>
              <a:t>allow for the </a:t>
            </a:r>
            <a:r>
              <a:rPr lang="en-US" sz="2000" b="1" dirty="0"/>
              <a:t>deployment to different targets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Decouple Know-How 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producers and users of FMUs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different specialized engineers and software programmers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Massive </a:t>
            </a:r>
            <a:r>
              <a:rPr lang="en-US" sz="2000" b="1" dirty="0"/>
              <a:t>Re-use</a:t>
            </a:r>
            <a:r>
              <a:rPr lang="en-US" sz="2000" dirty="0"/>
              <a:t> of modelling investment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IP Protection </a:t>
            </a:r>
            <a:r>
              <a:rPr lang="en-US" sz="2000" dirty="0"/>
              <a:t>possible vial black-box model exchange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1068E8-5301-5F50-164C-91D96843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2782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CD930-0D91-B104-6308-FD6BEE00D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FMI 1.0 (and most part of FMI 2.0) was developed</a:t>
            </a:r>
            <a:br>
              <a:rPr lang="en-US" dirty="0"/>
            </a:br>
            <a:r>
              <a:rPr lang="en-US" dirty="0"/>
              <a:t>in the publicly funded project Modelisar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2008-2011: MODELISAR project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2011: Release of FMI 1.0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2012: Foundation of MAP FMI in  MA</a:t>
            </a:r>
            <a:br>
              <a:rPr lang="en-US" dirty="0"/>
            </a:br>
            <a:r>
              <a:rPr lang="en-US" dirty="0"/>
              <a:t>Members: see </a:t>
            </a:r>
            <a:r>
              <a:rPr lang="en-US" dirty="0">
                <a:hlinkClick r:id="rId2"/>
              </a:rPr>
              <a:t>FMI Webpage 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2013: Release of FMI 2.0 </a:t>
            </a:r>
            <a:r>
              <a:rPr lang="en-US" i="1" dirty="0">
                <a:sym typeface="Wingdings" panose="05000000000000000000" pitchFamily="2" charset="2"/>
              </a:rPr>
              <a:t> focus of this tutorial</a:t>
            </a:r>
            <a:endParaRPr lang="en-US" i="1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2022: Release of FMI 3.0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2024, 25: Release of FMI Layered Standards FMI-LS-XCP, FMI-LS-XCP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74461A-4875-240C-29F8-51EF84D11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: Modelisar Project </a:t>
            </a:r>
            <a:r>
              <a:rPr lang="en-US" dirty="0">
                <a:sym typeface="Wingdings" panose="05000000000000000000" pitchFamily="2" charset="2"/>
              </a:rPr>
              <a:t> Modelica Association Project FMI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AFB960-E12D-DB2E-4A8C-785FAA9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17821" y="1668160"/>
            <a:ext cx="4090812" cy="3110669"/>
          </a:xfrm>
          <a:prstGeom prst="rect">
            <a:avLst/>
          </a:prstGeom>
          <a:solidFill>
            <a:srgbClr val="FFFFFF"/>
          </a:solidFill>
          <a:ln w="12700">
            <a:solidFill>
              <a:srgbClr val="99A5B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0B73AC1-8E65-B6D5-5828-3EF82BBE8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5771" y="3671131"/>
            <a:ext cx="1036656" cy="4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6086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F379B1-8F40-EDA7-EAEF-4EC103498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uses semantic versioning:			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F67BA5F3-89BC-8B43-B90C-B15EC32437BF}"/>
              </a:ext>
            </a:extLst>
          </p:cNvPr>
          <p:cNvSpPr txBox="1">
            <a:spLocks/>
          </p:cNvSpPr>
          <p:nvPr/>
        </p:nvSpPr>
        <p:spPr bwMode="auto">
          <a:xfrm>
            <a:off x="2851246" y="3079557"/>
            <a:ext cx="6629490" cy="23817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Minor releases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Can introduce new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compatible</a:t>
            </a:r>
            <a:br>
              <a:rPr lang="en-US" kern="0" dirty="0"/>
            </a:br>
            <a:r>
              <a:rPr lang="en-US" i="1" kern="0" dirty="0"/>
              <a:t>„FMI 3.0 FMUs will be valid FMI 3.1 FMUs“</a:t>
            </a:r>
          </a:p>
          <a:p>
            <a:endParaRPr lang="en-US" kern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BDA357-72A5-477C-3404-A4081CC6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Versioning of FMI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E1D63-5710-2E2A-0D10-34B1DDCEDAEC}"/>
              </a:ext>
            </a:extLst>
          </p:cNvPr>
          <p:cNvSpPr txBox="1"/>
          <p:nvPr/>
        </p:nvSpPr>
        <p:spPr>
          <a:xfrm>
            <a:off x="5431881" y="2610615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e.g. </a:t>
            </a:r>
            <a:r>
              <a:rPr lang="en-US" sz="4400" b="1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„FMI 3.0.2“</a:t>
            </a:r>
            <a:endParaRPr lang="en-US" sz="2800" b="1" dirty="0">
              <a:solidFill>
                <a:srgbClr val="5E676E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363ADD0-A4C9-D7CB-457F-1B9145C965D4}"/>
              </a:ext>
            </a:extLst>
          </p:cNvPr>
          <p:cNvCxnSpPr>
            <a:cxnSpLocks/>
          </p:cNvCxnSpPr>
          <p:nvPr/>
        </p:nvCxnSpPr>
        <p:spPr bwMode="auto">
          <a:xfrm>
            <a:off x="3548743" y="1997552"/>
            <a:ext cx="4158343" cy="769441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F07A9E-CCC1-CE0C-6E90-C59387661506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2571" y="3253967"/>
            <a:ext cx="1763486" cy="904376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A0D2D-6CE8-127F-BEB0-37370D1C14C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49253" y="3253967"/>
            <a:ext cx="391976" cy="1927633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26AE8B9C-9A13-3748-3D14-9E715599B447}"/>
              </a:ext>
            </a:extLst>
          </p:cNvPr>
          <p:cNvSpPr txBox="1">
            <a:spLocks/>
          </p:cNvSpPr>
          <p:nvPr/>
        </p:nvSpPr>
        <p:spPr bwMode="auto">
          <a:xfrm>
            <a:off x="5301253" y="4450605"/>
            <a:ext cx="7300504" cy="2562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				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Bugfix/Maintenance releases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No new features, only bugfixes and clarifications possible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and forward compatibility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77A68-B6C6-2C07-0A6F-DAFBA2284ACD}"/>
              </a:ext>
            </a:extLst>
          </p:cNvPr>
          <p:cNvSpPr txBox="1"/>
          <p:nvPr/>
        </p:nvSpPr>
        <p:spPr>
          <a:xfrm>
            <a:off x="1475632" y="1811937"/>
            <a:ext cx="4620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ct val="30000"/>
              </a:spcAft>
              <a:buSzPct val="75000"/>
            </a:pPr>
            <a:r>
              <a:rPr lang="en-US" sz="2000" b="1" kern="0" dirty="0">
                <a:solidFill>
                  <a:srgbClr val="5E676E"/>
                </a:solidFill>
                <a:latin typeface="+mn-lt"/>
                <a:cs typeface="+mn-cs"/>
              </a:rPr>
              <a:t>Major releases</a:t>
            </a:r>
          </a:p>
          <a:p>
            <a:pPr marL="342900" indent="-342900" eaLnBrk="1" hangingPunct="1">
              <a:spcAft>
                <a:spcPct val="30000"/>
              </a:spcAft>
              <a:buSzPct val="75000"/>
              <a:buFont typeface="Wingdings" panose="05000000000000000000" pitchFamily="2" charset="2"/>
              <a:buChar char="§"/>
            </a:pP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not backwards or forward </a:t>
            </a:r>
            <a:b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compatible changes</a:t>
            </a:r>
          </a:p>
        </p:txBody>
      </p:sp>
    </p:spTree>
    <p:extLst>
      <p:ext uri="{BB962C8B-B14F-4D97-AF65-F5344CB8AC3E}">
        <p14:creationId xmlns:p14="http://schemas.microsoft.com/office/powerpoint/2010/main" val="151796752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FFAAB93-E065-3CD9-61F8-6EF6BE3DA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Functional Mock-up Interface is the leading free, vendor-neutral standard for the exchange and co-simulation of simulation models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Current releases: </a:t>
            </a:r>
            <a:r>
              <a:rPr lang="en-US" sz="2000" b="1" dirty="0"/>
              <a:t>FMI 2.0.5 </a:t>
            </a:r>
            <a:r>
              <a:rPr lang="en-US" sz="2000" dirty="0"/>
              <a:t>and </a:t>
            </a:r>
            <a:r>
              <a:rPr lang="en-US" sz="2000" b="1" dirty="0"/>
              <a:t>FMI 3.0.2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250+ tools </a:t>
            </a:r>
            <a:r>
              <a:rPr lang="en-US" sz="2000" dirty="0"/>
              <a:t>and libraries </a:t>
            </a:r>
            <a:r>
              <a:rPr lang="en-US" dirty="0"/>
              <a:t>s</a:t>
            </a:r>
            <a:r>
              <a:rPr lang="en-US" sz="2000" dirty="0"/>
              <a:t>upport</a:t>
            </a:r>
            <a:r>
              <a:rPr lang="en-US" dirty="0"/>
              <a:t> FMI (</a:t>
            </a:r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) </a:t>
            </a:r>
          </a:p>
          <a:p>
            <a:endParaRPr lang="en-US" sz="8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AA02D14-9ACA-A806-A7E8-69B813F7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Functional Mock-Up Interface today		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50" y="3697272"/>
            <a:ext cx="4735849" cy="193572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FA14F67-58AE-A76C-F973-960B2BCB0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285" y="2226365"/>
            <a:ext cx="2075944" cy="39950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E75F3-32FF-8F63-21C1-0640612FA2C4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581147674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B269E9D-EA4D-6262-C777-32AB53291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The Modelica Association is a non-profit, non-governmental organization with </a:t>
            </a:r>
            <a:br>
              <a:rPr lang="en-US" sz="2000" dirty="0"/>
            </a:br>
            <a:r>
              <a:rPr lang="en-US" sz="2000" dirty="0"/>
              <a:t>the aim of </a:t>
            </a:r>
            <a:r>
              <a:rPr lang="en-US" sz="2000" b="1" dirty="0"/>
              <a:t>developing and promoting open and coordinated standards </a:t>
            </a:r>
            <a:br>
              <a:rPr lang="en-US" sz="2000" b="1" dirty="0"/>
            </a:br>
            <a:r>
              <a:rPr lang="en-US" sz="2000" b="1" dirty="0"/>
              <a:t>for system modelling and simulation.</a:t>
            </a:r>
            <a:endParaRPr lang="en-US" b="1" dirty="0"/>
          </a:p>
          <a:p>
            <a:r>
              <a:rPr lang="en-US" sz="1600" dirty="0"/>
              <a:t>MA Projects:</a:t>
            </a: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standardize, and promote Modelica, a language to model and simulate multi-domain cyber physical systems in a convenient </a:t>
            </a:r>
            <a:r>
              <a:rPr lang="en-US" sz="1600" dirty="0" err="1">
                <a:solidFill>
                  <a:schemeClr val="accent4">
                    <a:lumMod val="50000"/>
                    <a:lumOff val="50000"/>
                  </a:schemeClr>
                </a:solidFill>
              </a:rPr>
              <a:t>way.</a:t>
            </a:r>
            <a:r>
              <a:rPr lang="en-US" sz="1600" dirty="0" err="1">
                <a:solidFill>
                  <a:srgbClr val="AFB2B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Language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maintain, and promote the open source Modelica libraries and model components in many domains based on standardized interface definitions.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 Libraries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free standard that defines a container and interface to exchange dynamic simulation models using a combination of XML files, binaries, and C code.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tool independent standard to define complete systems of one or more FMUs including its parameterization that can be transferred between simulation tools.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ssp-standard.org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platform and communication medium independent standard to integrate models and real-time systems into simulation environments.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dcp-standard.org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standard to seamlessly integrate physics design models of systems with their electronic controls development.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F65D651-008C-D9B7-9404-5C5F347E3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F2269C4-FB89-7680-8C86-8E408A4F1F1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8" y="1349375"/>
            <a:ext cx="1568469" cy="7471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1033E766-FD10-E71D-42B5-2F2E17FF714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3915513"/>
            <a:ext cx="1073927" cy="38063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E796F10-026A-D649-142C-595D8C0BA7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2831325"/>
            <a:ext cx="760295" cy="38063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570ABF2-C041-2C17-D643-C1577667DDA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119" y="3323913"/>
            <a:ext cx="801171" cy="38063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33CE156-AE82-DC9E-C09B-0201662F83E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4507113"/>
            <a:ext cx="1440151" cy="26947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A663A5C-6DA3-45D3-C65E-A3C145F960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5010062"/>
            <a:ext cx="1261856" cy="353051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DEBB3D1-5FDB-4521-BD0E-5AA9C64F2A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645" y="5637215"/>
            <a:ext cx="1440152" cy="3607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D7F6AF-1099-C61C-93C0-E002C7094DB5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15872559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E217379-87CA-751E-D14A-FD5615DE7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38" y="1307272"/>
            <a:ext cx="7913351" cy="4760007"/>
          </a:xfrm>
        </p:spPr>
        <p:txBody>
          <a:bodyPr/>
          <a:lstStyle/>
          <a:p>
            <a:r>
              <a:rPr lang="de-DE" sz="1600" dirty="0"/>
              <a:t>The development of </a:t>
            </a:r>
            <a:r>
              <a:rPr lang="de-DE" sz="1600" dirty="0" err="1"/>
              <a:t>the</a:t>
            </a:r>
            <a:r>
              <a:rPr lang="de-DE" sz="1600" dirty="0"/>
              <a:t> FMI Standard </a:t>
            </a:r>
            <a:r>
              <a:rPr lang="de-DE" sz="1600" dirty="0" err="1"/>
              <a:t>is</a:t>
            </a:r>
            <a:r>
              <a:rPr lang="de-DE" sz="1600" dirty="0"/>
              <a:t> </a:t>
            </a:r>
            <a:r>
              <a:rPr lang="de-DE" sz="1600" dirty="0" err="1"/>
              <a:t>organised</a:t>
            </a:r>
            <a:r>
              <a:rPr lang="de-DE" sz="1600" dirty="0"/>
              <a:t> </a:t>
            </a:r>
            <a:r>
              <a:rPr lang="de-DE" sz="1600" dirty="0" err="1"/>
              <a:t>as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2"/>
              </a:rPr>
              <a:t>Modelica Association Project</a:t>
            </a:r>
            <a:r>
              <a:rPr lang="de-DE" sz="1600" dirty="0"/>
              <a:t> </a:t>
            </a:r>
            <a:r>
              <a:rPr lang="de-DE" sz="1600" i="1" dirty="0"/>
              <a:t>Functional Mock-</a:t>
            </a:r>
            <a:r>
              <a:rPr lang="de-DE" sz="1600" i="1" dirty="0" err="1"/>
              <a:t>up</a:t>
            </a:r>
            <a:r>
              <a:rPr lang="de-DE" sz="1600" i="1" dirty="0"/>
              <a:t> Interface</a:t>
            </a:r>
            <a:r>
              <a:rPr lang="de-DE" sz="1600" dirty="0"/>
              <a:t> </a:t>
            </a:r>
            <a:r>
              <a:rPr lang="de-DE" sz="1600" dirty="0" err="1"/>
              <a:t>under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roof</a:t>
            </a:r>
            <a:r>
              <a:rPr lang="de-DE" sz="1600" dirty="0"/>
              <a:t> of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3"/>
              </a:rPr>
              <a:t>Modelica Association</a:t>
            </a:r>
            <a:r>
              <a:rPr lang="de-DE" sz="1600" dirty="0"/>
              <a:t>. </a:t>
            </a:r>
            <a:r>
              <a:rPr lang="de-DE" sz="1600" dirty="0" err="1"/>
              <a:t>It</a:t>
            </a:r>
            <a:r>
              <a:rPr lang="de-DE" sz="1600" dirty="0"/>
              <a:t> </a:t>
            </a:r>
            <a:r>
              <a:rPr lang="de-DE" sz="1600" dirty="0" err="1"/>
              <a:t>follows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4"/>
              </a:rPr>
              <a:t>Project Rules</a:t>
            </a:r>
            <a:r>
              <a:rPr lang="de-DE" sz="1600" dirty="0"/>
              <a:t> </a:t>
            </a:r>
            <a:r>
              <a:rPr lang="de-DE" sz="1600" dirty="0" err="1"/>
              <a:t>approved</a:t>
            </a:r>
            <a:r>
              <a:rPr lang="de-DE" sz="1600" dirty="0"/>
              <a:t>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FMI Steering Committee.</a:t>
            </a:r>
          </a:p>
          <a:p>
            <a:r>
              <a:rPr lang="de-DE" sz="1600" b="1" dirty="0"/>
              <a:t>Project Leader and Deputy:</a:t>
            </a:r>
            <a:br>
              <a:rPr lang="de-DE" sz="1600" dirty="0"/>
            </a:br>
            <a:r>
              <a:rPr lang="de-DE" sz="1600" dirty="0"/>
              <a:t>Christian Bertsch (BOSCH) and Torsten Sommer (Dassault </a:t>
            </a:r>
            <a:r>
              <a:rPr lang="de-DE" sz="1600" dirty="0" err="1"/>
              <a:t>Systèmes</a:t>
            </a:r>
            <a:r>
              <a:rPr lang="de-DE" sz="1600" dirty="0"/>
              <a:t>) </a:t>
            </a:r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Steering Committee:</a:t>
            </a:r>
            <a:br>
              <a:rPr lang="de-DE" sz="1600" dirty="0"/>
            </a:br>
            <a:r>
              <a:rPr lang="de-DE" sz="1600" dirty="0"/>
              <a:t>AVL List, BOSCH, Dassault Systemes, dSPACE, ESI Group, Maplesoft, </a:t>
            </a:r>
            <a:r>
              <a:rPr lang="de-DE" sz="1600" dirty="0" err="1"/>
              <a:t>Modelon</a:t>
            </a:r>
            <a:r>
              <a:rPr lang="de-DE" sz="1600" dirty="0"/>
              <a:t>, PMSF, Siemens PLM, </a:t>
            </a:r>
            <a:r>
              <a:rPr lang="de-DE" sz="1600" dirty="0" err="1"/>
              <a:t>Synopsys</a:t>
            </a:r>
            <a:endParaRPr lang="de-DE" sz="1600" dirty="0"/>
          </a:p>
          <a:p>
            <a:r>
              <a:rPr lang="de-DE" sz="1600" b="1" dirty="0"/>
              <a:t>Further </a:t>
            </a:r>
            <a:r>
              <a:rPr lang="de-DE" sz="1600" b="1" dirty="0" err="1"/>
              <a:t>Contributing</a:t>
            </a:r>
            <a:r>
              <a:rPr lang="de-DE" sz="1600" b="1" dirty="0"/>
              <a:t> Members:</a:t>
            </a:r>
            <a:br>
              <a:rPr lang="de-DE" sz="1600" dirty="0"/>
            </a:br>
            <a:r>
              <a:rPr lang="de-DE" sz="1600" dirty="0"/>
              <a:t>Aarhus University, ABB, Altair, Akkodis, AMEPERE, </a:t>
            </a:r>
            <a:r>
              <a:rPr lang="de-DE" sz="1600" dirty="0" err="1"/>
              <a:t>Ansys</a:t>
            </a:r>
            <a:r>
              <a:rPr lang="de-DE" sz="1600" dirty="0"/>
              <a:t>, Augsburg University, Beckhoff, Boeing, Danfoss, DLR, EKS INTEC, ETAS, Fraunhofer IEM, IAV, ITK Engineering, </a:t>
            </a:r>
            <a:r>
              <a:rPr lang="de-DE" sz="1600" dirty="0" err="1"/>
              <a:t>iVH</a:t>
            </a:r>
            <a:r>
              <a:rPr lang="de-DE" sz="1600" dirty="0"/>
              <a:t>, </a:t>
            </a:r>
            <a:r>
              <a:rPr lang="de-DE" sz="1600" dirty="0" err="1"/>
              <a:t>JuliaComputing</a:t>
            </a:r>
            <a:r>
              <a:rPr lang="de-DE" sz="1600" dirty="0"/>
              <a:t>, LTX, </a:t>
            </a:r>
            <a:r>
              <a:rPr lang="de-DE" sz="1600" dirty="0" err="1"/>
              <a:t>MachineWare</a:t>
            </a:r>
            <a:r>
              <a:rPr lang="de-DE" sz="1600" dirty="0"/>
              <a:t>, Renault, Saab Group, Virtual Vehicle Research, Wolfram </a:t>
            </a:r>
            <a:r>
              <a:rPr lang="de-DE" sz="1600" dirty="0" err="1"/>
              <a:t>MathCore</a:t>
            </a:r>
            <a:r>
              <a:rPr lang="de-DE" sz="1600" dirty="0"/>
              <a:t> AB, TLK </a:t>
            </a:r>
            <a:r>
              <a:rPr lang="de-DE" sz="1600" dirty="0" err="1"/>
              <a:t>Thermo</a:t>
            </a:r>
            <a:r>
              <a:rPr lang="de-DE" sz="1600" dirty="0"/>
              <a:t>, </a:t>
            </a:r>
            <a:r>
              <a:rPr lang="de-DE" sz="1600" dirty="0" err="1"/>
              <a:t>tracetronic</a:t>
            </a:r>
            <a:r>
              <a:rPr lang="de-DE" sz="1600" dirty="0"/>
              <a:t>, TU Dresden </a:t>
            </a:r>
            <a:r>
              <a:rPr lang="de-DE" sz="1600" i="1" dirty="0"/>
              <a:t>and all Steering Committee Members</a:t>
            </a:r>
            <a:endParaRPr lang="de-DE" sz="1600" dirty="0"/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Advisory Committee:</a:t>
            </a:r>
            <a:r>
              <a:rPr lang="de-DE" sz="1600" dirty="0"/>
              <a:t> AIRBUS, </a:t>
            </a:r>
            <a:r>
              <a:rPr lang="de-DE" sz="1600" dirty="0" err="1"/>
              <a:t>blue</a:t>
            </a:r>
            <a:r>
              <a:rPr lang="de-DE" sz="1600" dirty="0"/>
              <a:t> </a:t>
            </a:r>
            <a:r>
              <a:rPr lang="de-DE" sz="1600" dirty="0" err="1"/>
              <a:t>automation</a:t>
            </a:r>
            <a:r>
              <a:rPr lang="de-DE" sz="1600" dirty="0"/>
              <a:t>, </a:t>
            </a:r>
            <a:r>
              <a:rPr lang="de-DE" sz="1600" dirty="0" err="1"/>
              <a:t>Claytex</a:t>
            </a:r>
            <a:r>
              <a:rPr lang="de-DE" sz="1600" dirty="0"/>
              <a:t>, COMSOL, DNV, Fraunhofer (IIS/EAS First, SCAI), GM Motorsports, KEB Automation, LBL, NVIDIA, Knorr-Bremse Rail Vehicle Systems, MathWorks, Open Modelica </a:t>
            </a:r>
            <a:r>
              <a:rPr lang="de-DE" sz="1600" dirty="0" err="1"/>
              <a:t>Consortium</a:t>
            </a:r>
            <a:r>
              <a:rPr lang="de-DE" sz="1600" dirty="0"/>
              <a:t>, </a:t>
            </a:r>
            <a:r>
              <a:rPr lang="de-DE" sz="1600" dirty="0" err="1"/>
              <a:t>Samares</a:t>
            </a:r>
            <a:r>
              <a:rPr lang="de-DE" sz="1600" dirty="0"/>
              <a:t> Engineering, SINTEF </a:t>
            </a:r>
            <a:r>
              <a:rPr lang="de-DE" sz="1600" dirty="0" err="1"/>
              <a:t>Nordvest</a:t>
            </a:r>
            <a:r>
              <a:rPr lang="de-DE" sz="1600" dirty="0"/>
              <a:t>, University of Halle, Volkswagen, Volvo </a:t>
            </a:r>
            <a:r>
              <a:rPr lang="de-DE" sz="1600" dirty="0" err="1"/>
              <a:t>Autonomous</a:t>
            </a:r>
            <a:r>
              <a:rPr lang="de-DE" sz="1600" dirty="0"/>
              <a:t> Solutions, VTI, </a:t>
            </a:r>
            <a:r>
              <a:rPr lang="de-DE" sz="1600" i="1" dirty="0"/>
              <a:t>and all </a:t>
            </a:r>
            <a:r>
              <a:rPr lang="de-DE" sz="1600" i="1" dirty="0" err="1"/>
              <a:t>Contributing</a:t>
            </a:r>
            <a:r>
              <a:rPr lang="de-DE" sz="1600" i="1" dirty="0"/>
              <a:t> and Steering Committee Members</a:t>
            </a:r>
            <a:endParaRPr lang="de-DE" sz="16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6CFA86B-56DD-21F9-3C2C-305BBCE15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 FMI Project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AAE9317-C7DE-C82C-9E83-9C191FC7A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1143" y="1026319"/>
            <a:ext cx="3229142" cy="41221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4FDEEC6-E8BF-AD55-00CE-83F795FC895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76" b="29147"/>
          <a:stretch/>
        </p:blipFill>
        <p:spPr>
          <a:xfrm>
            <a:off x="10575156" y="5697546"/>
            <a:ext cx="1085561" cy="55555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207D1A2-75B3-8A8B-F189-3FB32A37A78B}"/>
              </a:ext>
            </a:extLst>
          </p:cNvPr>
          <p:cNvSpPr txBox="1"/>
          <p:nvPr/>
        </p:nvSpPr>
        <p:spPr>
          <a:xfrm>
            <a:off x="9143114" y="5754626"/>
            <a:ext cx="13512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de-DE"/>
            </a:defPPr>
            <a:lvl1pPr>
              <a:defRPr b="1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E676E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within  the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20C8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36A7B-88C6-BF45-64AD-2A7149E2DCB2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86222832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FMI: Technical Fundamentals</a:t>
            </a:r>
          </a:p>
          <a:p>
            <a:endParaRPr lang="en-US" sz="4000" b="1" dirty="0"/>
          </a:p>
          <a:p>
            <a:r>
              <a:rPr lang="en-US" sz="4000" i="1" dirty="0"/>
              <a:t>“How does FMI work?”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30A60D-6EC1-A8E9-1E69-3CE6DED30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6192EB5-44BC-97D1-4460-5710216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Exporting vs. Importing tool</a:t>
            </a:r>
          </a:p>
        </p:txBody>
      </p:sp>
      <p:sp>
        <p:nvSpPr>
          <p:cNvPr id="138" name="TextBox 156">
            <a:extLst>
              <a:ext uri="{FF2B5EF4-FFF2-40B4-BE49-F238E27FC236}">
                <a16:creationId xmlns:a16="http://schemas.microsoft.com/office/drawing/2014/main" id="{45E3F80A-360F-F324-4396-74ED16B437AC}"/>
              </a:ext>
            </a:extLst>
          </p:cNvPr>
          <p:cNvSpPr txBox="1"/>
          <p:nvPr/>
        </p:nvSpPr>
        <p:spPr>
          <a:xfrm>
            <a:off x="6297810" y="2540427"/>
            <a:ext cx="4977973" cy="3232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 as </a:t>
            </a: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Functional Mockup Unit (FMU)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according</a:t>
            </a:r>
            <a:r>
              <a:rPr lang="en-US" kern="0" dirty="0">
                <a:solidFill>
                  <a:srgbClr val="000000"/>
                </a:solidFill>
              </a:rPr>
              <a:t>g to the </a:t>
            </a:r>
            <a:r>
              <a:rPr lang="en-US" b="1" kern="0" dirty="0">
                <a:solidFill>
                  <a:srgbClr val="000000"/>
                </a:solidFill>
              </a:rPr>
              <a:t>FMI Standard</a:t>
            </a: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39" name="Straight Arrow Connector 160">
            <a:extLst>
              <a:ext uri="{FF2B5EF4-FFF2-40B4-BE49-F238E27FC236}">
                <a16:creationId xmlns:a16="http://schemas.microsoft.com/office/drawing/2014/main" id="{EFDD8117-50B2-D754-4320-F9C53BA7EC34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5698783" y="3203115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0" name="TextBox 165">
            <a:extLst>
              <a:ext uri="{FF2B5EF4-FFF2-40B4-BE49-F238E27FC236}">
                <a16:creationId xmlns:a16="http://schemas.microsoft.com/office/drawing/2014/main" id="{B9A767D2-96C5-D46E-C2FA-20A8514CFAA9}"/>
              </a:ext>
            </a:extLst>
          </p:cNvPr>
          <p:cNvSpPr txBox="1"/>
          <p:nvPr/>
        </p:nvSpPr>
        <p:spPr>
          <a:xfrm>
            <a:off x="6297810" y="2093694"/>
            <a:ext cx="4265669" cy="3289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kern="0" dirty="0">
                <a:solidFill>
                  <a:srgbClr val="000000"/>
                </a:solidFill>
              </a:rPr>
              <a:t>develop model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1" name="Rectangle 8">
            <a:extLst>
              <a:ext uri="{FF2B5EF4-FFF2-40B4-BE49-F238E27FC236}">
                <a16:creationId xmlns:a16="http://schemas.microsoft.com/office/drawing/2014/main" id="{2064C99B-969F-48AC-1571-860BF13D81F4}"/>
              </a:ext>
            </a:extLst>
          </p:cNvPr>
          <p:cNvSpPr/>
          <p:nvPr/>
        </p:nvSpPr>
        <p:spPr>
          <a:xfrm>
            <a:off x="5295195" y="3512137"/>
            <a:ext cx="807175" cy="3469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FMU</a:t>
            </a:r>
          </a:p>
        </p:txBody>
      </p:sp>
      <p:sp>
        <p:nvSpPr>
          <p:cNvPr id="144" name="TextBox 173">
            <a:extLst>
              <a:ext uri="{FF2B5EF4-FFF2-40B4-BE49-F238E27FC236}">
                <a16:creationId xmlns:a16="http://schemas.microsoft.com/office/drawing/2014/main" id="{B3ABB214-0855-F674-1A1A-109FAC2964D4}"/>
              </a:ext>
            </a:extLst>
          </p:cNvPr>
          <p:cNvSpPr txBox="1"/>
          <p:nvPr/>
        </p:nvSpPr>
        <p:spPr>
          <a:xfrm>
            <a:off x="2526120" y="4377669"/>
            <a:ext cx="2405109" cy="891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import FMU </a:t>
            </a:r>
          </a:p>
          <a:p>
            <a:pPr marL="228600" indent="-228600" eaLnBrk="1" fontAlgn="auto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600" kern="0" dirty="0">
                <a:solidFill>
                  <a:srgbClr val="000000"/>
                </a:solidFill>
              </a:rPr>
              <a:t>(co-) </a:t>
            </a:r>
            <a:r>
              <a:rPr lang="en-US" sz="1600" b="1" kern="0" dirty="0">
                <a:solidFill>
                  <a:srgbClr val="000000"/>
                </a:solidFill>
              </a:rPr>
              <a:t>simulate model 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6" name="Straight Arrow Connector 157">
            <a:extLst>
              <a:ext uri="{FF2B5EF4-FFF2-40B4-BE49-F238E27FC236}">
                <a16:creationId xmlns:a16="http://schemas.microsoft.com/office/drawing/2014/main" id="{55E41A82-12DB-8AF0-99FD-7E3E86F7B38C}"/>
              </a:ext>
            </a:extLst>
          </p:cNvPr>
          <p:cNvCxnSpPr>
            <a:cxnSpLocks/>
          </p:cNvCxnSpPr>
          <p:nvPr/>
        </p:nvCxnSpPr>
        <p:spPr>
          <a:xfrm>
            <a:off x="5698782" y="3870346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37EBB6A-3627-727A-EB38-D3A9E1159390}"/>
              </a:ext>
            </a:extLst>
          </p:cNvPr>
          <p:cNvSpPr txBox="1"/>
          <p:nvPr/>
        </p:nvSpPr>
        <p:spPr>
          <a:xfrm>
            <a:off x="2152602" y="1585602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Exporting tools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4FB0666-6CC6-4722-4DA1-E5563B231A85}"/>
              </a:ext>
            </a:extLst>
          </p:cNvPr>
          <p:cNvSpPr txBox="1"/>
          <p:nvPr/>
        </p:nvSpPr>
        <p:spPr>
          <a:xfrm>
            <a:off x="5274512" y="5498548"/>
            <a:ext cx="1566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Importing tool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E4F902-8D9D-E7F9-9C9E-672F33F101E6}"/>
              </a:ext>
            </a:extLst>
          </p:cNvPr>
          <p:cNvSpPr/>
          <p:nvPr/>
        </p:nvSpPr>
        <p:spPr bwMode="auto">
          <a:xfrm>
            <a:off x="2253345" y="1994792"/>
            <a:ext cx="3849025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265A1F-7F90-8B44-3E24-F893093748DA}"/>
              </a:ext>
            </a:extLst>
          </p:cNvPr>
          <p:cNvSpPr/>
          <p:nvPr/>
        </p:nvSpPr>
        <p:spPr bwMode="auto">
          <a:xfrm>
            <a:off x="5274513" y="4170118"/>
            <a:ext cx="2715602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14385AA-7F75-E093-2563-CB48FF21F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593"/>
          <a:stretch/>
        </p:blipFill>
        <p:spPr>
          <a:xfrm>
            <a:off x="2345824" y="2136065"/>
            <a:ext cx="1700127" cy="911542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DC094FE4-04D7-2506-0745-48FAC2034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23"/>
          <a:stretch/>
        </p:blipFill>
        <p:spPr>
          <a:xfrm>
            <a:off x="4104372" y="2049883"/>
            <a:ext cx="1700127" cy="997724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DB39975B-FB5C-96E8-2997-B4B11670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782" y="4384625"/>
            <a:ext cx="1434220" cy="877103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B59A83F1-834A-F9D4-8ECA-F74FE98AC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92" y="3383849"/>
            <a:ext cx="2186483" cy="60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63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475B14-C6EF-CDDD-9D34-4DB70822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Original Scope of FMI: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Ordinary differential equations (</a:t>
            </a:r>
            <a:r>
              <a:rPr lang="en-US" b="1" dirty="0"/>
              <a:t>ODEs</a:t>
            </a:r>
            <a:r>
              <a:rPr lang="en-US" dirty="0"/>
              <a:t>) with </a:t>
            </a:r>
            <a:r>
              <a:rPr lang="en-US" b="1" dirty="0"/>
              <a:t>events</a:t>
            </a:r>
          </a:p>
          <a:p>
            <a:pPr marL="608013" lvl="1" indent="-342900"/>
            <a:r>
              <a:rPr lang="en-US" dirty="0"/>
              <a:t>You need  a </a:t>
            </a:r>
            <a:r>
              <a:rPr lang="en-US" b="1" dirty="0"/>
              <a:t>numerical solver </a:t>
            </a:r>
            <a:r>
              <a:rPr lang="en-US" dirty="0"/>
              <a:t>for their solution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Distinction between continuous and discrete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is a notion of </a:t>
            </a:r>
            <a:r>
              <a:rPr lang="en-US" b="1" dirty="0"/>
              <a:t>time</a:t>
            </a:r>
            <a:r>
              <a:rPr lang="en-US" dirty="0"/>
              <a:t> (or more general „independent variabl2)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r>
              <a:rPr lang="en-US" b="1" dirty="0"/>
              <a:t>Extended scope: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Purely algebraic equations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Complex discrete behavior with clocks and model partitions (FMI 3.0)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very broad scope of use cases such as </a:t>
            </a:r>
          </a:p>
          <a:p>
            <a:pPr marL="608013" lvl="1" indent="-342900"/>
            <a:r>
              <a:rPr lang="en-US" dirty="0"/>
              <a:t>virtual electronic control units (ECUs),</a:t>
            </a:r>
          </a:p>
          <a:p>
            <a:pPr marL="608013" lvl="1" indent="-342900"/>
            <a:r>
              <a:rPr lang="en-US" dirty="0"/>
              <a:t> AI models</a:t>
            </a:r>
          </a:p>
          <a:p>
            <a:pPr marL="608013" lvl="1" indent="-342900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F73A9-EB79-D6F0-4ED1-81542A45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Scope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F3740D0-96E4-719F-9F1A-EBC714BB0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9983" y="1687286"/>
            <a:ext cx="3872017" cy="174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9614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B4F68-320D-5727-F2CF-51EE300CE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Co-Simulation:  </a:t>
            </a:r>
            <a:r>
              <a:rPr lang="en-US" dirty="0"/>
              <a:t>(from the FMI 3.0.2 glossary)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Coupling of several </a:t>
            </a:r>
            <a:r>
              <a:rPr lang="en-US" sz="2000" b="1" i="1" dirty="0"/>
              <a:t>simulation programs</a:t>
            </a:r>
            <a:r>
              <a:rPr lang="en-US" sz="2000" b="1" dirty="0"/>
              <a:t> </a:t>
            </a:r>
            <a:r>
              <a:rPr lang="en-US" sz="2000" dirty="0"/>
              <a:t>in order to compute the global behavior of a system that consists of several subsystems.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lang="en-US" sz="2000" dirty="0"/>
              <a:t>ubsystems are coupled in the sense that the </a:t>
            </a:r>
            <a:r>
              <a:rPr lang="en-US" sz="2000" b="1" dirty="0"/>
              <a:t>behavior of each subsystem depends on the behavior of the remaining subsystems</a:t>
            </a:r>
            <a:r>
              <a:rPr lang="en-US" sz="2000" dirty="0"/>
              <a:t>, so that the co-simulation must be </a:t>
            </a:r>
            <a:r>
              <a:rPr lang="en-US" sz="2000" b="1" dirty="0"/>
              <a:t>computed in a step-by-step fashion</a:t>
            </a:r>
            <a:r>
              <a:rPr lang="en-US" sz="2000" dirty="0"/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Each simulation program is responsible for computing the behavior of a subsystem, using the outputs produced by the other simulation programs.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There can </a:t>
            </a:r>
            <a:r>
              <a:rPr lang="en-US" dirty="0"/>
              <a:t>be an </a:t>
            </a:r>
            <a:r>
              <a:rPr lang="en-US" b="1" dirty="0"/>
              <a:t>additional error</a:t>
            </a:r>
            <a:r>
              <a:rPr lang="en-US" dirty="0"/>
              <a:t> introduced by the co-simulation, that has to be limited to an acceptable size by using a </a:t>
            </a:r>
            <a:r>
              <a:rPr lang="en-US" b="1" dirty="0"/>
              <a:t>suitable co-simulation algorithms and communication pattern </a:t>
            </a:r>
            <a:r>
              <a:rPr lang="en-US" dirty="0"/>
              <a:t>(e.g. step size) </a:t>
            </a:r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A4F274-E230-7BC5-3B64-05FD392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627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A138756-7481-DC2D-2EB9-F177E294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linkClick r:id="rId2"/>
              </a:rPr>
              <a:t>FMI Standard </a:t>
            </a:r>
            <a:r>
              <a:rPr lang="en-GB" dirty="0"/>
              <a:t>defines the “Functional Mock-up Interface” FMI, an interface between a model and a simulation environment. </a:t>
            </a:r>
          </a:p>
          <a:p>
            <a:endParaRPr lang="en-GB" dirty="0"/>
          </a:p>
          <a:p>
            <a:r>
              <a:rPr lang="en-GB" dirty="0"/>
              <a:t>It consists of the definition of</a:t>
            </a:r>
          </a:p>
          <a:p>
            <a:endParaRPr lang="en-GB" dirty="0"/>
          </a:p>
          <a:p>
            <a:pPr lvl="2"/>
            <a:r>
              <a:rPr lang="en-GB" dirty="0"/>
              <a:t>a </a:t>
            </a:r>
            <a:r>
              <a:rPr lang="en-GB" b="1" dirty="0"/>
              <a:t>C-API </a:t>
            </a:r>
            <a:r>
              <a:rPr lang="en-GB" dirty="0"/>
              <a:t>(application programming interface)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an </a:t>
            </a:r>
            <a:r>
              <a:rPr lang="en-GB" b="1" dirty="0"/>
              <a:t>interface description </a:t>
            </a:r>
            <a:r>
              <a:rPr lang="en-GB" dirty="0"/>
              <a:t>(modelDescription.xml) according to a defined schema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the </a:t>
            </a:r>
            <a:r>
              <a:rPr lang="en-GB" b="1" dirty="0"/>
              <a:t>definition of an exchangeable unit</a:t>
            </a:r>
            <a:r>
              <a:rPr lang="en-GB" dirty="0"/>
              <a:t>, an </a:t>
            </a:r>
            <a:r>
              <a:rPr lang="en-GB" b="1" dirty="0"/>
              <a:t>“FMU” </a:t>
            </a:r>
            <a:r>
              <a:rPr lang="en-GB" dirty="0"/>
              <a:t>(Functional Mock-up Unit), technically a zip file</a:t>
            </a:r>
          </a:p>
          <a:p>
            <a:pPr lvl="2"/>
            <a:endParaRPr lang="en-GB" dirty="0"/>
          </a:p>
          <a:p>
            <a:r>
              <a:rPr lang="en-US" i="1" dirty="0">
                <a:latin typeface="Arial" charset="0"/>
                <a:cs typeface="Arial" charset="0"/>
              </a:rPr>
              <a:t>The FMI Standard only defines the interface of a single FMU, </a:t>
            </a:r>
            <a:br>
              <a:rPr lang="en-US" i="1" dirty="0">
                <a:latin typeface="Arial" charset="0"/>
                <a:cs typeface="Arial" charset="0"/>
              </a:rPr>
            </a:br>
            <a:r>
              <a:rPr lang="en-US" i="1" dirty="0">
                <a:latin typeface="Arial" charset="0"/>
                <a:cs typeface="Arial" charset="0"/>
              </a:rPr>
              <a:t>not the co-simulation algorithm or solver for multiple FMUs!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7EDDF73-9F22-F9A7-DB11-849DB2DEA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FMI Standard</a:t>
            </a:r>
          </a:p>
        </p:txBody>
      </p:sp>
    </p:spTree>
    <p:extLst>
      <p:ext uri="{BB962C8B-B14F-4D97-AF65-F5344CB8AC3E}">
        <p14:creationId xmlns:p14="http://schemas.microsoft.com/office/powerpoint/2010/main" val="411295938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BFA25-22C3-957B-B5E4-5EA94403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model container, that can be distributed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Technically it is realized a zip File, with ending „.</a:t>
            </a:r>
            <a:r>
              <a:rPr lang="en-US" dirty="0" err="1"/>
              <a:t>fmu</a:t>
            </a:r>
            <a:r>
              <a:rPr lang="en-US" dirty="0"/>
              <a:t>“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Content: </a:t>
            </a:r>
          </a:p>
          <a:p>
            <a:pPr marL="608013" lvl="1" indent="-342900"/>
            <a:r>
              <a:rPr lang="en-US" b="1" dirty="0"/>
              <a:t>modelDescripotion.xml: </a:t>
            </a:r>
            <a:br>
              <a:rPr lang="en-US" b="1" dirty="0"/>
            </a:br>
            <a:r>
              <a:rPr lang="en-US" i="1" dirty="0"/>
              <a:t>meta-data with information on the model variables,</a:t>
            </a:r>
            <a:br>
              <a:rPr lang="en-US" i="1" dirty="0"/>
            </a:br>
            <a:r>
              <a:rPr lang="en-US" i="1" dirty="0"/>
              <a:t>interface, capabilities and to a limited extent  model structure</a:t>
            </a:r>
          </a:p>
          <a:p>
            <a:pPr marL="608013" lvl="1" indent="-342900"/>
            <a:r>
              <a:rPr lang="en-US" b="1" dirty="0"/>
              <a:t>Model representation </a:t>
            </a:r>
          </a:p>
          <a:p>
            <a:pPr marL="879475" lvl="2" indent="-342900"/>
            <a:r>
              <a:rPr lang="en-US" b="1" dirty="0"/>
              <a:t>Binaries f</a:t>
            </a:r>
            <a:r>
              <a:rPr lang="en-US" dirty="0"/>
              <a:t>or one or multiple platforms and/or (“black box”), and/or</a:t>
            </a:r>
          </a:p>
          <a:p>
            <a:pPr marL="879475" lvl="2" indent="-342900"/>
            <a:r>
              <a:rPr lang="en-US" b="1" dirty="0"/>
              <a:t>Source code </a:t>
            </a:r>
            <a:r>
              <a:rPr lang="en-US" dirty="0"/>
              <a:t>(</a:t>
            </a:r>
            <a:r>
              <a:rPr lang="en-US" dirty="0" err="1"/>
              <a:t>e.g</a:t>
            </a:r>
            <a:r>
              <a:rPr lang="en-US" dirty="0"/>
              <a:t> C-Code)</a:t>
            </a:r>
          </a:p>
          <a:p>
            <a:pPr marL="608013" lvl="1" indent="-342900"/>
            <a:r>
              <a:rPr lang="en-US" dirty="0"/>
              <a:t>Optionally: Resources, documentation, Icons, port definitions</a:t>
            </a:r>
          </a:p>
          <a:p>
            <a:pPr marL="608013" lvl="1" indent="-342900"/>
            <a:r>
              <a:rPr lang="en-US" dirty="0"/>
              <a:t>/extra information (defined in layered standards)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C79B7-7D35-6D23-DC35-97526F3A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– „Functional Mock-up Unit“</a:t>
            </a:r>
          </a:p>
        </p:txBody>
      </p:sp>
      <p:sp>
        <p:nvSpPr>
          <p:cNvPr id="6" name="Flowchart: Process 4453">
            <a:extLst>
              <a:ext uri="{FF2B5EF4-FFF2-40B4-BE49-F238E27FC236}">
                <a16:creationId xmlns:a16="http://schemas.microsoft.com/office/drawing/2014/main" id="{2085A5CF-5584-22C6-4592-22141C033198}"/>
              </a:ext>
            </a:extLst>
          </p:cNvPr>
          <p:cNvSpPr/>
          <p:nvPr/>
        </p:nvSpPr>
        <p:spPr>
          <a:xfrm>
            <a:off x="7705999" y="1347407"/>
            <a:ext cx="3636915" cy="2999014"/>
          </a:xfrm>
          <a:prstGeom prst="flowChartProcess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myModel.fmu</a:t>
            </a:r>
            <a:endParaRPr kumimoji="0" lang="en-US" sz="40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6600" b="1" kern="0" dirty="0">
              <a:solidFill>
                <a:schemeClr val="bg1"/>
              </a:solidFill>
              <a:latin typeface="Bosch Office Sans"/>
            </a:endParaRPr>
          </a:p>
          <a:p>
            <a: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6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5" name="Rectangle 4451">
            <a:extLst>
              <a:ext uri="{FF2B5EF4-FFF2-40B4-BE49-F238E27FC236}">
                <a16:creationId xmlns:a16="http://schemas.microsoft.com/office/drawing/2014/main" id="{3E957E88-65B0-4B79-3DCD-F20E2B798292}"/>
              </a:ext>
            </a:extLst>
          </p:cNvPr>
          <p:cNvSpPr/>
          <p:nvPr/>
        </p:nvSpPr>
        <p:spPr>
          <a:xfrm>
            <a:off x="7860330" y="3590959"/>
            <a:ext cx="1110954" cy="6751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model.dll</a:t>
            </a:r>
          </a:p>
        </p:txBody>
      </p:sp>
      <p:sp>
        <p:nvSpPr>
          <p:cNvPr id="26" name="Flowchart: Document 4452">
            <a:extLst>
              <a:ext uri="{FF2B5EF4-FFF2-40B4-BE49-F238E27FC236}">
                <a16:creationId xmlns:a16="http://schemas.microsoft.com/office/drawing/2014/main" id="{0F2B48E7-ED72-823A-9081-9AF0EDB48C04}"/>
              </a:ext>
            </a:extLst>
          </p:cNvPr>
          <p:cNvSpPr/>
          <p:nvPr/>
        </p:nvSpPr>
        <p:spPr>
          <a:xfrm>
            <a:off x="7834693" y="2652164"/>
            <a:ext cx="2273182" cy="876339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modelDescription.xml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521B31E2-C7D4-1A15-9E2D-A2CCAEB6D928}"/>
              </a:ext>
            </a:extLst>
          </p:cNvPr>
          <p:cNvGrpSpPr/>
          <p:nvPr/>
        </p:nvGrpSpPr>
        <p:grpSpPr>
          <a:xfrm>
            <a:off x="7566017" y="4533636"/>
            <a:ext cx="3961864" cy="1687702"/>
            <a:chOff x="427990" y="2276290"/>
            <a:chExt cx="5447073" cy="1985629"/>
          </a:xfrm>
        </p:grpSpPr>
        <p:grpSp>
          <p:nvGrpSpPr>
            <p:cNvPr id="28" name="Group 10">
              <a:extLst>
                <a:ext uri="{FF2B5EF4-FFF2-40B4-BE49-F238E27FC236}">
                  <a16:creationId xmlns:a16="http://schemas.microsoft.com/office/drawing/2014/main" id="{546D9AFA-59BD-1D71-FF63-2E92A28E60D5}"/>
                </a:ext>
              </a:extLst>
            </p:cNvPr>
            <p:cNvGrpSpPr/>
            <p:nvPr/>
          </p:nvGrpSpPr>
          <p:grpSpPr>
            <a:xfrm>
              <a:off x="427990" y="2998269"/>
              <a:ext cx="2613228" cy="1263650"/>
              <a:chOff x="554990" y="2605006"/>
              <a:chExt cx="2613228" cy="1263650"/>
            </a:xfrm>
          </p:grpSpPr>
          <p:grpSp>
            <p:nvGrpSpPr>
              <p:cNvPr id="41" name="Group 23">
                <a:extLst>
                  <a:ext uri="{FF2B5EF4-FFF2-40B4-BE49-F238E27FC236}">
                    <a16:creationId xmlns:a16="http://schemas.microsoft.com/office/drawing/2014/main" id="{BCFAB851-2A04-BD1B-03DE-70C11392D87E}"/>
                  </a:ext>
                </a:extLst>
              </p:cNvPr>
              <p:cNvGrpSpPr/>
              <p:nvPr/>
            </p:nvGrpSpPr>
            <p:grpSpPr>
              <a:xfrm>
                <a:off x="1501235" y="2605006"/>
                <a:ext cx="1666983" cy="1263650"/>
                <a:chOff x="563538" y="1072470"/>
                <a:chExt cx="1666983" cy="1263650"/>
              </a:xfrm>
            </p:grpSpPr>
            <p:sp>
              <p:nvSpPr>
                <p:cNvPr id="43" name="Left Brace 25">
                  <a:extLst>
                    <a:ext uri="{FF2B5EF4-FFF2-40B4-BE49-F238E27FC236}">
                      <a16:creationId xmlns:a16="http://schemas.microsoft.com/office/drawing/2014/main" id="{ABA6A66A-51F1-C6DC-B29F-34E903F0DD1A}"/>
                    </a:ext>
                  </a:extLst>
                </p:cNvPr>
                <p:cNvSpPr/>
                <p:nvPr/>
              </p:nvSpPr>
              <p:spPr>
                <a:xfrm>
                  <a:off x="563538" y="1075592"/>
                  <a:ext cx="257283" cy="1260528"/>
                </a:xfrm>
                <a:prstGeom prst="leftBrace">
                  <a:avLst/>
                </a:prstGeom>
                <a:solidFill>
                  <a:scrgbClr r="0" g="0" b="0">
                    <a:alpha val="0"/>
                  </a:scrgbClr>
                </a:solidFill>
                <a:ln>
                  <a:solidFill>
                    <a:srgbClr val="A80163"/>
                  </a:solidFill>
                </a:ln>
              </p:spPr>
              <p:style>
                <a:lnRef idx="1">
                  <a:srgbClr val="A80163"/>
                </a:lnRef>
                <a:fillRef idx="0">
                  <a:srgbClr val="A80163"/>
                </a:fillRef>
                <a:effectRef idx="0">
                  <a:srgbClr val="A8016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4" name="Picture 26">
                  <a:extLst>
                    <a:ext uri="{FF2B5EF4-FFF2-40B4-BE49-F238E27FC236}">
                      <a16:creationId xmlns:a16="http://schemas.microsoft.com/office/drawing/2014/main" id="{C2899AD0-B53E-A5E5-8443-33A8DB51B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821" y="1072470"/>
                  <a:ext cx="1409700" cy="1257300"/>
                </a:xfrm>
                <a:prstGeom prst="rect">
                  <a:avLst/>
                </a:prstGeom>
              </p:spPr>
            </p:pic>
          </p:grpSp>
          <p:pic>
            <p:nvPicPr>
              <p:cNvPr id="42" name="Picture 24">
                <a:extLst>
                  <a:ext uri="{FF2B5EF4-FFF2-40B4-BE49-F238E27FC236}">
                    <a16:creationId xmlns:a16="http://schemas.microsoft.com/office/drawing/2014/main" id="{31924EA8-F752-DB8D-C9E3-D6C198BE7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4990" y="3113006"/>
                <a:ext cx="1000125" cy="247650"/>
              </a:xfrm>
              <a:prstGeom prst="rect">
                <a:avLst/>
              </a:prstGeom>
            </p:spPr>
          </p:pic>
        </p:grpSp>
        <p:grpSp>
          <p:nvGrpSpPr>
            <p:cNvPr id="29" name="Group 11">
              <a:extLst>
                <a:ext uri="{FF2B5EF4-FFF2-40B4-BE49-F238E27FC236}">
                  <a16:creationId xmlns:a16="http://schemas.microsoft.com/office/drawing/2014/main" id="{2B90E5EA-8005-7F38-4C6A-B4DAADE1006E}"/>
                </a:ext>
              </a:extLst>
            </p:cNvPr>
            <p:cNvGrpSpPr/>
            <p:nvPr/>
          </p:nvGrpSpPr>
          <p:grpSpPr>
            <a:xfrm>
              <a:off x="3298501" y="2276290"/>
              <a:ext cx="2576562" cy="866775"/>
              <a:chOff x="3121392" y="1753534"/>
              <a:chExt cx="2576562" cy="866775"/>
            </a:xfrm>
          </p:grpSpPr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FA2F28A3-3904-6DE1-A183-E4D638A6DB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5815" y="1753534"/>
                <a:ext cx="847725" cy="866775"/>
              </a:xfrm>
              <a:prstGeom prst="rect">
                <a:avLst/>
              </a:prstGeom>
            </p:spPr>
          </p:pic>
          <p:sp>
            <p:nvSpPr>
              <p:cNvPr id="32" name="Left Brace 14">
                <a:extLst>
                  <a:ext uri="{FF2B5EF4-FFF2-40B4-BE49-F238E27FC236}">
                    <a16:creationId xmlns:a16="http://schemas.microsoft.com/office/drawing/2014/main" id="{03DF9603-E5F8-ACD7-162C-C66A3D84C7F4}"/>
                  </a:ext>
                </a:extLst>
              </p:cNvPr>
              <p:cNvSpPr/>
              <p:nvPr/>
            </p:nvSpPr>
            <p:spPr>
              <a:xfrm>
                <a:off x="3121392" y="1760551"/>
                <a:ext cx="211585" cy="852739"/>
              </a:xfrm>
              <a:prstGeom prst="leftBrace">
                <a:avLst/>
              </a:prstGeom>
              <a:solidFill>
                <a:scrgbClr r="0" g="0" b="0">
                  <a:alpha val="0"/>
                </a:scrgbClr>
              </a:solidFill>
              <a:ln>
                <a:solidFill>
                  <a:srgbClr val="A80163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15">
                <a:extLst>
                  <a:ext uri="{FF2B5EF4-FFF2-40B4-BE49-F238E27FC236}">
                    <a16:creationId xmlns:a16="http://schemas.microsoft.com/office/drawing/2014/main" id="{5D71F54E-941A-9174-CF3C-42D76ADC2C8C}"/>
                  </a:ext>
                </a:extLst>
              </p:cNvPr>
              <p:cNvCxnSpPr/>
              <p:nvPr/>
            </p:nvCxnSpPr>
            <p:spPr>
              <a:xfrm>
                <a:off x="4086754" y="1883708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16">
                <a:extLst>
                  <a:ext uri="{FF2B5EF4-FFF2-40B4-BE49-F238E27FC236}">
                    <a16:creationId xmlns:a16="http://schemas.microsoft.com/office/drawing/2014/main" id="{344215DE-D082-2426-BE17-3ADB7EC8622C}"/>
                  </a:ext>
                </a:extLst>
              </p:cNvPr>
              <p:cNvCxnSpPr/>
              <p:nvPr/>
            </p:nvCxnSpPr>
            <p:spPr>
              <a:xfrm>
                <a:off x="4086754" y="2286544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5" name="Picture 17">
                <a:extLst>
                  <a:ext uri="{FF2B5EF4-FFF2-40B4-BE49-F238E27FC236}">
                    <a16:creationId xmlns:a16="http://schemas.microsoft.com/office/drawing/2014/main" id="{972CF140-5A27-BFAB-EDFB-301FE16EB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208949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36" name="Picture 18">
                <a:extLst>
                  <a:ext uri="{FF2B5EF4-FFF2-40B4-BE49-F238E27FC236}">
                    <a16:creationId xmlns:a16="http://schemas.microsoft.com/office/drawing/2014/main" id="{315CD6CE-2CA9-4652-E1AC-140BF8913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994043"/>
                <a:ext cx="876300" cy="209550"/>
              </a:xfrm>
              <a:prstGeom prst="rect">
                <a:avLst/>
              </a:prstGeom>
            </p:spPr>
          </p:pic>
          <p:cxnSp>
            <p:nvCxnSpPr>
              <p:cNvPr id="37" name="Straight Connector 19">
                <a:extLst>
                  <a:ext uri="{FF2B5EF4-FFF2-40B4-BE49-F238E27FC236}">
                    <a16:creationId xmlns:a16="http://schemas.microsoft.com/office/drawing/2014/main" id="{285F4B50-4272-A841-3030-81D29B0B4ECE}"/>
                  </a:ext>
                </a:extLst>
              </p:cNvPr>
              <p:cNvCxnSpPr/>
              <p:nvPr/>
            </p:nvCxnSpPr>
            <p:spPr>
              <a:xfrm>
                <a:off x="4086754" y="2085126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20">
                <a:extLst>
                  <a:ext uri="{FF2B5EF4-FFF2-40B4-BE49-F238E27FC236}">
                    <a16:creationId xmlns:a16="http://schemas.microsoft.com/office/drawing/2014/main" id="{D73F9E78-6073-1802-2C1E-0EA5533EA0B0}"/>
                  </a:ext>
                </a:extLst>
              </p:cNvPr>
              <p:cNvCxnSpPr/>
              <p:nvPr/>
            </p:nvCxnSpPr>
            <p:spPr>
              <a:xfrm>
                <a:off x="4086754" y="2487963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9" name="Picture 21">
                <a:extLst>
                  <a:ext uri="{FF2B5EF4-FFF2-40B4-BE49-F238E27FC236}">
                    <a16:creationId xmlns:a16="http://schemas.microsoft.com/office/drawing/2014/main" id="{203EFC44-DA66-9FBC-9F68-7A41F5CE4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405010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40" name="Picture 22">
                <a:extLst>
                  <a:ext uri="{FF2B5EF4-FFF2-40B4-BE49-F238E27FC236}">
                    <a16:creationId xmlns:a16="http://schemas.microsoft.com/office/drawing/2014/main" id="{F51194E4-CB72-9D34-4A80-E0F82C65C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778933"/>
                <a:ext cx="876300" cy="209550"/>
              </a:xfrm>
              <a:prstGeom prst="rect">
                <a:avLst/>
              </a:prstGeom>
            </p:spPr>
          </p:pic>
        </p:grpSp>
        <p:cxnSp>
          <p:nvCxnSpPr>
            <p:cNvPr id="30" name="Straight Connector 12">
              <a:extLst>
                <a:ext uri="{FF2B5EF4-FFF2-40B4-BE49-F238E27FC236}">
                  <a16:creationId xmlns:a16="http://schemas.microsoft.com/office/drawing/2014/main" id="{88F5C6DC-8F5A-9D52-04C7-D644DFB1E78F}"/>
                </a:ext>
              </a:extLst>
            </p:cNvPr>
            <p:cNvCxnSpPr>
              <a:endCxn id="32" idx="1"/>
            </p:cNvCxnSpPr>
            <p:nvPr/>
          </p:nvCxnSpPr>
          <p:spPr>
            <a:xfrm flipV="1">
              <a:off x="2336368" y="2709677"/>
              <a:ext cx="962133" cy="408589"/>
            </a:xfrm>
            <a:prstGeom prst="line">
              <a:avLst/>
            </a:prstGeom>
            <a:ln>
              <a:solidFill>
                <a:srgbClr val="A80163"/>
              </a:solidFill>
            </a:ln>
          </p:spPr>
          <p:style>
            <a:lnRef idx="1">
              <a:srgbClr val="A80163"/>
            </a:lnRef>
            <a:fillRef idx="0">
              <a:srgbClr val="A80163"/>
            </a:fillRef>
            <a:effectRef idx="0">
              <a:srgbClr val="A8016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188623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40466-FD7D-F25F-4A23-FBC2796D8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for Model Exchange vs. Co-Simulation (FMI 2.0)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5D7BE8-069F-8595-16D9-3515A3623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Model Exchange (ME)</a:t>
            </a:r>
          </a:p>
          <a:p>
            <a:pPr lvl="1"/>
            <a:r>
              <a:rPr lang="en-US" sz="1600" u="sng" dirty="0"/>
              <a:t>Importing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Very tight integration of model in simulation tool</a:t>
            </a:r>
          </a:p>
          <a:p>
            <a:pPr lvl="1"/>
            <a:r>
              <a:rPr lang="en-US" sz="1600" dirty="0"/>
              <a:t>Complex interface between importing tool and model</a:t>
            </a:r>
          </a:p>
          <a:p>
            <a:pPr lvl="1"/>
            <a:r>
              <a:rPr lang="en-US" sz="1600" dirty="0"/>
              <a:t>Importing tool must provide a suitable solver for the model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e.g. for inclusion of Modelica support in non-Modelica tools (using the solver of the importing tool)</a:t>
            </a:r>
          </a:p>
          <a:p>
            <a:pPr marL="1588" lvl="1" indent="0">
              <a:buNone/>
            </a:pPr>
            <a:endParaRPr lang="en-US" sz="1600" dirty="0"/>
          </a:p>
          <a:p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10E92F1-37BE-ED3B-DD8B-53273929A7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Co-Simulation (CS)</a:t>
            </a:r>
          </a:p>
          <a:p>
            <a:pPr lvl="1"/>
            <a:r>
              <a:rPr lang="en-US" sz="1600" u="sng" dirty="0"/>
              <a:t>Exporting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Tight coupling of model and a suitable solver</a:t>
            </a:r>
          </a:p>
          <a:p>
            <a:pPr lvl="1"/>
            <a:r>
              <a:rPr lang="en-US" sz="1600" dirty="0"/>
              <a:t>Simpler interface between importing tool and model</a:t>
            </a:r>
          </a:p>
          <a:p>
            <a:pPr lvl="1"/>
            <a:r>
              <a:rPr lang="en-US" sz="1600" dirty="0"/>
              <a:t>Freedom in the selection of a co-simulation algorithm and communication timestep  to reach a stable and accurate solution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in most industrial applications</a:t>
            </a:r>
          </a:p>
          <a:p>
            <a:endParaRPr lang="en-US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4C1394F6-97E4-0EFF-BBDB-EFEC468D28F4}"/>
              </a:ext>
            </a:extLst>
          </p:cNvPr>
          <p:cNvGrpSpPr>
            <a:grpSpLocks/>
          </p:cNvGrpSpPr>
          <p:nvPr/>
        </p:nvGrpSpPr>
        <p:grpSpPr bwMode="auto">
          <a:xfrm>
            <a:off x="871439" y="2385233"/>
            <a:ext cx="4080925" cy="776311"/>
            <a:chOff x="3289" y="1842"/>
            <a:chExt cx="2313" cy="440"/>
          </a:xfrm>
        </p:grpSpPr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91F0AE69-14AE-B207-9CC9-AD7ADB5B69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1842"/>
              <a:ext cx="1460" cy="440"/>
              <a:chOff x="497" y="1549"/>
              <a:chExt cx="1460" cy="440"/>
            </a:xfrm>
          </p:grpSpPr>
          <p:grpSp>
            <p:nvGrpSpPr>
              <p:cNvPr id="17" name="Group 6">
                <a:extLst>
                  <a:ext uri="{FF2B5EF4-FFF2-40B4-BE49-F238E27FC236}">
                    <a16:creationId xmlns:a16="http://schemas.microsoft.com/office/drawing/2014/main" id="{B1E1A489-914B-98A5-4945-38033B1BC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1549"/>
                <a:ext cx="1179" cy="440"/>
                <a:chOff x="2267" y="1201"/>
                <a:chExt cx="1179" cy="440"/>
              </a:xfrm>
            </p:grpSpPr>
            <p:sp>
              <p:nvSpPr>
                <p:cNvPr id="22" name="Text Box 7">
                  <a:extLst>
                    <a:ext uri="{FF2B5EF4-FFF2-40B4-BE49-F238E27FC236}">
                      <a16:creationId xmlns:a16="http://schemas.microsoft.com/office/drawing/2014/main" id="{C42EFEF0-FE0E-648E-B470-F7C0C4166C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67" y="1201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23" name="Text Box 8">
                  <a:extLst>
                    <a:ext uri="{FF2B5EF4-FFF2-40B4-BE49-F238E27FC236}">
                      <a16:creationId xmlns:a16="http://schemas.microsoft.com/office/drawing/2014/main" id="{3E059BEF-D435-1B90-B4EB-44C9635501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56" y="1427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24" name="Picture 19" descr="dialogs">
                  <a:extLst>
                    <a:ext uri="{FF2B5EF4-FFF2-40B4-BE49-F238E27FC236}">
                      <a16:creationId xmlns:a16="http://schemas.microsoft.com/office/drawing/2014/main" id="{EB85F49D-85E1-8C32-7DD6-B2F0EB6DBE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41" y="1214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8" name="Group 10">
                <a:extLst>
                  <a:ext uri="{FF2B5EF4-FFF2-40B4-BE49-F238E27FC236}">
                    <a16:creationId xmlns:a16="http://schemas.microsoft.com/office/drawing/2014/main" id="{B0AF4E7F-ECEF-1278-6DA0-8BC245884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1685"/>
                <a:ext cx="275" cy="181"/>
                <a:chOff x="3110" y="3461"/>
                <a:chExt cx="275" cy="181"/>
              </a:xfrm>
            </p:grpSpPr>
            <p:cxnSp>
              <p:nvCxnSpPr>
                <p:cNvPr id="19" name="AutoShape 11">
                  <a:extLst>
                    <a:ext uri="{FF2B5EF4-FFF2-40B4-BE49-F238E27FC236}">
                      <a16:creationId xmlns:a16="http://schemas.microsoft.com/office/drawing/2014/main" id="{A19EE450-4346-D78E-E098-8215CBF1A8AC}"/>
                    </a:ext>
                  </a:extLst>
                </p:cNvPr>
                <p:cNvCxnSpPr>
                  <a:cxnSpLocks noChangeShapeType="1"/>
                  <a:endCxn id="20" idx="2"/>
                </p:cNvCxnSpPr>
                <p:nvPr/>
              </p:nvCxnSpPr>
              <p:spPr bwMode="auto">
                <a:xfrm>
                  <a:off x="3110" y="3551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0" name="Oval 12">
                  <a:extLst>
                    <a:ext uri="{FF2B5EF4-FFF2-40B4-BE49-F238E27FC236}">
                      <a16:creationId xmlns:a16="http://schemas.microsoft.com/office/drawing/2014/main" id="{EBEB3BB5-0ED3-68BF-2A3A-7CB41567C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35" y="348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  <p:sp>
              <p:nvSpPr>
                <p:cNvPr id="21" name="Rectangle 13">
                  <a:extLst>
                    <a:ext uri="{FF2B5EF4-FFF2-40B4-BE49-F238E27FC236}">
                      <a16:creationId xmlns:a16="http://schemas.microsoft.com/office/drawing/2014/main" id="{88624483-04D6-B42E-3AB2-E790D69B99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11" y="3461"/>
                  <a:ext cx="74" cy="18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accent2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02D23E3F-56BC-E656-ADB1-C6F945C558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1842"/>
              <a:ext cx="915" cy="440"/>
              <a:chOff x="3539" y="2316"/>
              <a:chExt cx="915" cy="440"/>
            </a:xfrm>
          </p:grpSpPr>
          <p:grpSp>
            <p:nvGrpSpPr>
              <p:cNvPr id="9" name="Group 15">
                <a:extLst>
                  <a:ext uri="{FF2B5EF4-FFF2-40B4-BE49-F238E27FC236}">
                    <a16:creationId xmlns:a16="http://schemas.microsoft.com/office/drawing/2014/main" id="{FD253E28-DF57-C67B-AB18-35715871B1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2316"/>
                <a:ext cx="639" cy="440"/>
                <a:chOff x="1973" y="3223"/>
                <a:chExt cx="639" cy="440"/>
              </a:xfrm>
            </p:grpSpPr>
            <p:grpSp>
              <p:nvGrpSpPr>
                <p:cNvPr id="13" name="Group 16">
                  <a:extLst>
                    <a:ext uri="{FF2B5EF4-FFF2-40B4-BE49-F238E27FC236}">
                      <a16:creationId xmlns:a16="http://schemas.microsoft.com/office/drawing/2014/main" id="{B2A0F366-4A12-6885-0E65-9D472B6BB5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73" y="3223"/>
                  <a:ext cx="639" cy="440"/>
                  <a:chOff x="3299" y="3361"/>
                  <a:chExt cx="639" cy="440"/>
                </a:xfrm>
              </p:grpSpPr>
              <p:sp>
                <p:nvSpPr>
                  <p:cNvPr id="15" name="Text Box 17">
                    <a:extLst>
                      <a:ext uri="{FF2B5EF4-FFF2-40B4-BE49-F238E27FC236}">
                        <a16:creationId xmlns:a16="http://schemas.microsoft.com/office/drawing/2014/main" id="{BFCFCC8A-2C5F-F66D-B1B1-4AA1A5E3249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99" y="3361"/>
                    <a:ext cx="639" cy="440"/>
                  </a:xfrm>
                  <a:prstGeom prst="rect">
                    <a:avLst/>
                  </a:prstGeom>
                  <a:solidFill>
                    <a:srgbClr val="BDCCD5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778" kern="0" dirty="0">
                        <a:solidFill>
                          <a:srgbClr val="5C7F92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FMU</a:t>
                    </a:r>
                  </a:p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rgbClr val="F9E300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endParaRPr>
                  </a:p>
                </p:txBody>
              </p:sp>
              <p:sp>
                <p:nvSpPr>
                  <p:cNvPr id="16" name="Text Box 18">
                    <a:extLst>
                      <a:ext uri="{FF2B5EF4-FFF2-40B4-BE49-F238E27FC236}">
                        <a16:creationId xmlns:a16="http://schemas.microsoft.com/office/drawing/2014/main" id="{B87A3A01-46B7-33AA-326B-7C29745A37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343" y="3587"/>
                    <a:ext cx="544" cy="169"/>
                  </a:xfrm>
                  <a:prstGeom prst="rect">
                    <a:avLst/>
                  </a:prstGeom>
                  <a:solidFill>
                    <a:srgbClr val="E30916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334" kern="0" dirty="0">
                        <a:solidFill>
                          <a:srgbClr val="FFFFFF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Model</a:t>
                    </a:r>
                  </a:p>
                </p:txBody>
              </p:sp>
            </p:grpSp>
            <p:pic>
              <p:nvPicPr>
                <p:cNvPr id="14" name="Picture 25" descr="exec">
                  <a:extLst>
                    <a:ext uri="{FF2B5EF4-FFF2-40B4-BE49-F238E27FC236}">
                      <a16:creationId xmlns:a16="http://schemas.microsoft.com/office/drawing/2014/main" id="{1D2BCCB5-89D1-7DC1-983F-CAAEF6B4F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1984" y="3246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0" name="Group 20">
                <a:extLst>
                  <a:ext uri="{FF2B5EF4-FFF2-40B4-BE49-F238E27FC236}">
                    <a16:creationId xmlns:a16="http://schemas.microsoft.com/office/drawing/2014/main" id="{5AF6A380-3B06-2376-95F5-1EF8A677D2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2470"/>
                <a:ext cx="268" cy="136"/>
                <a:chOff x="1524" y="3173"/>
                <a:chExt cx="268" cy="136"/>
              </a:xfrm>
            </p:grpSpPr>
            <p:cxnSp>
              <p:nvCxnSpPr>
                <p:cNvPr id="11" name="AutoShape 21">
                  <a:extLst>
                    <a:ext uri="{FF2B5EF4-FFF2-40B4-BE49-F238E27FC236}">
                      <a16:creationId xmlns:a16="http://schemas.microsoft.com/office/drawing/2014/main" id="{D1A4E0D0-D615-2487-68E6-E55374DA1C91}"/>
                    </a:ext>
                  </a:extLst>
                </p:cNvPr>
                <p:cNvCxnSpPr>
                  <a:cxnSpLocks noChangeShapeType="1"/>
                  <a:stCxn id="12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2" name="Oval 22">
                  <a:extLst>
                    <a:ext uri="{FF2B5EF4-FFF2-40B4-BE49-F238E27FC236}">
                      <a16:creationId xmlns:a16="http://schemas.microsoft.com/office/drawing/2014/main" id="{75F1E963-D134-77F0-6FEB-7119C362F6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25" name="Group 23">
            <a:extLst>
              <a:ext uri="{FF2B5EF4-FFF2-40B4-BE49-F238E27FC236}">
                <a16:creationId xmlns:a16="http://schemas.microsoft.com/office/drawing/2014/main" id="{46C3DBDB-FDC6-2766-A525-A458D08CA5C7}"/>
              </a:ext>
            </a:extLst>
          </p:cNvPr>
          <p:cNvGrpSpPr>
            <a:grpSpLocks/>
          </p:cNvGrpSpPr>
          <p:nvPr/>
        </p:nvGrpSpPr>
        <p:grpSpPr bwMode="auto">
          <a:xfrm>
            <a:off x="6431646" y="2385233"/>
            <a:ext cx="4080925" cy="1187402"/>
            <a:chOff x="3289" y="3385"/>
            <a:chExt cx="2313" cy="673"/>
          </a:xfrm>
        </p:grpSpPr>
        <p:grpSp>
          <p:nvGrpSpPr>
            <p:cNvPr id="26" name="Group 24">
              <a:extLst>
                <a:ext uri="{FF2B5EF4-FFF2-40B4-BE49-F238E27FC236}">
                  <a16:creationId xmlns:a16="http://schemas.microsoft.com/office/drawing/2014/main" id="{A96BC7F3-2A07-A198-D5D8-908E997B5A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3501"/>
              <a:ext cx="1460" cy="440"/>
              <a:chOff x="497" y="2066"/>
              <a:chExt cx="1460" cy="440"/>
            </a:xfrm>
          </p:grpSpPr>
          <p:grpSp>
            <p:nvGrpSpPr>
              <p:cNvPr id="36" name="Group 25">
                <a:extLst>
                  <a:ext uri="{FF2B5EF4-FFF2-40B4-BE49-F238E27FC236}">
                    <a16:creationId xmlns:a16="http://schemas.microsoft.com/office/drawing/2014/main" id="{3364999D-56B5-34C2-BDAA-511AA897A5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2066"/>
                <a:ext cx="1179" cy="440"/>
                <a:chOff x="3389" y="1669"/>
                <a:chExt cx="1179" cy="440"/>
              </a:xfrm>
            </p:grpSpPr>
            <p:sp>
              <p:nvSpPr>
                <p:cNvPr id="42" name="Text Box 26">
                  <a:extLst>
                    <a:ext uri="{FF2B5EF4-FFF2-40B4-BE49-F238E27FC236}">
                      <a16:creationId xmlns:a16="http://schemas.microsoft.com/office/drawing/2014/main" id="{29812332-699D-5E1A-B0F4-7AC0B33904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389" y="1669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pic>
              <p:nvPicPr>
                <p:cNvPr id="43" name="Picture 19" descr="dialogs">
                  <a:extLst>
                    <a:ext uri="{FF2B5EF4-FFF2-40B4-BE49-F238E27FC236}">
                      <a16:creationId xmlns:a16="http://schemas.microsoft.com/office/drawing/2014/main" id="{35378EFD-CE41-4983-2CDF-09D6114DD5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463" y="1682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7" name="Group 28">
                <a:extLst>
                  <a:ext uri="{FF2B5EF4-FFF2-40B4-BE49-F238E27FC236}">
                    <a16:creationId xmlns:a16="http://schemas.microsoft.com/office/drawing/2014/main" id="{1EC654A4-0EE8-DBCA-38B3-DB8C567FA4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2195"/>
                <a:ext cx="275" cy="181"/>
                <a:chOff x="1310" y="3150"/>
                <a:chExt cx="275" cy="181"/>
              </a:xfrm>
            </p:grpSpPr>
            <p:cxnSp>
              <p:nvCxnSpPr>
                <p:cNvPr id="38" name="AutoShape 29">
                  <a:extLst>
                    <a:ext uri="{FF2B5EF4-FFF2-40B4-BE49-F238E27FC236}">
                      <a16:creationId xmlns:a16="http://schemas.microsoft.com/office/drawing/2014/main" id="{7D7E3454-1B28-A88E-82C2-8114D90C20AD}"/>
                    </a:ext>
                  </a:extLst>
                </p:cNvPr>
                <p:cNvCxnSpPr>
                  <a:cxnSpLocks noChangeShapeType="1"/>
                  <a:endCxn id="40" idx="2"/>
                </p:cNvCxnSpPr>
                <p:nvPr/>
              </p:nvCxnSpPr>
              <p:spPr bwMode="auto">
                <a:xfrm>
                  <a:off x="1310" y="3240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grpSp>
              <p:nvGrpSpPr>
                <p:cNvPr id="39" name="Group 30">
                  <a:extLst>
                    <a:ext uri="{FF2B5EF4-FFF2-40B4-BE49-F238E27FC236}">
                      <a16:creationId xmlns:a16="http://schemas.microsoft.com/office/drawing/2014/main" id="{6A1F22FD-266B-3615-9E56-2F7821B4B5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5" y="3150"/>
                  <a:ext cx="150" cy="181"/>
                  <a:chOff x="3407" y="2944"/>
                  <a:chExt cx="150" cy="181"/>
                </a:xfrm>
              </p:grpSpPr>
              <p:sp>
                <p:nvSpPr>
                  <p:cNvPr id="40" name="Oval 31">
                    <a:extLst>
                      <a:ext uri="{FF2B5EF4-FFF2-40B4-BE49-F238E27FC236}">
                        <a16:creationId xmlns:a16="http://schemas.microsoft.com/office/drawing/2014/main" id="{64DD9B46-1EB3-726D-91B7-6658C49B466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07" y="2966"/>
                    <a:ext cx="136" cy="136"/>
                  </a:xfrm>
                  <a:prstGeom prst="ellipse">
                    <a:avLst/>
                  </a:prstGeom>
                  <a:noFill/>
                  <a:ln w="28575">
                    <a:solidFill>
                      <a:srgbClr val="F84E5A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  <p:sp>
                <p:nvSpPr>
                  <p:cNvPr id="41" name="Rectangle 32">
                    <a:extLst>
                      <a:ext uri="{FF2B5EF4-FFF2-40B4-BE49-F238E27FC236}">
                        <a16:creationId xmlns:a16="http://schemas.microsoft.com/office/drawing/2014/main" id="{587EA4EC-535F-48F5-CC2F-0F25E01FC82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83" y="2944"/>
                    <a:ext cx="74" cy="181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27" name="Group 33">
              <a:extLst>
                <a:ext uri="{FF2B5EF4-FFF2-40B4-BE49-F238E27FC236}">
                  <a16:creationId xmlns:a16="http://schemas.microsoft.com/office/drawing/2014/main" id="{4361C4EA-1BAF-3651-BAC8-6CA5969DC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3385"/>
              <a:ext cx="915" cy="673"/>
              <a:chOff x="3539" y="1559"/>
              <a:chExt cx="915" cy="673"/>
            </a:xfrm>
          </p:grpSpPr>
          <p:grpSp>
            <p:nvGrpSpPr>
              <p:cNvPr id="28" name="Group 34">
                <a:extLst>
                  <a:ext uri="{FF2B5EF4-FFF2-40B4-BE49-F238E27FC236}">
                    <a16:creationId xmlns:a16="http://schemas.microsoft.com/office/drawing/2014/main" id="{AF7B1A22-4EDF-9C5B-26C9-CA515D1755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1559"/>
                <a:ext cx="639" cy="673"/>
                <a:chOff x="3557" y="2755"/>
                <a:chExt cx="639" cy="673"/>
              </a:xfrm>
            </p:grpSpPr>
            <p:sp>
              <p:nvSpPr>
                <p:cNvPr id="32" name="Text Box 35">
                  <a:extLst>
                    <a:ext uri="{FF2B5EF4-FFF2-40B4-BE49-F238E27FC236}">
                      <a16:creationId xmlns:a16="http://schemas.microsoft.com/office/drawing/2014/main" id="{2BF7AE1C-F635-46B6-6368-E412CA8ED7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7" y="2755"/>
                  <a:ext cx="639" cy="673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FMU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5C7F92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33" name="Text Box 36">
                  <a:extLst>
                    <a:ext uri="{FF2B5EF4-FFF2-40B4-BE49-F238E27FC236}">
                      <a16:creationId xmlns:a16="http://schemas.microsoft.com/office/drawing/2014/main" id="{1787A318-17A2-4D5F-B0D0-698965F52BD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2981"/>
                  <a:ext cx="544" cy="169"/>
                </a:xfrm>
                <a:prstGeom prst="rect">
                  <a:avLst/>
                </a:prstGeom>
                <a:solidFill>
                  <a:srgbClr val="E30916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Model</a:t>
                  </a:r>
                </a:p>
              </p:txBody>
            </p:sp>
            <p:sp>
              <p:nvSpPr>
                <p:cNvPr id="34" name="Text Box 37">
                  <a:extLst>
                    <a:ext uri="{FF2B5EF4-FFF2-40B4-BE49-F238E27FC236}">
                      <a16:creationId xmlns:a16="http://schemas.microsoft.com/office/drawing/2014/main" id="{BF12690D-CDB1-A25C-08FF-94056F365A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3173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35" name="Picture 25" descr="exec">
                  <a:extLst>
                    <a:ext uri="{FF2B5EF4-FFF2-40B4-BE49-F238E27FC236}">
                      <a16:creationId xmlns:a16="http://schemas.microsoft.com/office/drawing/2014/main" id="{3C8F32FD-2CEB-6BBC-9E72-22F1106764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3562" y="2778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29" name="Group 39">
                <a:extLst>
                  <a:ext uri="{FF2B5EF4-FFF2-40B4-BE49-F238E27FC236}">
                    <a16:creationId xmlns:a16="http://schemas.microsoft.com/office/drawing/2014/main" id="{356C6916-8795-F5DC-E0B0-12725FC166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1826"/>
                <a:ext cx="268" cy="136"/>
                <a:chOff x="1524" y="3173"/>
                <a:chExt cx="268" cy="136"/>
              </a:xfrm>
            </p:grpSpPr>
            <p:cxnSp>
              <p:nvCxnSpPr>
                <p:cNvPr id="30" name="AutoShape 40">
                  <a:extLst>
                    <a:ext uri="{FF2B5EF4-FFF2-40B4-BE49-F238E27FC236}">
                      <a16:creationId xmlns:a16="http://schemas.microsoft.com/office/drawing/2014/main" id="{33F2AF19-2CCA-1071-04FD-0D84F63CB579}"/>
                    </a:ext>
                  </a:extLst>
                </p:cNvPr>
                <p:cNvCxnSpPr>
                  <a:cxnSpLocks noChangeShapeType="1"/>
                  <a:stCxn id="31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1" name="Oval 41">
                  <a:extLst>
                    <a:ext uri="{FF2B5EF4-FFF2-40B4-BE49-F238E27FC236}">
                      <a16:creationId xmlns:a16="http://schemas.microsoft.com/office/drawing/2014/main" id="{6E9F1B78-D0AB-4530-2D1E-F6B850BA9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9133292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Communication timestep can be different from internal steps (e.g. Variable step solver)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Calling sequence CS</a:t>
            </a:r>
          </a:p>
          <a:p>
            <a:pPr marL="608013" lvl="1" indent="-342900"/>
            <a:r>
              <a:rPr lang="en-US" dirty="0"/>
              <a:t>Set inputs: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fmi2SetXXX(...)</a:t>
            </a:r>
          </a:p>
          <a:p>
            <a:pPr lvl="2"/>
            <a:r>
              <a:rPr lang="en-US" dirty="0"/>
              <a:t>Trigger calculation until next communication point: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fmi2doStep(...)</a:t>
            </a:r>
          </a:p>
          <a:p>
            <a:pPr lvl="2"/>
            <a:r>
              <a:rPr lang="en-US" dirty="0"/>
              <a:t>Get outputs: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fmi2GetXXX(...)</a:t>
            </a:r>
            <a:endParaRPr lang="en-US" dirty="0"/>
          </a:p>
          <a:p>
            <a:r>
              <a:rPr lang="en-US" dirty="0"/>
              <a:t>For an implementation in C, see e.g. </a:t>
            </a:r>
            <a:r>
              <a:rPr lang="en-US" dirty="0" err="1"/>
              <a:t>fmusim</a:t>
            </a:r>
            <a:r>
              <a:rPr lang="en-US" dirty="0"/>
              <a:t> in the Reference FMUs: </a:t>
            </a:r>
            <a:br>
              <a:rPr lang="en-US" dirty="0"/>
            </a:br>
            <a:r>
              <a:rPr lang="en-US" dirty="0">
                <a:hlinkClick r:id="rId2"/>
              </a:rPr>
              <a:t>https://github.com/modelica/Reference-FMUs/blob/main/fmusim/fmusim_fmi2_cs.c</a:t>
            </a:r>
            <a:r>
              <a:rPr lang="en-US" dirty="0"/>
              <a:t> </a:t>
            </a:r>
          </a:p>
          <a:p>
            <a:r>
              <a:rPr lang="en-US" dirty="0"/>
              <a:t>You can view the calling sequence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fmusim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--log-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-calls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co-simulation algorithm is not part of the FMI standard.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triggering of input clocks, and handling events.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Internally the FMU can have different timesteps (e.g. a variable step solver)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22067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the ME interface exposes the </a:t>
            </a:r>
            <a:r>
              <a:rPr lang="en-US" b="1" dirty="0"/>
              <a:t>right hand side </a:t>
            </a:r>
            <a:r>
              <a:rPr lang="en-US" dirty="0"/>
              <a:t>(RHS)</a:t>
            </a:r>
            <a:br>
              <a:rPr lang="en-US" dirty="0"/>
            </a:br>
            <a:r>
              <a:rPr lang="en-US" dirty="0"/>
              <a:t>of a </a:t>
            </a:r>
            <a:r>
              <a:rPr lang="en-US" b="1" dirty="0"/>
              <a:t>hybrid ODE </a:t>
            </a:r>
            <a:r>
              <a:rPr lang="en-US" dirty="0"/>
              <a:t> to the external solver.</a:t>
            </a:r>
          </a:p>
          <a:p>
            <a:pPr marL="608013" lvl="1" indent="-342900"/>
            <a:endParaRPr lang="de-DE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importer controls the data exchange </a:t>
            </a:r>
            <a:r>
              <a:rPr lang="en-US" dirty="0"/>
              <a:t>and the synchronization between FMUs.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The solver algorithm itself is not part of the FMI standard</a:t>
            </a:r>
            <a:r>
              <a:rPr lang="en-US" dirty="0"/>
              <a:t>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computation of continuous state variables by time integration,</a:t>
            </a:r>
          </a:p>
          <a:p>
            <a:pPr marL="608013" lvl="1" indent="-342900"/>
            <a:r>
              <a:rPr lang="en-US" dirty="0"/>
              <a:t>triggering of input clocks, and</a:t>
            </a:r>
          </a:p>
          <a:p>
            <a:pPr marL="608013" lvl="1" indent="-342900"/>
            <a:r>
              <a:rPr lang="en-US" dirty="0"/>
              <a:t>handling events.</a:t>
            </a:r>
          </a:p>
          <a:p>
            <a:pPr marL="608013" lvl="1" indent="-342900"/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Exchange (ME)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053673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E4C2F8-21FF-F325-51D3-3D0FCC3E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E8EC630-EDB2-2DE1-C042-E26D7B4D3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multiple FMUs</a:t>
            </a:r>
          </a:p>
        </p:txBody>
      </p:sp>
      <p:sp>
        <p:nvSpPr>
          <p:cNvPr id="4" name="Rechteck 44">
            <a:extLst>
              <a:ext uri="{FF2B5EF4-FFF2-40B4-BE49-F238E27FC236}">
                <a16:creationId xmlns:a16="http://schemas.microsoft.com/office/drawing/2014/main" id="{2E3B454A-D4A3-5E4E-24B2-E2D48FCB71D0}"/>
              </a:ext>
            </a:extLst>
          </p:cNvPr>
          <p:cNvSpPr>
            <a:spLocks/>
          </p:cNvSpPr>
          <p:nvPr/>
        </p:nvSpPr>
        <p:spPr>
          <a:xfrm>
            <a:off x="4634042" y="4582784"/>
            <a:ext cx="3129437" cy="113398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Numerical Solver (ME)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Co-Simulation Algorithm (CS) </a:t>
            </a:r>
          </a:p>
          <a:p>
            <a:pPr algn="ctr"/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 </a:t>
            </a:r>
          </a:p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Scheduler (SE, FMI 3.0)</a:t>
            </a:r>
          </a:p>
        </p:txBody>
      </p:sp>
      <p:sp>
        <p:nvSpPr>
          <p:cNvPr id="5" name="Textfeld 46">
            <a:extLst>
              <a:ext uri="{FF2B5EF4-FFF2-40B4-BE49-F238E27FC236}">
                <a16:creationId xmlns:a16="http://schemas.microsoft.com/office/drawing/2014/main" id="{17404DA9-F35D-41E7-9050-952B2ED42A1D}"/>
              </a:ext>
            </a:extLst>
          </p:cNvPr>
          <p:cNvSpPr txBox="1">
            <a:spLocks/>
          </p:cNvSpPr>
          <p:nvPr/>
        </p:nvSpPr>
        <p:spPr>
          <a:xfrm>
            <a:off x="2388681" y="5819940"/>
            <a:ext cx="7414638" cy="37054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2000" b="1" i="1" dirty="0">
                <a:solidFill>
                  <a:srgbClr val="0070C0"/>
                </a:solidFill>
              </a:rPr>
              <a:t>Not defined by FMI Standard, but by the importing tool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0D7A0B4-DF7C-8137-6B1F-E4A85FD00FB3}"/>
              </a:ext>
            </a:extLst>
          </p:cNvPr>
          <p:cNvSpPr/>
          <p:nvPr/>
        </p:nvSpPr>
        <p:spPr>
          <a:xfrm>
            <a:off x="2719133" y="3452320"/>
            <a:ext cx="6674266" cy="273465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Functional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Mock-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up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Interface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7" name="Up-Down Arrow 7">
            <a:extLst>
              <a:ext uri="{FF2B5EF4-FFF2-40B4-BE49-F238E27FC236}">
                <a16:creationId xmlns:a16="http://schemas.microsoft.com/office/drawing/2014/main" id="{CF86E632-E605-EF59-2CF6-7AA710F4746D}"/>
              </a:ext>
            </a:extLst>
          </p:cNvPr>
          <p:cNvSpPr/>
          <p:nvPr/>
        </p:nvSpPr>
        <p:spPr>
          <a:xfrm>
            <a:off x="3231417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8" name="Up-Down Arrow 54">
            <a:extLst>
              <a:ext uri="{FF2B5EF4-FFF2-40B4-BE49-F238E27FC236}">
                <a16:creationId xmlns:a16="http://schemas.microsoft.com/office/drawing/2014/main" id="{5A0E749B-C805-69D1-8B1A-E7A9AA6DA3E4}"/>
              </a:ext>
            </a:extLst>
          </p:cNvPr>
          <p:cNvSpPr/>
          <p:nvPr/>
        </p:nvSpPr>
        <p:spPr>
          <a:xfrm>
            <a:off x="481652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Up-Down Arrow 55">
            <a:extLst>
              <a:ext uri="{FF2B5EF4-FFF2-40B4-BE49-F238E27FC236}">
                <a16:creationId xmlns:a16="http://schemas.microsoft.com/office/drawing/2014/main" id="{116833E2-7DC4-4CD4-8DC8-41D71068FD66}"/>
              </a:ext>
            </a:extLst>
          </p:cNvPr>
          <p:cNvSpPr/>
          <p:nvPr/>
        </p:nvSpPr>
        <p:spPr>
          <a:xfrm>
            <a:off x="6401623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0" name="Up-Down Arrow 56">
            <a:extLst>
              <a:ext uri="{FF2B5EF4-FFF2-40B4-BE49-F238E27FC236}">
                <a16:creationId xmlns:a16="http://schemas.microsoft.com/office/drawing/2014/main" id="{F6D20D6F-F165-AF7A-C398-7B91173AEE76}"/>
              </a:ext>
            </a:extLst>
          </p:cNvPr>
          <p:cNvSpPr/>
          <p:nvPr/>
        </p:nvSpPr>
        <p:spPr>
          <a:xfrm>
            <a:off x="5667718" y="3819747"/>
            <a:ext cx="444868" cy="687903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1" name="Up-Down Arrow 58">
            <a:extLst>
              <a:ext uri="{FF2B5EF4-FFF2-40B4-BE49-F238E27FC236}">
                <a16:creationId xmlns:a16="http://schemas.microsoft.com/office/drawing/2014/main" id="{5C6E94C4-6E56-4CB3-337B-6931D1ADF58C}"/>
              </a:ext>
            </a:extLst>
          </p:cNvPr>
          <p:cNvSpPr/>
          <p:nvPr/>
        </p:nvSpPr>
        <p:spPr>
          <a:xfrm>
            <a:off x="861057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D1ADD074-27DA-D5A4-0A04-322DF6CA4161}"/>
              </a:ext>
            </a:extLst>
          </p:cNvPr>
          <p:cNvSpPr txBox="1"/>
          <p:nvPr/>
        </p:nvSpPr>
        <p:spPr>
          <a:xfrm>
            <a:off x="1556619" y="1771525"/>
            <a:ext cx="2204130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Exported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by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     Tool 1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TextBox 59">
            <a:extLst>
              <a:ext uri="{FF2B5EF4-FFF2-40B4-BE49-F238E27FC236}">
                <a16:creationId xmlns:a16="http://schemas.microsoft.com/office/drawing/2014/main" id="{8A640C71-B11C-56F8-B2C4-D989D2C2DB47}"/>
              </a:ext>
            </a:extLst>
          </p:cNvPr>
          <p:cNvSpPr txBox="1"/>
          <p:nvPr/>
        </p:nvSpPr>
        <p:spPr>
          <a:xfrm>
            <a:off x="4683810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2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" name="TextBox 60">
            <a:extLst>
              <a:ext uri="{FF2B5EF4-FFF2-40B4-BE49-F238E27FC236}">
                <a16:creationId xmlns:a16="http://schemas.microsoft.com/office/drawing/2014/main" id="{DD5DA7CB-4868-1ED3-BF88-C5F2575915C9}"/>
              </a:ext>
            </a:extLst>
          </p:cNvPr>
          <p:cNvSpPr txBox="1"/>
          <p:nvPr/>
        </p:nvSpPr>
        <p:spPr>
          <a:xfrm>
            <a:off x="6268913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3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7A8E99F4-C888-28B8-549B-84E8F9A78E96}"/>
              </a:ext>
            </a:extLst>
          </p:cNvPr>
          <p:cNvSpPr txBox="1"/>
          <p:nvPr/>
        </p:nvSpPr>
        <p:spPr>
          <a:xfrm>
            <a:off x="8477861" y="1772948"/>
            <a:ext cx="61555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n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91111-B1B4-F8C4-C7EA-925AAD971256}"/>
              </a:ext>
            </a:extLst>
          </p:cNvPr>
          <p:cNvSpPr txBox="1"/>
          <p:nvPr/>
        </p:nvSpPr>
        <p:spPr>
          <a:xfrm>
            <a:off x="7587626" y="2524639"/>
            <a:ext cx="175854" cy="294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…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B67EB551-DA56-0DC3-1967-B02DCA9127DF}"/>
              </a:ext>
            </a:extLst>
          </p:cNvPr>
          <p:cNvSpPr/>
          <p:nvPr/>
        </p:nvSpPr>
        <p:spPr>
          <a:xfrm>
            <a:off x="2881148" y="2055233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882C4292-D4C0-4499-700F-4FA79BF45384}"/>
              </a:ext>
            </a:extLst>
          </p:cNvPr>
          <p:cNvSpPr/>
          <p:nvPr/>
        </p:nvSpPr>
        <p:spPr>
          <a:xfrm>
            <a:off x="4473322" y="2053885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8DF5F86B-C19F-4F14-06B3-3458DFA4EFD4}"/>
              </a:ext>
            </a:extLst>
          </p:cNvPr>
          <p:cNvSpPr/>
          <p:nvPr/>
        </p:nvSpPr>
        <p:spPr>
          <a:xfrm>
            <a:off x="6047205" y="2062644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20" name="Rectangle 26">
            <a:extLst>
              <a:ext uri="{FF2B5EF4-FFF2-40B4-BE49-F238E27FC236}">
                <a16:creationId xmlns:a16="http://schemas.microsoft.com/office/drawing/2014/main" id="{35296F09-7937-7F5C-9F9F-F991786E70DC}"/>
              </a:ext>
            </a:extLst>
          </p:cNvPr>
          <p:cNvSpPr/>
          <p:nvPr/>
        </p:nvSpPr>
        <p:spPr>
          <a:xfrm>
            <a:off x="8209104" y="2076130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</p:spTree>
    <p:extLst>
      <p:ext uri="{BB962C8B-B14F-4D97-AF65-F5344CB8AC3E}">
        <p14:creationId xmlns:p14="http://schemas.microsoft.com/office/powerpoint/2010/main" val="2859522324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5E9C-57B4-4214-A3DA-AB97CA75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modelDescription.xml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7A3BA-1C31-C1F3-6726-64589EFB4E3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contains all static information about the FMU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Definition of </a:t>
            </a:r>
            <a:r>
              <a:rPr lang="en-US" b="1" dirty="0"/>
              <a:t>supported interface kinds </a:t>
            </a:r>
            <a:r>
              <a:rPr lang="en-US" dirty="0"/>
              <a:t>(ME, CS, SE)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Model variables</a:t>
            </a:r>
          </a:p>
          <a:p>
            <a:pPr lvl="2"/>
            <a:r>
              <a:rPr lang="en-US" dirty="0"/>
              <a:t>Inputs, outputs, parameters</a:t>
            </a:r>
          </a:p>
          <a:p>
            <a:pPr lvl="1"/>
            <a:r>
              <a:rPr lang="en-US" dirty="0"/>
              <a:t>Certain information on the </a:t>
            </a:r>
            <a:r>
              <a:rPr lang="en-US" b="1" dirty="0"/>
              <a:t>model structure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Example: </a:t>
            </a:r>
            <a:r>
              <a:rPr lang="en-US" dirty="0">
                <a:hlinkClick r:id="rId2"/>
              </a:rPr>
              <a:t>https://github.com/modelica/Reference-FMUs/blob/main/BouncingBall/FMI2.xml</a:t>
            </a:r>
            <a:r>
              <a:rPr lang="en-US" dirty="0"/>
              <a:t>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r>
              <a:rPr lang="en-US" dirty="0"/>
              <a:t>Attributes and capability flags, such as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needsExecutionTool</a:t>
            </a:r>
            <a:r>
              <a:rPr lang="en-US" dirty="0"/>
              <a:t>”</a:t>
            </a:r>
          </a:p>
          <a:p>
            <a:pPr lvl="2"/>
            <a:r>
              <a:rPr lang="en-US" dirty="0"/>
              <a:t>…</a:t>
            </a:r>
          </a:p>
          <a:p>
            <a:pPr marL="1588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18E85-1420-F298-B61A-C2F2E4AD86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95"/>
          <a:stretch/>
        </p:blipFill>
        <p:spPr>
          <a:xfrm>
            <a:off x="8316686" y="871310"/>
            <a:ext cx="3548743" cy="2976359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65C62466-74C4-9EF5-19BA-18AFE851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0878"/>
            <a:ext cx="21352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012890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AFBD6E-D1A8-9305-7CBB-892BB52D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for Co-simulation Tool Wrapper Variant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BE3D47-9EF2-DC0D-06B5-EA79BF0D7B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kern="0" dirty="0"/>
              <a:t>Co-simulation stand-alone FMU</a:t>
            </a:r>
          </a:p>
          <a:p>
            <a:pPr lvl="1"/>
            <a:r>
              <a:rPr lang="en-US" kern="0" dirty="0"/>
              <a:t>self-contained FMU</a:t>
            </a:r>
          </a:p>
          <a:p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742CCD1-98B7-A702-292D-4DD2B1748E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kern="0" dirty="0"/>
              <a:t>Co-simulation FMI Tool Wrapper</a:t>
            </a:r>
          </a:p>
          <a:p>
            <a:pPr lvl="1"/>
            <a:r>
              <a:rPr lang="en-US" kern="0" dirty="0"/>
              <a:t>FMU dependent on an existing tool installation</a:t>
            </a:r>
          </a:p>
          <a:p>
            <a:endParaRPr lang="en-US" dirty="0"/>
          </a:p>
        </p:txBody>
      </p:sp>
      <p:pic>
        <p:nvPicPr>
          <p:cNvPr id="130" name="Grafik 129">
            <a:extLst>
              <a:ext uri="{FF2B5EF4-FFF2-40B4-BE49-F238E27FC236}">
                <a16:creationId xmlns:a16="http://schemas.microsoft.com/office/drawing/2014/main" id="{2F4C335D-BA2E-151E-B9B6-42243BFB4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357" y="3218517"/>
            <a:ext cx="5861867" cy="1805428"/>
          </a:xfrm>
          <a:prstGeom prst="rect">
            <a:avLst/>
          </a:prstGeom>
        </p:spPr>
      </p:pic>
      <p:pic>
        <p:nvPicPr>
          <p:cNvPr id="154" name="Grafik 153">
            <a:extLst>
              <a:ext uri="{FF2B5EF4-FFF2-40B4-BE49-F238E27FC236}">
                <a16:creationId xmlns:a16="http://schemas.microsoft.com/office/drawing/2014/main" id="{3214E768-5EC4-74E2-DE99-B97E8C63E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5" y="3219555"/>
            <a:ext cx="4142179" cy="1699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592906-24A6-596B-08F3-BE8B09913774}"/>
              </a:ext>
            </a:extLst>
          </p:cNvPr>
          <p:cNvSpPr txBox="1"/>
          <p:nvPr/>
        </p:nvSpPr>
        <p:spPr>
          <a:xfrm>
            <a:off x="7609114" y="536393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Attribute: “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needsExecutionTool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” </a:t>
            </a:r>
          </a:p>
        </p:txBody>
      </p:sp>
    </p:spTree>
    <p:extLst>
      <p:ext uri="{BB962C8B-B14F-4D97-AF65-F5344CB8AC3E}">
        <p14:creationId xmlns:p14="http://schemas.microsoft.com/office/powerpoint/2010/main" val="63707277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: FMI supported by &gt;= 250 Tools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Exporting tools</a:t>
            </a:r>
          </a:p>
          <a:p>
            <a:pPr marL="608013" lvl="1" indent="-342900"/>
            <a:r>
              <a:rPr lang="en-US" dirty="0"/>
              <a:t>Modeling  and simulation tools</a:t>
            </a:r>
          </a:p>
          <a:p>
            <a:pPr marL="608013" lvl="1" indent="-342900"/>
            <a:r>
              <a:rPr lang="en-US" dirty="0"/>
              <a:t>Model-based software creation</a:t>
            </a:r>
          </a:p>
          <a:p>
            <a:pPr marL="608013" lvl="1" indent="-342900"/>
            <a:r>
              <a:rPr lang="en-US" dirty="0"/>
              <a:t>Wrapping of algorithms, virtual ECUs</a:t>
            </a:r>
          </a:p>
          <a:p>
            <a:pPr marL="608013" lvl="1" indent="-342900"/>
            <a:r>
              <a:rPr lang="en-US" dirty="0"/>
              <a:t>…</a:t>
            </a: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Importing tools</a:t>
            </a:r>
          </a:p>
          <a:p>
            <a:pPr marL="608013" lvl="1" indent="-342900"/>
            <a:r>
              <a:rPr lang="en-US" dirty="0"/>
              <a:t>Modeling and simulation tools</a:t>
            </a:r>
          </a:p>
          <a:p>
            <a:pPr marL="608013" lvl="1" indent="-342900"/>
            <a:r>
              <a:rPr lang="en-US" dirty="0"/>
              <a:t>Co-simulation tools and integration platforms</a:t>
            </a:r>
          </a:p>
          <a:p>
            <a:pPr marL="608013" lvl="1" indent="-342900"/>
            <a:r>
              <a:rPr lang="en-US" dirty="0"/>
              <a:t>Implementations for programming and scripting languages</a:t>
            </a:r>
          </a:p>
          <a:p>
            <a:pPr marL="608013" lvl="1" indent="-342900"/>
            <a:r>
              <a:rPr lang="en-US" dirty="0"/>
              <a:t>….</a:t>
            </a:r>
          </a:p>
          <a:p>
            <a:pPr marL="342900" indent="-342900"/>
            <a:r>
              <a:rPr lang="en-US" dirty="0"/>
              <a:t>	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 Tool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44212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EF82087-59ED-D5A5-3319-F99284C83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Replaces the cross-check that helped to improve </a:t>
            </a:r>
            <a:br>
              <a:rPr lang="en-US" dirty="0"/>
            </a:br>
            <a:r>
              <a:rPr lang="en-US" dirty="0"/>
              <a:t>he maturity of FMI 1.0 and 2.0 supporting tools.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Information on </a:t>
            </a:r>
            <a:r>
              <a:rPr lang="en-US" dirty="0" err="1"/>
              <a:t>on</a:t>
            </a:r>
            <a:r>
              <a:rPr lang="en-US" dirty="0"/>
              <a:t> how FMI export and import have been tested</a:t>
            </a:r>
            <a:br>
              <a:rPr lang="en-US" dirty="0"/>
            </a:br>
            <a:r>
              <a:rPr lang="en-US" dirty="0"/>
              <a:t>provided by the tool vendors and linked in the </a:t>
            </a:r>
            <a:r>
              <a:rPr lang="en-US" dirty="0">
                <a:hlinkClick r:id="rId2"/>
              </a:rPr>
              <a:t>tools list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Tools providing compatibility information are marked with </a:t>
            </a:r>
            <a:br>
              <a:rPr lang="en-US" dirty="0"/>
            </a:br>
            <a:r>
              <a:rPr lang="en-US" dirty="0"/>
              <a:t>a golden star and listed on top of the tools list </a:t>
            </a:r>
            <a:br>
              <a:rPr lang="en-US" dirty="0"/>
            </a:br>
            <a:r>
              <a:rPr lang="en-US" dirty="0">
                <a:hlinkClick r:id="rId3"/>
              </a:rPr>
              <a:t>https://fmi-standard.org/tools/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Four FMU checkers provided on </a:t>
            </a:r>
            <a:r>
              <a:rPr lang="en-US" dirty="0">
                <a:hlinkClick r:id="rId4"/>
              </a:rPr>
              <a:t>https://fmi-standard.org/validation/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>
                <a:hlinkClick r:id="rId5"/>
              </a:rPr>
              <a:t>FMU Check </a:t>
            </a:r>
            <a:r>
              <a:rPr lang="en-US" dirty="0"/>
              <a:t>(static check, web-based, based on fmpy)</a:t>
            </a:r>
          </a:p>
          <a:p>
            <a:pPr marL="608013" lvl="1" indent="-342900"/>
            <a:r>
              <a:rPr lang="en-US" dirty="0">
                <a:hlinkClick r:id="rId6"/>
              </a:rPr>
              <a:t>fmpy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 err="1"/>
              <a:t>fmusim</a:t>
            </a:r>
            <a:r>
              <a:rPr lang="en-US" dirty="0"/>
              <a:t> from the Reference </a:t>
            </a:r>
            <a:r>
              <a:rPr lang="en-US" dirty="0">
                <a:hlinkClick r:id="rId7"/>
              </a:rPr>
              <a:t>FMUs</a:t>
            </a:r>
            <a:endParaRPr lang="en-US" dirty="0"/>
          </a:p>
          <a:p>
            <a:pPr marL="608013" lvl="1" indent="-342900"/>
            <a:r>
              <a:rPr lang="en-US" dirty="0">
                <a:hlinkClick r:id="rId8"/>
              </a:rPr>
              <a:t>FMI-VDM-Model </a:t>
            </a:r>
            <a:r>
              <a:rPr lang="en-US" dirty="0"/>
              <a:t>Checker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0E8ECB6-0EC5-34DA-113C-EF22EEC12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Compatibility Information and validation </a:t>
            </a:r>
            <a:r>
              <a:rPr lang="en-US" dirty="0" err="1"/>
              <a:t>tols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599D6-0F53-C25C-8400-5D5C171B9A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4764" y="1924684"/>
            <a:ext cx="3957662" cy="17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525723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15620EB-A1D6-5870-C831-2B2008B3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FMI standard deals with the technical part </a:t>
            </a:r>
            <a:r>
              <a:rPr lang="en-US" dirty="0"/>
              <a:t>of model-exchange and co-simulation only.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might be other  </a:t>
            </a:r>
            <a:r>
              <a:rPr lang="en-US" b="1" dirty="0"/>
              <a:t>legal or technical restrictions</a:t>
            </a:r>
          </a:p>
          <a:p>
            <a:pPr marL="608013" lvl="1" indent="-342900"/>
            <a:r>
              <a:rPr lang="en-US" dirty="0"/>
              <a:t>Exporting tools might use a </a:t>
            </a:r>
            <a:r>
              <a:rPr lang="en-US" b="1" dirty="0"/>
              <a:t>licensing mechanism </a:t>
            </a:r>
            <a:r>
              <a:rPr lang="en-US" dirty="0"/>
              <a:t>such as </a:t>
            </a:r>
            <a:r>
              <a:rPr lang="en-US" dirty="0" err="1"/>
              <a:t>FlexNet</a:t>
            </a:r>
            <a:endParaRPr lang="en-US" dirty="0"/>
          </a:p>
          <a:p>
            <a:pPr marL="608013" lvl="1" indent="-342900"/>
            <a:r>
              <a:rPr lang="en-US" b="1" dirty="0"/>
              <a:t>Other legal obligations</a:t>
            </a:r>
            <a:r>
              <a:rPr lang="en-US" dirty="0"/>
              <a:t>, e.g., w.r.t. to the distribution of FMUs might be imposed by the exporting tools.</a:t>
            </a:r>
          </a:p>
          <a:p>
            <a:pPr marL="608013" lvl="1" indent="-342900"/>
            <a:endParaRPr lang="en-US" dirty="0"/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License information </a:t>
            </a:r>
            <a:r>
              <a:rPr lang="en-US" dirty="0"/>
              <a:t>can be stored in the documentation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D9FB30B-0874-4DDD-B45C-44FFF82F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Licenses and licensing mechanism</a:t>
            </a:r>
          </a:p>
        </p:txBody>
      </p:sp>
    </p:spTree>
    <p:extLst>
      <p:ext uri="{BB962C8B-B14F-4D97-AF65-F5344CB8AC3E}">
        <p14:creationId xmlns:p14="http://schemas.microsoft.com/office/powerpoint/2010/main" val="323675810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New features in FMI 3.0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771214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890FF-8B5E-4D4F-8495-9FB7BD0E5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374241"/>
            <a:ext cx="11003744" cy="4760007"/>
          </a:xfrm>
        </p:spPr>
        <p:txBody>
          <a:bodyPr/>
          <a:lstStyle/>
          <a:p>
            <a:pPr marL="1588" lvl="1" indent="0">
              <a:buNone/>
            </a:pPr>
            <a:r>
              <a:rPr lang="en-US" sz="2400" dirty="0"/>
              <a:t>180+ tools support FMI now: many users now, many new use-case requests:</a:t>
            </a:r>
          </a:p>
          <a:p>
            <a:pPr lvl="1"/>
            <a:r>
              <a:rPr lang="en-US" sz="2200" dirty="0"/>
              <a:t>Virtual Electronic Control Units (vECUs):</a:t>
            </a:r>
          </a:p>
          <a:p>
            <a:pPr lvl="2"/>
            <a:r>
              <a:rPr lang="en-US" sz="2200" dirty="0"/>
              <a:t>FMI 2.0 works well for physics simulations: better support for vECUs is needed</a:t>
            </a:r>
          </a:p>
          <a:p>
            <a:pPr lvl="1"/>
            <a:r>
              <a:rPr lang="en-US" sz="2200" dirty="0"/>
              <a:t>Advanced Co-Simulation</a:t>
            </a:r>
          </a:p>
          <a:p>
            <a:pPr lvl="2"/>
            <a:r>
              <a:rPr lang="en-US" sz="2200" dirty="0"/>
              <a:t>Co-Simulation is the more popular interface type: improved co-simulation methods are needed to improve performance and accuracy</a:t>
            </a:r>
          </a:p>
          <a:p>
            <a:pPr lvl="1"/>
            <a:r>
              <a:rPr lang="en-US" sz="2200" dirty="0"/>
              <a:t>Multi-FMU simulations are getting more common</a:t>
            </a:r>
          </a:p>
          <a:p>
            <a:pPr lvl="2"/>
            <a:r>
              <a:rPr lang="en-US" sz="2200" dirty="0"/>
              <a:t>Events are necessary in complex control systems</a:t>
            </a:r>
          </a:p>
          <a:p>
            <a:pPr lvl="2"/>
            <a:r>
              <a:rPr lang="en-US" sz="2200" dirty="0"/>
              <a:t>Events must be synchronized across FMUs</a:t>
            </a:r>
          </a:p>
          <a:p>
            <a:pPr lvl="1"/>
            <a:r>
              <a:rPr lang="en-US" sz="2200" dirty="0"/>
              <a:t>New ML and AI applications</a:t>
            </a:r>
          </a:p>
          <a:p>
            <a:pPr lvl="2"/>
            <a:r>
              <a:rPr lang="en-US" sz="2200" dirty="0"/>
              <a:t>More derivatives computations is required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9A3205-976C-4CAA-AE99-76594CE7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FMI 3.0 (Modelica Conference 2021)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FA06997-57CE-4D10-AF38-09FEFA93D461}"/>
              </a:ext>
            </a:extLst>
          </p:cNvPr>
          <p:cNvSpPr/>
          <p:nvPr/>
        </p:nvSpPr>
        <p:spPr bwMode="auto">
          <a:xfrm rot="20870601">
            <a:off x="7557385" y="1841044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40065DE-B8C6-4CD4-9CF2-8FC30B058968}"/>
              </a:ext>
            </a:extLst>
          </p:cNvPr>
          <p:cNvSpPr/>
          <p:nvPr/>
        </p:nvSpPr>
        <p:spPr bwMode="auto">
          <a:xfrm rot="20870601">
            <a:off x="7557385" y="2764968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Co-Sim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AF4BD1F-B47A-4978-AD60-CD0F3779004B}"/>
              </a:ext>
            </a:extLst>
          </p:cNvPr>
          <p:cNvSpPr/>
          <p:nvPr/>
        </p:nvSpPr>
        <p:spPr bwMode="auto">
          <a:xfrm rot="20870601">
            <a:off x="7557385" y="4052210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AE17AE-8E55-43BC-B67C-FF731C9B564A}"/>
              </a:ext>
            </a:extLst>
          </p:cNvPr>
          <p:cNvSpPr/>
          <p:nvPr/>
        </p:nvSpPr>
        <p:spPr bwMode="auto">
          <a:xfrm rot="20870601">
            <a:off x="7557385" y="5011747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D88A9E-3FC0-3351-C300-53083FEAD69A}"/>
              </a:ext>
            </a:extLst>
          </p:cNvPr>
          <p:cNvSpPr txBox="1"/>
          <p:nvPr/>
        </p:nvSpPr>
        <p:spPr>
          <a:xfrm rot="20755149">
            <a:off x="9169300" y="5128159"/>
            <a:ext cx="2617781" cy="369332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API Efficiencies</a:t>
            </a:r>
          </a:p>
        </p:txBody>
      </p:sp>
    </p:spTree>
    <p:extLst>
      <p:ext uri="{BB962C8B-B14F-4D97-AF65-F5344CB8AC3E}">
        <p14:creationId xmlns:p14="http://schemas.microsoft.com/office/powerpoint/2010/main" val="36383598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5B3EDAC-1012-4B57-8C04-C06A8FC6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New Interface Type – Scheduled Execution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BC9A2-94E5-4E8D-8CFA-CAC0819A6744}"/>
              </a:ext>
            </a:extLst>
          </p:cNvPr>
          <p:cNvGrpSpPr/>
          <p:nvPr/>
        </p:nvGrpSpPr>
        <p:grpSpPr>
          <a:xfrm>
            <a:off x="620184" y="1532498"/>
            <a:ext cx="7722148" cy="1032619"/>
            <a:chOff x="620184" y="1810789"/>
            <a:chExt cx="7722148" cy="1032619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41A3829-D692-469B-A525-7439875B509A}"/>
                </a:ext>
              </a:extLst>
            </p:cNvPr>
            <p:cNvSpPr txBox="1"/>
            <p:nvPr/>
          </p:nvSpPr>
          <p:spPr>
            <a:xfrm>
              <a:off x="620184" y="1810789"/>
              <a:ext cx="7722148" cy="1032619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2.0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A6FE62CB-EC12-4811-8734-B4D62A846B9E}"/>
                </a:ext>
              </a:extLst>
            </p:cNvPr>
            <p:cNvSpPr txBox="1"/>
            <p:nvPr/>
          </p:nvSpPr>
          <p:spPr>
            <a:xfrm>
              <a:off x="1864097" y="2006406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3D0C1C75-64B7-4CA9-B049-AF1ACAAA392D}"/>
                </a:ext>
              </a:extLst>
            </p:cNvPr>
            <p:cNvSpPr txBox="1"/>
            <p:nvPr/>
          </p:nvSpPr>
          <p:spPr>
            <a:xfrm>
              <a:off x="5120863" y="2010219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3F6CD4B-3C2C-48C2-9AA7-67A83CFC260A}"/>
              </a:ext>
            </a:extLst>
          </p:cNvPr>
          <p:cNvGrpSpPr/>
          <p:nvPr/>
        </p:nvGrpSpPr>
        <p:grpSpPr>
          <a:xfrm>
            <a:off x="620184" y="2787718"/>
            <a:ext cx="11040532" cy="1028701"/>
            <a:chOff x="620184" y="3066009"/>
            <a:chExt cx="11040532" cy="1028701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B861BC4-B83E-401C-A1C5-B210D00570B8}"/>
                </a:ext>
              </a:extLst>
            </p:cNvPr>
            <p:cNvSpPr txBox="1"/>
            <p:nvPr/>
          </p:nvSpPr>
          <p:spPr>
            <a:xfrm>
              <a:off x="620184" y="3066009"/>
              <a:ext cx="11040532" cy="1028701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3.0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A43387E-1D7C-4493-9BD1-6B2A37EEFC56}"/>
                </a:ext>
              </a:extLst>
            </p:cNvPr>
            <p:cNvSpPr txBox="1"/>
            <p:nvPr/>
          </p:nvSpPr>
          <p:spPr>
            <a:xfrm>
              <a:off x="1864097" y="3304823"/>
              <a:ext cx="3146312" cy="607219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24A9AA5B-1BEC-4628-B8EB-FBDDC9BC8E8E}"/>
                </a:ext>
              </a:extLst>
            </p:cNvPr>
            <p:cNvSpPr txBox="1"/>
            <p:nvPr/>
          </p:nvSpPr>
          <p:spPr>
            <a:xfrm>
              <a:off x="5120863" y="3304822"/>
              <a:ext cx="3146312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3113857E-F037-419B-BBA9-EEDB4E1AF11C}"/>
                </a:ext>
              </a:extLst>
            </p:cNvPr>
            <p:cNvSpPr txBox="1"/>
            <p:nvPr/>
          </p:nvSpPr>
          <p:spPr>
            <a:xfrm>
              <a:off x="8342332" y="3304822"/>
              <a:ext cx="3229484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Scheduled Execution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159C0D77-1BBA-435D-BD95-E19CEBAC6424}"/>
              </a:ext>
            </a:extLst>
          </p:cNvPr>
          <p:cNvSpPr txBox="1"/>
          <p:nvPr/>
        </p:nvSpPr>
        <p:spPr>
          <a:xfrm>
            <a:off x="620183" y="4118776"/>
            <a:ext cx="108933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800" dirty="0"/>
          </a:p>
          <a:p>
            <a:r>
              <a:rPr lang="en-GB" sz="2800" dirty="0"/>
              <a:t>Scheduled Execution allows coupling several FMUs with one, external scheduler (OS)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2057314-3A88-4F24-BAEA-A51BB112B5E0}"/>
              </a:ext>
            </a:extLst>
          </p:cNvPr>
          <p:cNvSpPr/>
          <p:nvPr/>
        </p:nvSpPr>
        <p:spPr bwMode="auto">
          <a:xfrm rot="20870601">
            <a:off x="9474654" y="996702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E13FF44-85D3-4AFA-8D5D-381F04FEAB82}"/>
              </a:ext>
            </a:extLst>
          </p:cNvPr>
          <p:cNvSpPr/>
          <p:nvPr/>
        </p:nvSpPr>
        <p:spPr bwMode="auto">
          <a:xfrm rot="20870601">
            <a:off x="10580553" y="996701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</p:spTree>
    <p:extLst>
      <p:ext uri="{BB962C8B-B14F-4D97-AF65-F5344CB8AC3E}">
        <p14:creationId xmlns:p14="http://schemas.microsoft.com/office/powerpoint/2010/main" val="2792366975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B6A60EB-3445-8566-B889-CF61219E50FC}"/>
              </a:ext>
            </a:extLst>
          </p:cNvPr>
          <p:cNvSpPr txBox="1"/>
          <p:nvPr/>
        </p:nvSpPr>
        <p:spPr>
          <a:xfrm>
            <a:off x="9511748" y="5804452"/>
            <a:ext cx="1773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 more in part 4!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b="1" dirty="0"/>
              <a:t>Example model for hands-on part 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552625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Motor Drive with PI control modelled in Modelica</a:t>
            </a:r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pic>
        <p:nvPicPr>
          <p:cNvPr id="19" name="Grafik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266" y="2373086"/>
            <a:ext cx="3146025" cy="2266905"/>
          </a:xfrm>
          <a:prstGeom prst="rect">
            <a:avLst/>
          </a:prstGeom>
        </p:spPr>
      </p:pic>
      <p:sp>
        <p:nvSpPr>
          <p:cNvPr id="20" name="Textfeld 22"/>
          <p:cNvSpPr txBox="1"/>
          <p:nvPr/>
        </p:nvSpPr>
        <p:spPr>
          <a:xfrm>
            <a:off x="9681467" y="4705957"/>
            <a:ext cx="2179123" cy="41522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Reference solution</a:t>
            </a:r>
          </a:p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Angular speed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54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de-DE" dirty="0">
                <a:solidFill>
                  <a:srgbClr val="000000"/>
                </a:solidFill>
              </a:rPr>
              <a:t>M</a:t>
            </a:r>
            <a:r>
              <a:rPr lang="en-US" dirty="0" err="1">
                <a:solidFill>
                  <a:srgbClr val="000000"/>
                </a:solidFill>
              </a:rPr>
              <a:t>odel</a:t>
            </a:r>
            <a:r>
              <a:rPr lang="en-US" dirty="0">
                <a:solidFill>
                  <a:srgbClr val="000000"/>
                </a:solidFill>
              </a:rPr>
              <a:t> exported as one overall FMU or split as three FMUs.</a:t>
            </a:r>
          </a:p>
        </p:txBody>
      </p:sp>
      <p:sp>
        <p:nvSpPr>
          <p:cNvPr id="10" name="Freihandform 20"/>
          <p:cNvSpPr/>
          <p:nvPr/>
        </p:nvSpPr>
        <p:spPr>
          <a:xfrm>
            <a:off x="7686779" y="3706532"/>
            <a:ext cx="1088852" cy="1466320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1" name="Freihandform 19"/>
          <p:cNvSpPr/>
          <p:nvPr/>
        </p:nvSpPr>
        <p:spPr>
          <a:xfrm>
            <a:off x="1829960" y="3095420"/>
            <a:ext cx="1678042" cy="1607267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2" name="Freihandform 13"/>
          <p:cNvSpPr/>
          <p:nvPr/>
        </p:nvSpPr>
        <p:spPr>
          <a:xfrm>
            <a:off x="3921330" y="2336147"/>
            <a:ext cx="3734122" cy="3398472"/>
          </a:xfrm>
          <a:custGeom>
            <a:avLst/>
            <a:gdLst>
              <a:gd name="connsiteX0" fmla="*/ 13062 w 4820194"/>
              <a:gd name="connsiteY0" fmla="*/ 927463 h 3174275"/>
              <a:gd name="connsiteX1" fmla="*/ 849085 w 4820194"/>
              <a:gd name="connsiteY1" fmla="*/ 979715 h 3174275"/>
              <a:gd name="connsiteX2" fmla="*/ 783771 w 4820194"/>
              <a:gd name="connsiteY2" fmla="*/ 2377440 h 3174275"/>
              <a:gd name="connsiteX3" fmla="*/ 809897 w 4820194"/>
              <a:gd name="connsiteY3" fmla="*/ 3161212 h 3174275"/>
              <a:gd name="connsiteX4" fmla="*/ 4754880 w 4820194"/>
              <a:gd name="connsiteY4" fmla="*/ 3174275 h 3174275"/>
              <a:gd name="connsiteX5" fmla="*/ 4820194 w 4820194"/>
              <a:gd name="connsiteY5" fmla="*/ 39189 h 3174275"/>
              <a:gd name="connsiteX6" fmla="*/ 0 w 4820194"/>
              <a:gd name="connsiteY6" fmla="*/ 0 h 3174275"/>
              <a:gd name="connsiteX7" fmla="*/ 13062 w 4820194"/>
              <a:gd name="connsiteY7" fmla="*/ 927463 h 3174275"/>
              <a:gd name="connsiteX0" fmla="*/ 13062 w 4820194"/>
              <a:gd name="connsiteY0" fmla="*/ 888274 h 3135086"/>
              <a:gd name="connsiteX1" fmla="*/ 849085 w 4820194"/>
              <a:gd name="connsiteY1" fmla="*/ 940526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13062 w 4820194"/>
              <a:gd name="connsiteY0" fmla="*/ 888274 h 3135086"/>
              <a:gd name="connsiteX1" fmla="*/ 849085 w 4820194"/>
              <a:gd name="connsiteY1" fmla="*/ 87327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4760581 w 4825895"/>
              <a:gd name="connsiteY3" fmla="*/ 3135086 h 3135086"/>
              <a:gd name="connsiteX4" fmla="*/ 4825895 w 4825895"/>
              <a:gd name="connsiteY4" fmla="*/ 0 h 3135086"/>
              <a:gd name="connsiteX5" fmla="*/ 5701 w 4825895"/>
              <a:gd name="connsiteY5" fmla="*/ 1162 h 3135086"/>
              <a:gd name="connsiteX6" fmla="*/ 0 w 4825895"/>
              <a:gd name="connsiteY6" fmla="*/ 915175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3401762 w 4825895"/>
              <a:gd name="connsiteY3" fmla="*/ 3121636 h 3135086"/>
              <a:gd name="connsiteX4" fmla="*/ 4760581 w 4825895"/>
              <a:gd name="connsiteY4" fmla="*/ 3135086 h 3135086"/>
              <a:gd name="connsiteX5" fmla="*/ 4825895 w 4825895"/>
              <a:gd name="connsiteY5" fmla="*/ 0 h 3135086"/>
              <a:gd name="connsiteX6" fmla="*/ 5701 w 4825895"/>
              <a:gd name="connsiteY6" fmla="*/ 1162 h 3135086"/>
              <a:gd name="connsiteX7" fmla="*/ 0 w 4825895"/>
              <a:gd name="connsiteY7" fmla="*/ 915175 h 3135086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825895 w 4825895"/>
              <a:gd name="connsiteY5" fmla="*/ 0 h 3122023"/>
              <a:gd name="connsiteX6" fmla="*/ 5701 w 4825895"/>
              <a:gd name="connsiteY6" fmla="*/ 1162 h 3122023"/>
              <a:gd name="connsiteX7" fmla="*/ 0 w 4825895"/>
              <a:gd name="connsiteY7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2790493 w 4825895"/>
              <a:gd name="connsiteY4" fmla="*/ 2529823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790493 w 4825895"/>
              <a:gd name="connsiteY4" fmla="*/ 2529823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865543 w 4825895"/>
              <a:gd name="connsiteY4" fmla="*/ 2476022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5895" h="3148537">
                <a:moveTo>
                  <a:pt x="0" y="915175"/>
                </a:moveTo>
                <a:lnTo>
                  <a:pt x="854786" y="873275"/>
                </a:lnTo>
                <a:lnTo>
                  <a:pt x="815598" y="3122023"/>
                </a:lnTo>
                <a:lnTo>
                  <a:pt x="2857642" y="3148537"/>
                </a:lnTo>
                <a:cubicBezTo>
                  <a:pt x="2860276" y="2924365"/>
                  <a:pt x="2862909" y="2700194"/>
                  <a:pt x="2865543" y="2476022"/>
                </a:cubicBezTo>
                <a:cubicBezTo>
                  <a:pt x="2925452" y="2390837"/>
                  <a:pt x="4730299" y="2520854"/>
                  <a:pt x="4790208" y="2435669"/>
                </a:cubicBezTo>
                <a:lnTo>
                  <a:pt x="4825895" y="0"/>
                </a:lnTo>
                <a:lnTo>
                  <a:pt x="5701" y="1162"/>
                </a:lnTo>
                <a:cubicBezTo>
                  <a:pt x="3801" y="305833"/>
                  <a:pt x="1900" y="610504"/>
                  <a:pt x="0" y="915175"/>
                </a:cubicBezTo>
                <a:close/>
              </a:path>
            </a:pathLst>
          </a:custGeom>
          <a:solidFill>
            <a:srgbClr val="FFFF0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3" name="Freihandform 11"/>
          <p:cNvSpPr/>
          <p:nvPr/>
        </p:nvSpPr>
        <p:spPr>
          <a:xfrm>
            <a:off x="3432685" y="3368181"/>
            <a:ext cx="1102814" cy="1376490"/>
          </a:xfrm>
          <a:custGeom>
            <a:avLst/>
            <a:gdLst>
              <a:gd name="connsiteX0" fmla="*/ 0 w 1214845"/>
              <a:gd name="connsiteY0" fmla="*/ 0 h 1528355"/>
              <a:gd name="connsiteX1" fmla="*/ 13063 w 1214845"/>
              <a:gd name="connsiteY1" fmla="*/ 52252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7" fmla="*/ 1 w 1214845"/>
              <a:gd name="connsiteY7" fmla="*/ 26126 h 966652"/>
              <a:gd name="connsiteX0" fmla="*/ 1 w 1214845"/>
              <a:gd name="connsiteY0" fmla="*/ 0 h 1018903"/>
              <a:gd name="connsiteX1" fmla="*/ 13063 w 1214845"/>
              <a:gd name="connsiteY1" fmla="*/ 1018903 h 1018903"/>
              <a:gd name="connsiteX2" fmla="*/ 940525 w 1214845"/>
              <a:gd name="connsiteY2" fmla="*/ 1018903 h 1018903"/>
              <a:gd name="connsiteX3" fmla="*/ 1214845 w 1214845"/>
              <a:gd name="connsiteY3" fmla="*/ 378823 h 1018903"/>
              <a:gd name="connsiteX4" fmla="*/ 1201783 w 1214845"/>
              <a:gd name="connsiteY4" fmla="*/ 52251 h 1018903"/>
              <a:gd name="connsiteX5" fmla="*/ 0 w 1214845"/>
              <a:gd name="connsiteY5" fmla="*/ 52251 h 1018903"/>
              <a:gd name="connsiteX6" fmla="*/ 0 w 1214845"/>
              <a:gd name="connsiteY6" fmla="*/ 52251 h 1018903"/>
              <a:gd name="connsiteX7" fmla="*/ 1 w 1214845"/>
              <a:gd name="connsiteY7" fmla="*/ 0 h 1018903"/>
              <a:gd name="connsiteX0" fmla="*/ 1 w 1214845"/>
              <a:gd name="connsiteY0" fmla="*/ 16943 h 970532"/>
              <a:gd name="connsiteX1" fmla="*/ 13063 w 1214845"/>
              <a:gd name="connsiteY1" fmla="*/ 970532 h 970532"/>
              <a:gd name="connsiteX2" fmla="*/ 940525 w 1214845"/>
              <a:gd name="connsiteY2" fmla="*/ 970532 h 970532"/>
              <a:gd name="connsiteX3" fmla="*/ 1214845 w 1214845"/>
              <a:gd name="connsiteY3" fmla="*/ 330452 h 970532"/>
              <a:gd name="connsiteX4" fmla="*/ 1201783 w 1214845"/>
              <a:gd name="connsiteY4" fmla="*/ 3880 h 970532"/>
              <a:gd name="connsiteX5" fmla="*/ 0 w 1214845"/>
              <a:gd name="connsiteY5" fmla="*/ 3880 h 970532"/>
              <a:gd name="connsiteX6" fmla="*/ 0 w 1214845"/>
              <a:gd name="connsiteY6" fmla="*/ 3880 h 970532"/>
              <a:gd name="connsiteX7" fmla="*/ 1 w 1214845"/>
              <a:gd name="connsiteY7" fmla="*/ 16943 h 970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4845" h="970532">
                <a:moveTo>
                  <a:pt x="1" y="16943"/>
                </a:moveTo>
                <a:lnTo>
                  <a:pt x="13063" y="970532"/>
                </a:lnTo>
                <a:lnTo>
                  <a:pt x="940525" y="970532"/>
                </a:lnTo>
                <a:lnTo>
                  <a:pt x="1214845" y="330452"/>
                </a:lnTo>
                <a:lnTo>
                  <a:pt x="1201783" y="3880"/>
                </a:lnTo>
                <a:lnTo>
                  <a:pt x="0" y="3880"/>
                </a:lnTo>
                <a:lnTo>
                  <a:pt x="0" y="3880"/>
                </a:lnTo>
                <a:cubicBezTo>
                  <a:pt x="0" y="-13537"/>
                  <a:pt x="1" y="34360"/>
                  <a:pt x="1" y="16943"/>
                </a:cubicBezTo>
                <a:close/>
              </a:path>
            </a:pathLst>
          </a:custGeom>
          <a:solidFill>
            <a:srgbClr val="00B05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sp>
        <p:nvSpPr>
          <p:cNvPr id="16" name="Textfeld 14"/>
          <p:cNvSpPr txBox="1"/>
          <p:nvPr/>
        </p:nvSpPr>
        <p:spPr>
          <a:xfrm>
            <a:off x="5970363" y="2792860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Drive FMU</a:t>
            </a:r>
          </a:p>
        </p:txBody>
      </p:sp>
      <p:sp>
        <p:nvSpPr>
          <p:cNvPr id="17" name="Textfeld 15"/>
          <p:cNvSpPr txBox="1"/>
          <p:nvPr/>
        </p:nvSpPr>
        <p:spPr>
          <a:xfrm>
            <a:off x="3513619" y="412901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Control </a:t>
            </a:r>
            <a:br>
              <a:rPr lang="en-US" sz="1778" i="1" dirty="0">
                <a:solidFill>
                  <a:srgbClr val="000000"/>
                </a:solidFill>
              </a:rPr>
            </a:br>
            <a:r>
              <a:rPr lang="en-US" sz="1778" i="1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18" name="Textfeld 16"/>
          <p:cNvSpPr txBox="1"/>
          <p:nvPr/>
        </p:nvSpPr>
        <p:spPr>
          <a:xfrm>
            <a:off x="2046767" y="319840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Stimuli FMU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1317" y="289413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016264" eaLnBrk="1" fontAlgn="auto" hangingPunct="1">
              <a:lnSpc>
                <a:spcPct val="107000"/>
              </a:lnSpc>
              <a:spcBef>
                <a:spcPts val="556"/>
              </a:spcBef>
              <a:spcAft>
                <a:spcPts val="0"/>
              </a:spcAft>
            </a:pPr>
            <a:r>
              <a:rPr lang="en-GB" sz="2001" kern="0" dirty="0">
                <a:solidFill>
                  <a:srgbClr val="000000"/>
                </a:solidFill>
              </a:rPr>
              <a:t>Overall </a:t>
            </a:r>
            <a:br>
              <a:rPr lang="en-GB" sz="2001" kern="0" dirty="0">
                <a:solidFill>
                  <a:srgbClr val="000000"/>
                </a:solidFill>
              </a:rPr>
            </a:br>
            <a:r>
              <a:rPr lang="en-GB" sz="2001" kern="0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52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6BA5D5-B42C-CA6D-F3DD-BBF41C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FMU Export and import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7C848-94B3-D81D-EDA1-6754086CD2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658E77-3930-B94E-6924-70431598A2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FMU Export</a:t>
            </a:r>
            <a:r>
              <a:rPr lang="en-US" dirty="0"/>
              <a:t> from Modelica-tool Dymola: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Configure options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 marL="0" indent="0"/>
            <a:r>
              <a:rPr lang="en-US" b="1" dirty="0"/>
              <a:t>FMU Import and Simulation </a:t>
            </a:r>
            <a:r>
              <a:rPr lang="en-US" dirty="0"/>
              <a:t>in Dymola: </a:t>
            </a:r>
          </a:p>
          <a:p>
            <a:pPr marL="0" indent="0"/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B85533-9D91-D54D-1103-1ADF7C07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28" y="1152296"/>
            <a:ext cx="3165545" cy="36049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BB61C4D-FF49-2EFD-CE04-8E312F0E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22" y="3796976"/>
            <a:ext cx="5127851" cy="20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377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2EF79-C30F-5D83-889A-C82218744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Import and Simulation in MATLAB Simulink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DF3BC7-623B-4ABD-AA17-6AD81BFA4C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2FA31-A818-93BA-CF65-EAB8FF8F2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FMI import by Mathworks</a:t>
            </a:r>
            <a:br>
              <a:rPr lang="en-US" dirty="0"/>
            </a:br>
            <a:r>
              <a:rPr lang="en-US" dirty="0"/>
              <a:t>FMU import Block available in Simulink/extras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353AE519-C770-F128-AC4C-D667928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997" y="2470804"/>
            <a:ext cx="4489171" cy="3070628"/>
          </a:xfrm>
          <a:prstGeom prst="rect">
            <a:avLst/>
          </a:prstGeom>
        </p:spPr>
      </p:pic>
      <p:pic>
        <p:nvPicPr>
          <p:cNvPr id="6" name="Picture 9">
            <a:extLst>
              <a:ext uri="{FF2B5EF4-FFF2-40B4-BE49-F238E27FC236}">
                <a16:creationId xmlns:a16="http://schemas.microsoft.com/office/drawing/2014/main" id="{59C185FB-90CA-360B-1449-35262446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34" y="2470804"/>
            <a:ext cx="2051155" cy="17145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9730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QBAQEBAQEBAQEBAQEBAQMAAAAAAAAAAwAAAAMAAAAA/////wQAMwwAAAAAAAAAAAAAIAD///////////////8AAAD///////////////8DAAAAAg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z+fPFbJ6jVPug79w+HzFAoEAAAAAAADAAAAAAADAAAAAwADAAMA////////BQAAAAMAEAALZUzI07EzFUeX7pk3xcjAVAQAAAABAAMAAAACAAMAAAABAAMAAAAAAP///////w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P588VsnqNU+6Dv3D4fMUCgNEYXRhAFMAAAAIUHJlc2VudGF0aW9uU2Nhbm5lZEZvckxpbmtlZFNoYXBlcwAAAk51bWJlckZvcm1hdFNlcGFyYXRvck1vZGUACgAAAEF1dG9tYXRpYwAAAk5hbWUAJAAAAExpbmtlZFNoYXBlUHJlc2VudGF0aW9uU2V0dGluZ3NEYXRhABBWZXJzaW9uAAAAAAAJTGFzdFdyaXRlAPcbljiYAQAAAAEA/////4MAgwAAAAVfaWQAEAAAAARlTMjTsTMVR5fumTfFyMBUA0RhdGEAGwAAAARMaW5rZWRTaGFwZURhdGEABQAAAAAAAk5hbWUAGQAAAExpbmtlZFNoYXBlc0RhdGFQcm9wZXJ0eQAQVmVyc2lvbgABAAAACUxhc3RXcml0ZQDjG5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D8CwAAAAAAAAAAAAAgAf///////////////wAAAP///////////////wUAAAACAP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AUAAAADAAMABAEDAAAAAwD///////8aAAZMaW5rZWRTaGFwZXNEYXRhUHJvcGVydHlfMQQAAAABAAUAAAACAAUAAAABAAUAAAACAP///////w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28185137095"/>
  <p:tag name="EMPOWERCHARTSPROPERTIES_A_LENGTH" val="24576"/>
  <p:tag name="COAUTHORING_SESSION_ID" val="91be355d-475b-4506-830e-389171adbea9"/>
  <p:tag name="UNDO_REDO_REVISION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2399</Words>
  <Application>Microsoft Office PowerPoint</Application>
  <PresentationFormat>Breitbild</PresentationFormat>
  <Paragraphs>394</Paragraphs>
  <Slides>34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Arial</vt:lpstr>
      <vt:lpstr>Bosch Office Sans</vt:lpstr>
      <vt:lpstr>Calibri</vt:lpstr>
      <vt:lpstr>Courier New</vt:lpstr>
      <vt:lpstr>Wingdings</vt:lpstr>
      <vt:lpstr>Modelisar Template - HighRes</vt:lpstr>
      <vt:lpstr> The Functional Mock-up Interface Beginners’ Tutorial</vt:lpstr>
      <vt:lpstr>Agenda</vt:lpstr>
      <vt:lpstr> </vt:lpstr>
      <vt:lpstr> </vt:lpstr>
      <vt:lpstr>Motivation</vt:lpstr>
      <vt:lpstr>Timeline : Modelisar Project  Modelica Association Project FMI</vt:lpstr>
      <vt:lpstr>Versioning of FMI </vt:lpstr>
      <vt:lpstr>The Functional Mock-Up Interface today  </vt:lpstr>
      <vt:lpstr>The Modelica Association</vt:lpstr>
      <vt:lpstr>The Modelica Association FMI Project</vt:lpstr>
      <vt:lpstr> </vt:lpstr>
      <vt:lpstr>Exporting vs. Importing tool</vt:lpstr>
      <vt:lpstr>Models in Scope</vt:lpstr>
      <vt:lpstr>Co-Simulation (CS)</vt:lpstr>
      <vt:lpstr>The FMI Standard</vt:lpstr>
      <vt:lpstr>FMU – „Functional Mock-up Unit“</vt:lpstr>
      <vt:lpstr>FMU for Model Exchange vs. Co-Simulation (FMI 2.0)</vt:lpstr>
      <vt:lpstr>Co-Simulation (CS) Interface </vt:lpstr>
      <vt:lpstr>Model Exchange (ME) Interface </vt:lpstr>
      <vt:lpstr>Simulation of multiple FMUs</vt:lpstr>
      <vt:lpstr>The modelDescription.xml</vt:lpstr>
      <vt:lpstr>FMI for Co-simulation Tool Wrapper Variant</vt:lpstr>
      <vt:lpstr>FMI Tool Support </vt:lpstr>
      <vt:lpstr>Compatibility Information and validation tols</vt:lpstr>
      <vt:lpstr>Licenses and licensing mechanism</vt:lpstr>
      <vt:lpstr> </vt:lpstr>
      <vt:lpstr>Motivation for FMI 3.0 (Modelica Conference 2021)</vt:lpstr>
      <vt:lpstr>FMI 3.0: New Interface Type – Scheduled Execution</vt:lpstr>
      <vt:lpstr>FMI 3.0: Main Improvements</vt:lpstr>
      <vt:lpstr> </vt:lpstr>
      <vt:lpstr>Example model: Controlled Motor Drive</vt:lpstr>
      <vt:lpstr>Example model: Controlled Motor Drive </vt:lpstr>
      <vt:lpstr>Demo: FMU Export and import</vt:lpstr>
      <vt:lpstr>FMU Import and Simulation in MATLAB Simulink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131</cp:revision>
  <dcterms:created xsi:type="dcterms:W3CDTF">2021-01-29T10:20:31Z</dcterms:created>
  <dcterms:modified xsi:type="dcterms:W3CDTF">2025-09-20T20:08:36Z</dcterms:modified>
</cp:coreProperties>
</file>