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9" r:id="rId3"/>
    <p:sldMasterId id="2147485374" r:id="rId4"/>
  </p:sldMasterIdLst>
  <p:notesMasterIdLst>
    <p:notesMasterId r:id="rId24"/>
  </p:notesMasterIdLst>
  <p:handoutMasterIdLst>
    <p:handoutMasterId r:id="rId25"/>
  </p:handoutMasterIdLst>
  <p:sldIdLst>
    <p:sldId id="463" r:id="rId5"/>
    <p:sldId id="464" r:id="rId6"/>
    <p:sldId id="465" r:id="rId7"/>
    <p:sldId id="471" r:id="rId8"/>
    <p:sldId id="466" r:id="rId9"/>
    <p:sldId id="314" r:id="rId10"/>
    <p:sldId id="438" r:id="rId11"/>
    <p:sldId id="439" r:id="rId12"/>
    <p:sldId id="440" r:id="rId13"/>
    <p:sldId id="441" r:id="rId14"/>
    <p:sldId id="443" r:id="rId15"/>
    <p:sldId id="460" r:id="rId16"/>
    <p:sldId id="434" r:id="rId17"/>
    <p:sldId id="435" r:id="rId18"/>
    <p:sldId id="433" r:id="rId19"/>
    <p:sldId id="437" r:id="rId20"/>
    <p:sldId id="462" r:id="rId21"/>
    <p:sldId id="458" r:id="rId22"/>
    <p:sldId id="444" r:id="rId23"/>
  </p:sldIdLst>
  <p:sldSz cx="12192000" cy="6858000"/>
  <p:notesSz cx="6858000" cy="9144000"/>
  <p:custDataLst>
    <p:tags r:id="rId26"/>
  </p:custDataLst>
  <p:defaultTextStyle>
    <a:defPPr>
      <a:defRPr lang="de-DE"/>
    </a:defPPr>
    <a:lvl1pPr algn="l" rtl="0" eaLnBrk="0" fontAlgn="base" hangingPunct="0">
      <a:spcBef>
        <a:spcPct val="0"/>
      </a:spcBef>
      <a:spcAft>
        <a:spcPct val="0"/>
      </a:spcAft>
      <a:defRPr sz="1600" kern="1200">
        <a:solidFill>
          <a:srgbClr val="120C80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sz="1600" kern="1200">
        <a:solidFill>
          <a:srgbClr val="120C80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sz="1600" kern="1200">
        <a:solidFill>
          <a:srgbClr val="120C80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sz="1600" kern="1200">
        <a:solidFill>
          <a:srgbClr val="120C80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sz="1600" kern="1200">
        <a:solidFill>
          <a:srgbClr val="120C80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1600" kern="1200">
        <a:solidFill>
          <a:srgbClr val="120C80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sz="1600" kern="1200">
        <a:solidFill>
          <a:srgbClr val="120C80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sz="1600" kern="1200">
        <a:solidFill>
          <a:srgbClr val="120C80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sz="1600" kern="1200">
        <a:solidFill>
          <a:srgbClr val="120C80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4CE9094C-DC18-7172-F32E-C0C314541269}" name="Cláudio Ângelo Gonçalves Gomes" initials="CG" userId="S::au602135@uni.au.dk::88ad1fd7-93d7-440b-80bb-a69b506dfa88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20C80"/>
    <a:srgbClr val="00376F"/>
    <a:srgbClr val="91100E"/>
    <a:srgbClr val="5E676E"/>
    <a:srgbClr val="C91330"/>
    <a:srgbClr val="FFE79D"/>
    <a:srgbClr val="ED6A50"/>
    <a:srgbClr val="F9E300"/>
    <a:srgbClr val="E3FF00"/>
    <a:srgbClr val="4F68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ittlere Formatvorlag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ittlere Formatvorlage 2 - Akz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ittlere Formatvorlage 2 - Akz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Mittlere Formatvorlage 2 - Akz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2838BEF-8BB2-4498-84A7-C5851F593DF1}" styleName="Mittlere Formatvorlage 4 - Akz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78824" autoAdjust="0"/>
  </p:normalViewPr>
  <p:slideViewPr>
    <p:cSldViewPr snapToGrid="0">
      <p:cViewPr varScale="1">
        <p:scale>
          <a:sx n="75" d="100"/>
          <a:sy n="75" d="100"/>
        </p:scale>
        <p:origin x="931" y="5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gs" Target="tags/tag1.xml"/><Relationship Id="rId3" Type="http://schemas.openxmlformats.org/officeDocument/2006/relationships/slideMaster" Target="slideMasters/slideMaster1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microsoft.com/office/2018/10/relationships/authors" Target="authors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B94DDB95-9110-49C7-9D00-DE752580CD7A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id="{0E93738F-46BC-4330-B613-4C94BEDEF2AA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268" name="Rectangle 4">
            <a:extLst>
              <a:ext uri="{FF2B5EF4-FFF2-40B4-BE49-F238E27FC236}">
                <a16:creationId xmlns:a16="http://schemas.microsoft.com/office/drawing/2014/main" id="{F796A944-C12F-4BF4-A69A-0C008A8C2858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269" name="Rectangle 5">
            <a:extLst>
              <a:ext uri="{FF2B5EF4-FFF2-40B4-BE49-F238E27FC236}">
                <a16:creationId xmlns:a16="http://schemas.microsoft.com/office/drawing/2014/main" id="{5CCFA6AD-3184-4D20-ADD5-106C66D59441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F01DF58F-2A57-452A-958D-23C67E78F907}" type="slidenum">
              <a:rPr lang="de-DE" altLang="en-US"/>
              <a:pPr>
                <a:defRPr/>
              </a:pPr>
              <a:t>‹Nr.›</a:t>
            </a:fld>
            <a:endParaRPr lang="de-DE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97DDC6B2-BAE9-4F15-BA17-0988F2AC4C6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E72D93E0-79D8-4A1A-94C8-E2FAFFFE15E7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C4BA1F97-1BE7-4EFA-9D91-E765E6F6BC0D}" type="datetimeFigureOut">
              <a:rPr lang="en-US"/>
              <a:pPr>
                <a:defRPr/>
              </a:pPr>
              <a:t>7/23/2025</a:t>
            </a:fld>
            <a:endParaRPr lang="en-US"/>
          </a:p>
        </p:txBody>
      </p:sp>
      <p:sp>
        <p:nvSpPr>
          <p:cNvPr id="4" name="Folienbildplatzhalter 3">
            <a:extLst>
              <a:ext uri="{FF2B5EF4-FFF2-40B4-BE49-F238E27FC236}">
                <a16:creationId xmlns:a16="http://schemas.microsoft.com/office/drawing/2014/main" id="{C0472C7B-0169-4D84-989F-CCC06BAE6D0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izenplatzhalter 4">
            <a:extLst>
              <a:ext uri="{FF2B5EF4-FFF2-40B4-BE49-F238E27FC236}">
                <a16:creationId xmlns:a16="http://schemas.microsoft.com/office/drawing/2014/main" id="{B7BFA9F0-B57E-48A0-8F1A-E7AD8BE8E97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noProof="0"/>
              <a:t>Textmasterformat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  <a:endParaRPr lang="en-US" noProof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06AC7A05-627B-407F-AB8B-2DEA46ACF379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F4335BE4-0B65-4095-A55D-040C4721ECB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/>
            </a:lvl1pPr>
          </a:lstStyle>
          <a:p>
            <a:pPr>
              <a:defRPr/>
            </a:pPr>
            <a:fld id="{3AB06A50-7B57-4553-B2BC-E857236DEF86}" type="slidenum">
              <a:rPr lang="en-US" altLang="en-US"/>
              <a:pPr>
                <a:defRPr/>
              </a:pPr>
              <a:t>‹Nr.›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AB06A50-7B57-4553-B2BC-E857236DEF86}" type="slidenum">
              <a:rPr lang="en-US" altLang="en-US" smtClean="0"/>
              <a:pPr>
                <a:defRPr/>
              </a:pPr>
              <a:t>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599875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AB06A50-7B57-4553-B2BC-E857236DEF86}" type="slidenum">
              <a:rPr lang="en-US" altLang="en-US" smtClean="0"/>
              <a:pPr>
                <a:defRPr/>
              </a:pPr>
              <a:t>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378700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AB06A50-7B57-4553-B2BC-E857236DEF86}" type="slidenum">
              <a:rPr lang="en-US" altLang="en-US" smtClean="0"/>
              <a:pPr>
                <a:defRPr/>
              </a:pPr>
              <a:t>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7583048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AB06A50-7B57-4553-B2BC-E857236DEF86}" type="slidenum">
              <a:rPr lang="en-US" altLang="en-US" smtClean="0"/>
              <a:pPr>
                <a:defRPr/>
              </a:pPr>
              <a:t>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561212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AB06A50-7B57-4553-B2BC-E857236DEF86}" type="slidenum">
              <a:rPr lang="en-US" altLang="en-US" smtClean="0"/>
              <a:pPr>
                <a:defRPr/>
              </a:pPr>
              <a:t>10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7754804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AB06A50-7B57-4553-B2BC-E857236DEF86}" type="slidenum">
              <a:rPr lang="en-US" altLang="en-US" smtClean="0"/>
              <a:pPr>
                <a:defRPr/>
              </a:pPr>
              <a:t>15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5408181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AB06A50-7B57-4553-B2BC-E857236DEF86}" type="slidenum">
              <a:rPr lang="en-US" altLang="en-US" smtClean="0"/>
              <a:pPr>
                <a:defRPr/>
              </a:pPr>
              <a:t>16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506827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>
            <a:extLst>
              <a:ext uri="{FF2B5EF4-FFF2-40B4-BE49-F238E27FC236}">
                <a16:creationId xmlns:a16="http://schemas.microsoft.com/office/drawing/2014/main" id="{D4F8991D-8E07-4CE6-801D-D42CAD1C25D1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190534" y="6365875"/>
            <a:ext cx="3810931" cy="2484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36000" bIns="46800">
            <a:spAutoFit/>
          </a:bodyPr>
          <a:lstStyle>
            <a:lvl1pPr eaLnBrk="0" hangingPunct="0">
              <a:defRPr sz="1600">
                <a:solidFill>
                  <a:srgbClr val="120C80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1600">
                <a:solidFill>
                  <a:srgbClr val="120C80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1600">
                <a:solidFill>
                  <a:srgbClr val="120C80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1600">
                <a:solidFill>
                  <a:srgbClr val="120C80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1600">
                <a:solidFill>
                  <a:srgbClr val="120C80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rgbClr val="120C80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rgbClr val="120C80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rgbClr val="120C80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rgbClr val="120C80"/>
                </a:solidFill>
                <a:latin typeface="Arial" charset="0"/>
                <a:cs typeface="Arial" charset="0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sz="1000" dirty="0">
                <a:solidFill>
                  <a:srgbClr val="5E676E"/>
                </a:solidFill>
              </a:rPr>
              <a:t>© 2024 FMI Modelica Association Project | www.fmi-standard.org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ctrTitle"/>
          </p:nvPr>
        </p:nvSpPr>
        <p:spPr>
          <a:xfrm>
            <a:off x="1301539" y="3448808"/>
            <a:ext cx="9755716" cy="511442"/>
          </a:xfrm>
        </p:spPr>
        <p:txBody>
          <a:bodyPr bIns="43200">
            <a:spAutoFit/>
          </a:bodyPr>
          <a:lstStyle>
            <a:lvl1pPr algn="ctr">
              <a:defRPr lang="de-DE" sz="3200" b="1" dirty="0">
                <a:solidFill>
                  <a:srgbClr val="C00000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5124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301539" y="4760007"/>
            <a:ext cx="9755716" cy="1256510"/>
          </a:xfrm>
        </p:spPr>
        <p:txBody>
          <a:bodyPr/>
          <a:lstStyle>
            <a:lvl1pPr>
              <a:lnSpc>
                <a:spcPct val="95000"/>
              </a:lnSpc>
              <a:spcAft>
                <a:spcPct val="0"/>
              </a:spcAft>
              <a:defRPr lang="de-DE" sz="1800" kern="1200" baseline="0" dirty="0">
                <a:solidFill>
                  <a:srgbClr val="5E676E"/>
                </a:solidFill>
                <a:latin typeface="Arial" charset="0"/>
                <a:ea typeface="+mn-ea"/>
                <a:cs typeface="Arial" charset="0"/>
              </a:defRPr>
            </a:lvl1pPr>
          </a:lstStyle>
          <a:p>
            <a:r>
              <a:rPr lang="de-DE"/>
              <a:t>Master-Untertitelformat bearbeiten</a:t>
            </a:r>
            <a:endParaRPr lang="de-DE" dirty="0"/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CC886034-1211-45CD-971F-790844FF58F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63857" y="784058"/>
            <a:ext cx="4831080" cy="1700784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567A0470-3E52-49B6-AC24-42ABC47AC59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5104" y="6234354"/>
            <a:ext cx="1075060" cy="5114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8632446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64119" y="1461331"/>
            <a:ext cx="11003744" cy="4760007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/>
            </a:lvl1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fr-FR" dirty="0"/>
          </a:p>
        </p:txBody>
      </p:sp>
      <p:sp>
        <p:nvSpPr>
          <p:cNvPr id="4" name="Titel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061320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fr-FR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3392" y="1497013"/>
            <a:ext cx="5371008" cy="45132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fr-FR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1" y="1497013"/>
            <a:ext cx="5467351" cy="45132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4801400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55699134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96465615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/>
              <a:t>Mastertitelformat bearbeiten</a:t>
            </a:r>
            <a:endParaRPr lang="fr-FR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de-DE" noProof="0"/>
              <a:t>Bild durch Klicken auf Symbol hinzufügen</a:t>
            </a:r>
            <a:endParaRPr lang="fr-FR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866929715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>
            <a:extLst>
              <a:ext uri="{FF2B5EF4-FFF2-40B4-BE49-F238E27FC236}">
                <a16:creationId xmlns:a16="http://schemas.microsoft.com/office/drawing/2014/main" id="{D4F8991D-8E07-4CE6-801D-D42CAD1C25D1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190534" y="6365875"/>
            <a:ext cx="3810931" cy="2484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36000" bIns="46800">
            <a:spAutoFit/>
          </a:bodyPr>
          <a:lstStyle>
            <a:lvl1pPr eaLnBrk="0" hangingPunct="0">
              <a:defRPr sz="1600">
                <a:solidFill>
                  <a:srgbClr val="120C80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1600">
                <a:solidFill>
                  <a:srgbClr val="120C80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1600">
                <a:solidFill>
                  <a:srgbClr val="120C80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1600">
                <a:solidFill>
                  <a:srgbClr val="120C80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1600">
                <a:solidFill>
                  <a:srgbClr val="120C80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rgbClr val="120C80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rgbClr val="120C80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rgbClr val="120C80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rgbClr val="120C80"/>
                </a:solidFill>
                <a:latin typeface="Arial" charset="0"/>
                <a:cs typeface="Arial" charset="0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sz="1000" dirty="0">
                <a:solidFill>
                  <a:srgbClr val="5E676E"/>
                </a:solidFill>
              </a:rPr>
              <a:t>© 2024 FMI Modelica Association Project | www.fmi-standard.org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ctrTitle"/>
          </p:nvPr>
        </p:nvSpPr>
        <p:spPr>
          <a:xfrm>
            <a:off x="1301539" y="3448808"/>
            <a:ext cx="9755716" cy="511442"/>
          </a:xfrm>
        </p:spPr>
        <p:txBody>
          <a:bodyPr bIns="43200">
            <a:spAutoFit/>
          </a:bodyPr>
          <a:lstStyle>
            <a:lvl1pPr algn="ctr">
              <a:defRPr lang="de-DE" sz="3200" b="1" dirty="0">
                <a:solidFill>
                  <a:srgbClr val="C00000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5124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301539" y="4760007"/>
            <a:ext cx="9755716" cy="1256510"/>
          </a:xfrm>
        </p:spPr>
        <p:txBody>
          <a:bodyPr/>
          <a:lstStyle>
            <a:lvl1pPr>
              <a:lnSpc>
                <a:spcPct val="95000"/>
              </a:lnSpc>
              <a:spcAft>
                <a:spcPct val="0"/>
              </a:spcAft>
              <a:defRPr lang="de-DE" sz="1800" kern="1200" baseline="0" dirty="0">
                <a:solidFill>
                  <a:srgbClr val="5E676E"/>
                </a:solidFill>
                <a:latin typeface="Arial" charset="0"/>
                <a:ea typeface="+mn-ea"/>
                <a:cs typeface="Arial" charset="0"/>
              </a:defRPr>
            </a:lvl1pPr>
          </a:lstStyle>
          <a:p>
            <a:r>
              <a:rPr lang="de-DE"/>
              <a:t>Master-Untertitelformat bearbeiten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325571829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64119" y="1461331"/>
            <a:ext cx="11003744" cy="4760007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/>
            </a:lvl1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fr-FR" dirty="0"/>
          </a:p>
        </p:txBody>
      </p:sp>
      <p:sp>
        <p:nvSpPr>
          <p:cNvPr id="4" name="Titel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3416472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fr-FR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3392" y="1497013"/>
            <a:ext cx="5371008" cy="45132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fr-FR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1" y="1497013"/>
            <a:ext cx="5467351" cy="45132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150800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fr-FR"/>
          </a:p>
        </p:txBody>
      </p:sp>
      <p:sp>
        <p:nvSpPr>
          <p:cNvPr id="3" name="Inhaltsplatzhalter 4">
            <a:extLst>
              <a:ext uri="{FF2B5EF4-FFF2-40B4-BE49-F238E27FC236}">
                <a16:creationId xmlns:a16="http://schemas.microsoft.com/office/drawing/2014/main" id="{2BC5D906-5BA5-E421-156F-3C82D8A2879E}"/>
              </a:ext>
            </a:extLst>
          </p:cNvPr>
          <p:cNvSpPr>
            <a:spLocks noGrp="1"/>
          </p:cNvSpPr>
          <p:nvPr>
            <p:ph sz="quarter" idx="1" hasCustomPrompt="1"/>
          </p:nvPr>
        </p:nvSpPr>
        <p:spPr>
          <a:xfrm>
            <a:off x="620184" y="1440370"/>
            <a:ext cx="11040533" cy="4713212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1152831111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05522290"/>
      </p:ext>
    </p:extLst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/>
              <a:t>Mastertitelformat bearbeiten</a:t>
            </a:r>
            <a:endParaRPr lang="fr-FR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de-DE" noProof="0"/>
              <a:t>Bild durch Klicken auf Symbol hinzufügen</a:t>
            </a:r>
            <a:endParaRPr lang="fr-FR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4047695330"/>
      </p:ext>
    </p:extLst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 Content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DE43D273-A15E-4B64-AFD2-1388D749B69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8066" y="720185"/>
            <a:ext cx="11735396" cy="432111"/>
          </a:xfrm>
        </p:spPr>
        <p:txBody>
          <a:bodyPr/>
          <a:lstStyle>
            <a:lvl1pPr>
              <a:defRPr kern="1200" baseline="0"/>
            </a:lvl1pPr>
          </a:lstStyle>
          <a:p>
            <a:r>
              <a:rPr lang="en-US" noProof="1"/>
              <a:t>Folienüberschrift hinzufügen</a:t>
            </a:r>
          </a:p>
        </p:txBody>
      </p:sp>
      <p:sp>
        <p:nvSpPr>
          <p:cNvPr id="15" name="Chapter_titleonly">
            <a:extLst>
              <a:ext uri="{FF2B5EF4-FFF2-40B4-BE49-F238E27FC236}">
                <a16:creationId xmlns:a16="http://schemas.microsoft.com/office/drawing/2014/main" id="{5B281E01-A653-4813-BC65-8900B31D115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28066" y="288074"/>
            <a:ext cx="11735396" cy="432111"/>
          </a:xfrm>
        </p:spPr>
        <p:txBody>
          <a:bodyPr/>
          <a:lstStyle>
            <a:lvl1pPr marL="0" indent="0">
              <a:lnSpc>
                <a:spcPct val="89000"/>
              </a:lnSpc>
              <a:spcBef>
                <a:spcPts val="0"/>
              </a:spcBef>
              <a:buNone/>
              <a:defRPr sz="3112" kern="0" baseline="0">
                <a:solidFill>
                  <a:schemeClr val="tx1"/>
                </a:solidFill>
              </a:defRPr>
            </a:lvl1pPr>
            <a:lvl2pPr marL="260049" indent="0">
              <a:buNone/>
              <a:defRPr sz="3112"/>
            </a:lvl2pPr>
            <a:lvl3pPr marL="584110" indent="0">
              <a:buNone/>
              <a:defRPr sz="3112"/>
            </a:lvl3pPr>
            <a:lvl4pPr marL="832155" indent="0">
              <a:buNone/>
              <a:defRPr sz="3112"/>
            </a:lvl4pPr>
            <a:lvl5pPr marL="832155" indent="0">
              <a:buNone/>
              <a:defRPr sz="3112"/>
            </a:lvl5pPr>
          </a:lstStyle>
          <a:p>
            <a:pPr lvl="0"/>
            <a:r>
              <a:rPr lang="en-US" noProof="1"/>
              <a:t>Kapitel­überschrift hinzufügen</a:t>
            </a:r>
          </a:p>
        </p:txBody>
      </p:sp>
      <p:sp>
        <p:nvSpPr>
          <p:cNvPr id="10" name="AttachmentRemark">
            <a:extLst>
              <a:ext uri="{FF2B5EF4-FFF2-40B4-BE49-F238E27FC236}">
                <a16:creationId xmlns:a16="http://schemas.microsoft.com/office/drawing/2014/main" id="{8883D326-CEAD-4903-8269-B2D194C3C224}"/>
              </a:ext>
            </a:extLst>
          </p:cNvPr>
          <p:cNvSpPr>
            <a:spLocks/>
          </p:cNvSpPr>
          <p:nvPr userDrawn="1"/>
        </p:nvSpPr>
        <p:spPr>
          <a:xfrm>
            <a:off x="10251866" y="287941"/>
            <a:ext cx="1880144" cy="863822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9760" rIns="0" bIns="0" rtlCol="0" anchor="t">
            <a:normAutofit/>
          </a:bodyPr>
          <a:lstStyle/>
          <a:p>
            <a:pPr rtl="0">
              <a:lnSpc>
                <a:spcPts val="1000"/>
              </a:lnSpc>
            </a:pPr>
            <a:r>
              <a:rPr lang="en-US" sz="611" b="0" i="0" u="none" strike="noStrike" kern="0" baseline="0" noProof="1">
                <a:solidFill>
                  <a:srgbClr val="000000"/>
                </a:solidFill>
                <a:latin typeface="+mn-lt"/>
              </a:rPr>
              <a:t> </a:t>
            </a:r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4D46C5CB-CB38-4AD2-99D2-34C738DF30C0}"/>
              </a:ext>
            </a:extLst>
          </p:cNvPr>
          <p:cNvSpPr>
            <a:spLocks noGrp="1"/>
          </p:cNvSpPr>
          <p:nvPr>
            <p:ph sz="quarter" idx="1" hasCustomPrompt="1"/>
          </p:nvPr>
        </p:nvSpPr>
        <p:spPr>
          <a:xfrm>
            <a:off x="228066" y="1440370"/>
            <a:ext cx="11735396" cy="4713212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83261F3-E57F-4170-BD7E-F44931BED2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‹Nr.›</a:t>
            </a:fld>
            <a:endParaRPr lang="en-US" noProof="1"/>
          </a:p>
        </p:txBody>
      </p:sp>
    </p:spTree>
    <p:extLst>
      <p:ext uri="{BB962C8B-B14F-4D97-AF65-F5344CB8AC3E}">
        <p14:creationId xmlns:p14="http://schemas.microsoft.com/office/powerpoint/2010/main" val="3431386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28">
          <p15:clr>
            <a:srgbClr val="FBAE40"/>
          </p15:clr>
        </p15:guide>
        <p15:guide id="2" pos="6784">
          <p15:clr>
            <a:srgbClr val="FBAE40"/>
          </p15:clr>
        </p15:guide>
        <p15:guide id="3" orient="horz" pos="162">
          <p15:clr>
            <a:srgbClr val="FBAE40"/>
          </p15:clr>
        </p15:guide>
        <p15:guide id="4" orient="horz" pos="408">
          <p15:clr>
            <a:srgbClr val="FBAE40"/>
          </p15:clr>
        </p15:guide>
        <p15:guide id="5" orient="horz" pos="654">
          <p15:clr>
            <a:srgbClr val="FBAE40"/>
          </p15:clr>
        </p15:guide>
        <p15:guide id="6" orient="horz" pos="816">
          <p15:clr>
            <a:srgbClr val="FBAE40"/>
          </p15:clr>
        </p15:guide>
        <p15:guide id="7" orient="horz" pos="3489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theme" Target="../theme/theme2.xml"/><Relationship Id="rId3" Type="http://schemas.openxmlformats.org/officeDocument/2006/relationships/slideLayout" Target="../slideLayouts/slideLayout9.xml"/><Relationship Id="rId7" Type="http://schemas.openxmlformats.org/officeDocument/2006/relationships/slideLayout" Target="../slideLayouts/slideLayout13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6" Type="http://schemas.openxmlformats.org/officeDocument/2006/relationships/slideLayout" Target="../slideLayouts/slideLayout12.xml"/><Relationship Id="rId5" Type="http://schemas.openxmlformats.org/officeDocument/2006/relationships/slideLayout" Target="../slideLayouts/slideLayout11.xml"/><Relationship Id="rId4" Type="http://schemas.openxmlformats.org/officeDocument/2006/relationships/slideLayout" Target="../slideLayouts/slideLayout10.xml"/><Relationship Id="rId9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4">
            <a:extLst>
              <a:ext uri="{FF2B5EF4-FFF2-40B4-BE49-F238E27FC236}">
                <a16:creationId xmlns:a16="http://schemas.microsoft.com/office/drawing/2014/main" id="{4A481C86-0EB0-4659-8599-FB1BED336C7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20184" y="703263"/>
            <a:ext cx="11040533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Page master title</a:t>
            </a:r>
          </a:p>
        </p:txBody>
      </p:sp>
      <p:sp>
        <p:nvSpPr>
          <p:cNvPr id="1027" name="Rectangle 5">
            <a:extLst>
              <a:ext uri="{FF2B5EF4-FFF2-40B4-BE49-F238E27FC236}">
                <a16:creationId xmlns:a16="http://schemas.microsoft.com/office/drawing/2014/main" id="{3F7AA6AE-173C-471C-B562-46C348AAD67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20184" y="1470819"/>
            <a:ext cx="11040533" cy="4749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en-US" dirty="0"/>
              <a:t>Mastertextformat bearbeiten</a:t>
            </a:r>
          </a:p>
          <a:p>
            <a:pPr lvl="1"/>
            <a:r>
              <a:rPr lang="de-DE" altLang="en-US" dirty="0"/>
              <a:t>Zweite Ebene</a:t>
            </a:r>
          </a:p>
          <a:p>
            <a:pPr lvl="2"/>
            <a:r>
              <a:rPr lang="de-DE" altLang="en-US" dirty="0"/>
              <a:t>Dritte Ebene</a:t>
            </a:r>
          </a:p>
          <a:p>
            <a:pPr lvl="3"/>
            <a:r>
              <a:rPr lang="de-DE" altLang="en-US" dirty="0"/>
              <a:t>Vierte Ebene</a:t>
            </a:r>
          </a:p>
          <a:p>
            <a:pPr lvl="4"/>
            <a:r>
              <a:rPr lang="de-DE" altLang="en-US" dirty="0"/>
              <a:t>Fünfte Ebene</a:t>
            </a:r>
            <a:endParaRPr lang="en-US" altLang="en-US" dirty="0"/>
          </a:p>
        </p:txBody>
      </p:sp>
      <p:sp>
        <p:nvSpPr>
          <p:cNvPr id="1029" name="Rectangle 7">
            <a:extLst>
              <a:ext uri="{FF2B5EF4-FFF2-40B4-BE49-F238E27FC236}">
                <a16:creationId xmlns:a16="http://schemas.microsoft.com/office/drawing/2014/main" id="{803EADC3-11C7-4216-8817-8EA214D7F0B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12234" y="6391275"/>
            <a:ext cx="3810931" cy="2484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36000" bIns="46800">
            <a:spAutoFit/>
          </a:bodyPr>
          <a:lstStyle>
            <a:lvl1pPr eaLnBrk="0" hangingPunct="0">
              <a:defRPr sz="1600">
                <a:solidFill>
                  <a:srgbClr val="120C80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1600">
                <a:solidFill>
                  <a:srgbClr val="120C80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1600">
                <a:solidFill>
                  <a:srgbClr val="120C80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1600">
                <a:solidFill>
                  <a:srgbClr val="120C80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1600">
                <a:solidFill>
                  <a:srgbClr val="120C80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rgbClr val="120C80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rgbClr val="120C80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rgbClr val="120C80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rgbClr val="120C80"/>
                </a:solidFill>
                <a:latin typeface="Arial" charset="0"/>
                <a:cs typeface="Arial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altLang="en-US" sz="1000" dirty="0">
                <a:solidFill>
                  <a:srgbClr val="C00000"/>
                </a:solidFill>
              </a:rPr>
              <a:t>© 2024 FMI Modelica Association Project | www.fmi-standard.org</a:t>
            </a:r>
          </a:p>
        </p:txBody>
      </p:sp>
      <p:sp>
        <p:nvSpPr>
          <p:cNvPr id="1030" name="Rectangle 8">
            <a:extLst>
              <a:ext uri="{FF2B5EF4-FFF2-40B4-BE49-F238E27FC236}">
                <a16:creationId xmlns:a16="http://schemas.microsoft.com/office/drawing/2014/main" id="{2C3C27CE-FEF9-4C65-AC15-1FD889E5B59C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1288105" y="6391275"/>
            <a:ext cx="385313" cy="2484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36000" bIns="46800">
            <a:spAutoFit/>
          </a:bodyPr>
          <a:lstStyle>
            <a:lvl1pPr eaLnBrk="0" hangingPunct="0">
              <a:defRPr sz="1600">
                <a:solidFill>
                  <a:srgbClr val="120C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>
                <a:solidFill>
                  <a:srgbClr val="120C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>
                <a:solidFill>
                  <a:srgbClr val="120C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>
                <a:solidFill>
                  <a:srgbClr val="120C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>
                <a:solidFill>
                  <a:srgbClr val="120C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rgbClr val="120C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rgbClr val="120C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rgbClr val="120C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rgbClr val="120C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>
              <a:spcBef>
                <a:spcPct val="50000"/>
              </a:spcBef>
              <a:defRPr/>
            </a:pPr>
            <a:fld id="{60E12587-5785-4F82-9271-E67CE8CC889B}" type="slidenum">
              <a:rPr lang="de-DE" altLang="en-US" sz="1000" smtClean="0">
                <a:solidFill>
                  <a:srgbClr val="C00000"/>
                </a:solidFill>
              </a:rPr>
              <a:pPr algn="r">
                <a:spcBef>
                  <a:spcPct val="50000"/>
                </a:spcBef>
                <a:defRPr/>
              </a:pPr>
              <a:t>‹Nr.›</a:t>
            </a:fld>
            <a:endParaRPr lang="de-DE" altLang="en-US" sz="1000" dirty="0">
              <a:solidFill>
                <a:srgbClr val="C00000"/>
              </a:solidFill>
            </a:endParaRPr>
          </a:p>
        </p:txBody>
      </p:sp>
      <p:cxnSp>
        <p:nvCxnSpPr>
          <p:cNvPr id="2" name="Gerade Verbindung 17">
            <a:extLst>
              <a:ext uri="{FF2B5EF4-FFF2-40B4-BE49-F238E27FC236}">
                <a16:creationId xmlns:a16="http://schemas.microsoft.com/office/drawing/2014/main" id="{A54CB9AE-F6C2-4360-A3A1-E1284117E8CE}"/>
              </a:ext>
            </a:extLst>
          </p:cNvPr>
          <p:cNvCxnSpPr>
            <a:cxnSpLocks noChangeShapeType="1"/>
          </p:cNvCxnSpPr>
          <p:nvPr userDrawn="1"/>
        </p:nvCxnSpPr>
        <p:spPr bwMode="auto">
          <a:xfrm>
            <a:off x="624418" y="6342063"/>
            <a:ext cx="11025716" cy="0"/>
          </a:xfrm>
          <a:prstGeom prst="line">
            <a:avLst/>
          </a:prstGeom>
          <a:noFill/>
          <a:ln w="25400" algn="ctr">
            <a:solidFill>
              <a:srgbClr val="C9133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32" name="Gerade Verbindung 25">
            <a:extLst>
              <a:ext uri="{FF2B5EF4-FFF2-40B4-BE49-F238E27FC236}">
                <a16:creationId xmlns:a16="http://schemas.microsoft.com/office/drawing/2014/main" id="{03FE9DB0-6C5D-4F81-8FD9-76F0388817E0}"/>
              </a:ext>
            </a:extLst>
          </p:cNvPr>
          <p:cNvCxnSpPr>
            <a:cxnSpLocks noChangeShapeType="1"/>
          </p:cNvCxnSpPr>
          <p:nvPr userDrawn="1"/>
        </p:nvCxnSpPr>
        <p:spPr bwMode="auto">
          <a:xfrm>
            <a:off x="624417" y="595313"/>
            <a:ext cx="9514416" cy="0"/>
          </a:xfrm>
          <a:prstGeom prst="line">
            <a:avLst/>
          </a:prstGeom>
          <a:noFill/>
          <a:ln w="25400" algn="ctr">
            <a:solidFill>
              <a:srgbClr val="C9133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pic>
        <p:nvPicPr>
          <p:cNvPr id="4" name="Grafik 3">
            <a:extLst>
              <a:ext uri="{FF2B5EF4-FFF2-40B4-BE49-F238E27FC236}">
                <a16:creationId xmlns:a16="http://schemas.microsoft.com/office/drawing/2014/main" id="{6791679E-0829-41EF-8E10-9F455B579B86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73360" y="168844"/>
            <a:ext cx="1276774" cy="449489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5373" r:id="rId1"/>
    <p:sldLayoutId id="2147485368" r:id="rId2"/>
    <p:sldLayoutId id="2147485369" r:id="rId3"/>
    <p:sldLayoutId id="2147485370" r:id="rId4"/>
    <p:sldLayoutId id="2147485371" r:id="rId5"/>
    <p:sldLayoutId id="2147485372" r:id="rId6"/>
  </p:sldLayoutIdLst>
  <p:transition/>
  <p:hf sldNum="0" hdr="0" dt="0"/>
  <p:txStyles>
    <p:titleStyle>
      <a:lvl1pPr algn="l" rtl="0" eaLnBrk="1" fontAlgn="base" hangingPunct="1">
        <a:lnSpc>
          <a:spcPct val="95000"/>
        </a:lnSpc>
        <a:spcBef>
          <a:spcPct val="0"/>
        </a:spcBef>
        <a:spcAft>
          <a:spcPct val="0"/>
        </a:spcAft>
        <a:defRPr sz="2800" b="1">
          <a:solidFill>
            <a:srgbClr val="5E676E"/>
          </a:solidFill>
          <a:latin typeface="+mj-lt"/>
          <a:ea typeface="+mj-ea"/>
          <a:cs typeface="+mj-cs"/>
        </a:defRPr>
      </a:lvl1pPr>
      <a:lvl2pPr algn="l" rtl="0" eaLnBrk="1" fontAlgn="base" hangingPunct="1">
        <a:lnSpc>
          <a:spcPct val="95000"/>
        </a:lnSpc>
        <a:spcBef>
          <a:spcPct val="0"/>
        </a:spcBef>
        <a:spcAft>
          <a:spcPct val="0"/>
        </a:spcAft>
        <a:defRPr sz="2800" b="1">
          <a:solidFill>
            <a:schemeClr val="accent2"/>
          </a:solidFill>
          <a:latin typeface="Arial" charset="0"/>
        </a:defRPr>
      </a:lvl2pPr>
      <a:lvl3pPr algn="l" rtl="0" eaLnBrk="1" fontAlgn="base" hangingPunct="1">
        <a:lnSpc>
          <a:spcPct val="95000"/>
        </a:lnSpc>
        <a:spcBef>
          <a:spcPct val="0"/>
        </a:spcBef>
        <a:spcAft>
          <a:spcPct val="0"/>
        </a:spcAft>
        <a:defRPr sz="2800" b="1">
          <a:solidFill>
            <a:schemeClr val="accent2"/>
          </a:solidFill>
          <a:latin typeface="Arial" charset="0"/>
        </a:defRPr>
      </a:lvl3pPr>
      <a:lvl4pPr algn="l" rtl="0" eaLnBrk="1" fontAlgn="base" hangingPunct="1">
        <a:lnSpc>
          <a:spcPct val="95000"/>
        </a:lnSpc>
        <a:spcBef>
          <a:spcPct val="0"/>
        </a:spcBef>
        <a:spcAft>
          <a:spcPct val="0"/>
        </a:spcAft>
        <a:defRPr sz="2800" b="1">
          <a:solidFill>
            <a:schemeClr val="accent2"/>
          </a:solidFill>
          <a:latin typeface="Arial" charset="0"/>
        </a:defRPr>
      </a:lvl4pPr>
      <a:lvl5pPr algn="l" rtl="0" eaLnBrk="1" fontAlgn="base" hangingPunct="1">
        <a:lnSpc>
          <a:spcPct val="95000"/>
        </a:lnSpc>
        <a:spcBef>
          <a:spcPct val="0"/>
        </a:spcBef>
        <a:spcAft>
          <a:spcPct val="0"/>
        </a:spcAft>
        <a:defRPr sz="2800" b="1">
          <a:solidFill>
            <a:schemeClr val="accent2"/>
          </a:solidFill>
          <a:latin typeface="Arial" charset="0"/>
        </a:defRPr>
      </a:lvl5pPr>
      <a:lvl6pPr marL="457200" algn="l" rtl="0" eaLnBrk="1" fontAlgn="base" hangingPunct="1">
        <a:lnSpc>
          <a:spcPct val="95000"/>
        </a:lnSpc>
        <a:spcBef>
          <a:spcPct val="0"/>
        </a:spcBef>
        <a:spcAft>
          <a:spcPct val="0"/>
        </a:spcAft>
        <a:defRPr sz="2800" b="1">
          <a:solidFill>
            <a:schemeClr val="bg2"/>
          </a:solidFill>
          <a:latin typeface="Arial" charset="0"/>
        </a:defRPr>
      </a:lvl6pPr>
      <a:lvl7pPr marL="914400" algn="l" rtl="0" eaLnBrk="1" fontAlgn="base" hangingPunct="1">
        <a:lnSpc>
          <a:spcPct val="95000"/>
        </a:lnSpc>
        <a:spcBef>
          <a:spcPct val="0"/>
        </a:spcBef>
        <a:spcAft>
          <a:spcPct val="0"/>
        </a:spcAft>
        <a:defRPr sz="2800" b="1">
          <a:solidFill>
            <a:schemeClr val="bg2"/>
          </a:solidFill>
          <a:latin typeface="Arial" charset="0"/>
        </a:defRPr>
      </a:lvl7pPr>
      <a:lvl8pPr marL="1371600" algn="l" rtl="0" eaLnBrk="1" fontAlgn="base" hangingPunct="1">
        <a:lnSpc>
          <a:spcPct val="95000"/>
        </a:lnSpc>
        <a:spcBef>
          <a:spcPct val="0"/>
        </a:spcBef>
        <a:spcAft>
          <a:spcPct val="0"/>
        </a:spcAft>
        <a:defRPr sz="2800" b="1">
          <a:solidFill>
            <a:schemeClr val="bg2"/>
          </a:solidFill>
          <a:latin typeface="Arial" charset="0"/>
        </a:defRPr>
      </a:lvl8pPr>
      <a:lvl9pPr marL="1828800" algn="l" rtl="0" eaLnBrk="1" fontAlgn="base" hangingPunct="1">
        <a:lnSpc>
          <a:spcPct val="95000"/>
        </a:lnSpc>
        <a:spcBef>
          <a:spcPct val="0"/>
        </a:spcBef>
        <a:spcAft>
          <a:spcPct val="0"/>
        </a:spcAft>
        <a:defRPr sz="2800" b="1">
          <a:solidFill>
            <a:schemeClr val="bg2"/>
          </a:solidFill>
          <a:latin typeface="Arial" charset="0"/>
        </a:defRPr>
      </a:lvl9pPr>
    </p:titleStyle>
    <p:bodyStyle>
      <a:lvl1pPr marL="342900" indent="-342900" algn="l" rtl="0" eaLnBrk="1" fontAlgn="base" hangingPunct="1">
        <a:spcBef>
          <a:spcPct val="0"/>
        </a:spcBef>
        <a:spcAft>
          <a:spcPct val="30000"/>
        </a:spcAft>
        <a:buSzPct val="75000"/>
        <a:defRPr sz="2000">
          <a:solidFill>
            <a:srgbClr val="5E676E"/>
          </a:solidFill>
          <a:latin typeface="+mn-lt"/>
          <a:ea typeface="+mn-ea"/>
          <a:cs typeface="+mn-cs"/>
        </a:defRPr>
      </a:lvl1pPr>
      <a:lvl2pPr marL="265113" indent="-263525" algn="l" rtl="0" eaLnBrk="1" fontAlgn="base" hangingPunct="1">
        <a:spcBef>
          <a:spcPct val="0"/>
        </a:spcBef>
        <a:spcAft>
          <a:spcPct val="30000"/>
        </a:spcAft>
        <a:buClr>
          <a:srgbClr val="120C80"/>
        </a:buClr>
        <a:buSzPct val="100000"/>
        <a:buFont typeface="Wingdings" panose="05000000000000000000" pitchFamily="2" charset="2"/>
        <a:buChar char="§"/>
        <a:defRPr>
          <a:solidFill>
            <a:srgbClr val="5E676E"/>
          </a:solidFill>
          <a:latin typeface="+mn-lt"/>
        </a:defRPr>
      </a:lvl2pPr>
      <a:lvl3pPr marL="536575" indent="-265113" algn="l" rtl="0" eaLnBrk="1" fontAlgn="base" hangingPunct="1">
        <a:spcBef>
          <a:spcPct val="0"/>
        </a:spcBef>
        <a:spcAft>
          <a:spcPct val="30000"/>
        </a:spcAft>
        <a:buClr>
          <a:srgbClr val="120C80"/>
        </a:buClr>
        <a:buSzPct val="90000"/>
        <a:buFont typeface="Wingdings" panose="05000000000000000000" pitchFamily="2" charset="2"/>
        <a:buChar char="§"/>
        <a:defRPr sz="1800">
          <a:solidFill>
            <a:srgbClr val="5E676E"/>
          </a:solidFill>
          <a:latin typeface="+mn-lt"/>
        </a:defRPr>
      </a:lvl3pPr>
      <a:lvl4pPr marL="803275" indent="-265113" algn="l" defTabSz="896938" rtl="0" eaLnBrk="1" fontAlgn="base" hangingPunct="1">
        <a:spcBef>
          <a:spcPct val="0"/>
        </a:spcBef>
        <a:spcAft>
          <a:spcPct val="30000"/>
        </a:spcAft>
        <a:buClr>
          <a:schemeClr val="bg2"/>
        </a:buClr>
        <a:buSzPct val="85000"/>
        <a:buFont typeface="Wingdings" panose="05000000000000000000" pitchFamily="2" charset="2"/>
        <a:buChar char="§"/>
        <a:defRPr sz="1600">
          <a:solidFill>
            <a:srgbClr val="5E676E"/>
          </a:solidFill>
          <a:latin typeface="+mn-lt"/>
        </a:defRPr>
      </a:lvl4pPr>
      <a:lvl5pPr marL="982663" indent="-177800" algn="l" rtl="0" eaLnBrk="1" fontAlgn="base" hangingPunct="1">
        <a:spcBef>
          <a:spcPct val="0"/>
        </a:spcBef>
        <a:spcAft>
          <a:spcPct val="30000"/>
        </a:spcAft>
        <a:buClr>
          <a:schemeClr val="bg2"/>
        </a:buClr>
        <a:buSzPct val="75000"/>
        <a:buChar char="-"/>
        <a:defRPr sz="1600">
          <a:solidFill>
            <a:srgbClr val="5E676E"/>
          </a:solidFill>
          <a:latin typeface="+mn-lt"/>
        </a:defRPr>
      </a:lvl5pPr>
      <a:lvl6pPr marL="1533525" indent="-177800" algn="l" rtl="0" eaLnBrk="1" fontAlgn="base" hangingPunct="1">
        <a:spcBef>
          <a:spcPct val="0"/>
        </a:spcBef>
        <a:spcAft>
          <a:spcPct val="30000"/>
        </a:spcAft>
        <a:buClr>
          <a:schemeClr val="bg2"/>
        </a:buClr>
        <a:buSzPct val="75000"/>
        <a:buChar char="-"/>
        <a:defRPr sz="1400">
          <a:solidFill>
            <a:schemeClr val="tx1"/>
          </a:solidFill>
          <a:latin typeface="+mn-lt"/>
        </a:defRPr>
      </a:lvl6pPr>
      <a:lvl7pPr marL="1990725" indent="-177800" algn="l" rtl="0" eaLnBrk="1" fontAlgn="base" hangingPunct="1">
        <a:spcBef>
          <a:spcPct val="0"/>
        </a:spcBef>
        <a:spcAft>
          <a:spcPct val="30000"/>
        </a:spcAft>
        <a:buClr>
          <a:schemeClr val="bg2"/>
        </a:buClr>
        <a:buSzPct val="75000"/>
        <a:buChar char="-"/>
        <a:defRPr sz="1400">
          <a:solidFill>
            <a:schemeClr val="tx1"/>
          </a:solidFill>
          <a:latin typeface="+mn-lt"/>
        </a:defRPr>
      </a:lvl7pPr>
      <a:lvl8pPr marL="2447925" indent="-177800" algn="l" rtl="0" eaLnBrk="1" fontAlgn="base" hangingPunct="1">
        <a:spcBef>
          <a:spcPct val="0"/>
        </a:spcBef>
        <a:spcAft>
          <a:spcPct val="30000"/>
        </a:spcAft>
        <a:buClr>
          <a:schemeClr val="bg2"/>
        </a:buClr>
        <a:buSzPct val="75000"/>
        <a:buChar char="-"/>
        <a:defRPr sz="1400">
          <a:solidFill>
            <a:schemeClr val="tx1"/>
          </a:solidFill>
          <a:latin typeface="+mn-lt"/>
        </a:defRPr>
      </a:lvl8pPr>
      <a:lvl9pPr marL="2905125" indent="-177800" algn="l" rtl="0" eaLnBrk="1" fontAlgn="base" hangingPunct="1">
        <a:spcBef>
          <a:spcPct val="0"/>
        </a:spcBef>
        <a:spcAft>
          <a:spcPct val="30000"/>
        </a:spcAft>
        <a:buClr>
          <a:schemeClr val="bg2"/>
        </a:buClr>
        <a:buSzPct val="75000"/>
        <a:buChar char="-"/>
        <a:defRPr sz="14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4">
            <a:extLst>
              <a:ext uri="{FF2B5EF4-FFF2-40B4-BE49-F238E27FC236}">
                <a16:creationId xmlns:a16="http://schemas.microsoft.com/office/drawing/2014/main" id="{4A481C86-0EB0-4659-8599-FB1BED336C7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20184" y="765969"/>
            <a:ext cx="11040533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Page master title</a:t>
            </a:r>
          </a:p>
        </p:txBody>
      </p:sp>
      <p:sp>
        <p:nvSpPr>
          <p:cNvPr id="1027" name="Rectangle 5">
            <a:extLst>
              <a:ext uri="{FF2B5EF4-FFF2-40B4-BE49-F238E27FC236}">
                <a16:creationId xmlns:a16="http://schemas.microsoft.com/office/drawing/2014/main" id="{3F7AA6AE-173C-471C-B562-46C348AAD67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20184" y="1470819"/>
            <a:ext cx="11040533" cy="4749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en-US" dirty="0"/>
              <a:t>Mastertextformat bearbeiten</a:t>
            </a:r>
          </a:p>
          <a:p>
            <a:pPr lvl="1"/>
            <a:r>
              <a:rPr lang="de-DE" altLang="en-US" dirty="0"/>
              <a:t>Zweite Ebene</a:t>
            </a:r>
          </a:p>
          <a:p>
            <a:pPr lvl="2"/>
            <a:r>
              <a:rPr lang="de-DE" altLang="en-US" dirty="0"/>
              <a:t>Dritte Ebene</a:t>
            </a:r>
          </a:p>
          <a:p>
            <a:pPr lvl="3"/>
            <a:r>
              <a:rPr lang="de-DE" altLang="en-US" dirty="0"/>
              <a:t>Vierte Ebene</a:t>
            </a:r>
          </a:p>
          <a:p>
            <a:pPr lvl="4"/>
            <a:r>
              <a:rPr lang="de-DE" altLang="en-US" dirty="0"/>
              <a:t>Fünfte Ebene</a:t>
            </a:r>
            <a:endParaRPr lang="en-US" altLang="en-US" dirty="0"/>
          </a:p>
        </p:txBody>
      </p:sp>
      <p:sp>
        <p:nvSpPr>
          <p:cNvPr id="1029" name="Rectangle 7">
            <a:extLst>
              <a:ext uri="{FF2B5EF4-FFF2-40B4-BE49-F238E27FC236}">
                <a16:creationId xmlns:a16="http://schemas.microsoft.com/office/drawing/2014/main" id="{803EADC3-11C7-4216-8817-8EA214D7F0B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12234" y="6391275"/>
            <a:ext cx="3775665" cy="2484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36000" bIns="46800">
            <a:spAutoFit/>
          </a:bodyPr>
          <a:lstStyle>
            <a:lvl1pPr eaLnBrk="0" hangingPunct="0">
              <a:defRPr sz="1600">
                <a:solidFill>
                  <a:srgbClr val="120C80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1600">
                <a:solidFill>
                  <a:srgbClr val="120C80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1600">
                <a:solidFill>
                  <a:srgbClr val="120C80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1600">
                <a:solidFill>
                  <a:srgbClr val="120C80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1600">
                <a:solidFill>
                  <a:srgbClr val="120C80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rgbClr val="120C80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rgbClr val="120C80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rgbClr val="120C80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rgbClr val="120C80"/>
                </a:solidFill>
                <a:latin typeface="Arial" charset="0"/>
                <a:cs typeface="Arial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altLang="en-US" sz="1000" dirty="0">
                <a:solidFill>
                  <a:srgbClr val="C00000"/>
                </a:solidFill>
              </a:rPr>
              <a:t>© 2024 Modelica Association Project FMI | www.fmi-standard.org</a:t>
            </a:r>
          </a:p>
        </p:txBody>
      </p:sp>
      <p:sp>
        <p:nvSpPr>
          <p:cNvPr id="1030" name="Rectangle 8">
            <a:extLst>
              <a:ext uri="{FF2B5EF4-FFF2-40B4-BE49-F238E27FC236}">
                <a16:creationId xmlns:a16="http://schemas.microsoft.com/office/drawing/2014/main" id="{2C3C27CE-FEF9-4C65-AC15-1FD889E5B59C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1288105" y="6391275"/>
            <a:ext cx="385313" cy="2484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36000" bIns="46800">
            <a:spAutoFit/>
          </a:bodyPr>
          <a:lstStyle>
            <a:lvl1pPr eaLnBrk="0" hangingPunct="0">
              <a:defRPr sz="1600">
                <a:solidFill>
                  <a:srgbClr val="120C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>
                <a:solidFill>
                  <a:srgbClr val="120C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>
                <a:solidFill>
                  <a:srgbClr val="120C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>
                <a:solidFill>
                  <a:srgbClr val="120C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>
                <a:solidFill>
                  <a:srgbClr val="120C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rgbClr val="120C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rgbClr val="120C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rgbClr val="120C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rgbClr val="120C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>
              <a:spcBef>
                <a:spcPct val="50000"/>
              </a:spcBef>
              <a:defRPr/>
            </a:pPr>
            <a:fld id="{60E12587-5785-4F82-9271-E67CE8CC889B}" type="slidenum">
              <a:rPr lang="de-DE" altLang="en-US" sz="1000" smtClean="0">
                <a:solidFill>
                  <a:srgbClr val="C00000"/>
                </a:solidFill>
              </a:rPr>
              <a:pPr algn="r">
                <a:spcBef>
                  <a:spcPct val="50000"/>
                </a:spcBef>
                <a:defRPr/>
              </a:pPr>
              <a:t>‹Nr.›</a:t>
            </a:fld>
            <a:endParaRPr lang="de-DE" altLang="en-US" sz="1000" dirty="0">
              <a:solidFill>
                <a:srgbClr val="C00000"/>
              </a:solidFill>
            </a:endParaRPr>
          </a:p>
        </p:txBody>
      </p:sp>
      <p:cxnSp>
        <p:nvCxnSpPr>
          <p:cNvPr id="2" name="Gerade Verbindung 17">
            <a:extLst>
              <a:ext uri="{FF2B5EF4-FFF2-40B4-BE49-F238E27FC236}">
                <a16:creationId xmlns:a16="http://schemas.microsoft.com/office/drawing/2014/main" id="{A54CB9AE-F6C2-4360-A3A1-E1284117E8CE}"/>
              </a:ext>
            </a:extLst>
          </p:cNvPr>
          <p:cNvCxnSpPr>
            <a:cxnSpLocks noChangeShapeType="1"/>
          </p:cNvCxnSpPr>
          <p:nvPr userDrawn="1"/>
        </p:nvCxnSpPr>
        <p:spPr bwMode="auto">
          <a:xfrm>
            <a:off x="624418" y="6342063"/>
            <a:ext cx="11025716" cy="0"/>
          </a:xfrm>
          <a:prstGeom prst="line">
            <a:avLst/>
          </a:prstGeom>
          <a:noFill/>
          <a:ln w="25400" algn="ctr">
            <a:solidFill>
              <a:srgbClr val="C9133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32" name="Gerade Verbindung 25">
            <a:extLst>
              <a:ext uri="{FF2B5EF4-FFF2-40B4-BE49-F238E27FC236}">
                <a16:creationId xmlns:a16="http://schemas.microsoft.com/office/drawing/2014/main" id="{03FE9DB0-6C5D-4F81-8FD9-76F0388817E0}"/>
              </a:ext>
            </a:extLst>
          </p:cNvPr>
          <p:cNvCxnSpPr>
            <a:cxnSpLocks noChangeShapeType="1"/>
          </p:cNvCxnSpPr>
          <p:nvPr userDrawn="1"/>
        </p:nvCxnSpPr>
        <p:spPr bwMode="auto">
          <a:xfrm>
            <a:off x="624417" y="595313"/>
            <a:ext cx="9514416" cy="0"/>
          </a:xfrm>
          <a:prstGeom prst="line">
            <a:avLst/>
          </a:prstGeom>
          <a:noFill/>
          <a:ln w="25400" algn="ctr">
            <a:solidFill>
              <a:srgbClr val="C9133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AD0A00B5-B7AC-4FC5-4A6E-E7EC27D60B1A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23995" y="208010"/>
            <a:ext cx="1139484" cy="4038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04291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375" r:id="rId1"/>
    <p:sldLayoutId id="2147485376" r:id="rId2"/>
    <p:sldLayoutId id="2147485377" r:id="rId3"/>
    <p:sldLayoutId id="2147485378" r:id="rId4"/>
    <p:sldLayoutId id="2147485379" r:id="rId5"/>
    <p:sldLayoutId id="2147485380" r:id="rId6"/>
    <p:sldLayoutId id="2147485381" r:id="rId7"/>
  </p:sldLayoutIdLst>
  <p:transition/>
  <p:txStyles>
    <p:titleStyle>
      <a:lvl1pPr algn="l" rtl="0" eaLnBrk="1" fontAlgn="base" hangingPunct="1">
        <a:lnSpc>
          <a:spcPct val="95000"/>
        </a:lnSpc>
        <a:spcBef>
          <a:spcPct val="0"/>
        </a:spcBef>
        <a:spcAft>
          <a:spcPct val="0"/>
        </a:spcAft>
        <a:defRPr sz="2800" b="1">
          <a:solidFill>
            <a:srgbClr val="5E676E"/>
          </a:solidFill>
          <a:latin typeface="+mj-lt"/>
          <a:ea typeface="+mj-ea"/>
          <a:cs typeface="+mj-cs"/>
        </a:defRPr>
      </a:lvl1pPr>
      <a:lvl2pPr algn="l" rtl="0" eaLnBrk="1" fontAlgn="base" hangingPunct="1">
        <a:lnSpc>
          <a:spcPct val="95000"/>
        </a:lnSpc>
        <a:spcBef>
          <a:spcPct val="0"/>
        </a:spcBef>
        <a:spcAft>
          <a:spcPct val="0"/>
        </a:spcAft>
        <a:defRPr sz="2800" b="1">
          <a:solidFill>
            <a:schemeClr val="accent2"/>
          </a:solidFill>
          <a:latin typeface="Arial" charset="0"/>
        </a:defRPr>
      </a:lvl2pPr>
      <a:lvl3pPr algn="l" rtl="0" eaLnBrk="1" fontAlgn="base" hangingPunct="1">
        <a:lnSpc>
          <a:spcPct val="95000"/>
        </a:lnSpc>
        <a:spcBef>
          <a:spcPct val="0"/>
        </a:spcBef>
        <a:spcAft>
          <a:spcPct val="0"/>
        </a:spcAft>
        <a:defRPr sz="2800" b="1">
          <a:solidFill>
            <a:schemeClr val="accent2"/>
          </a:solidFill>
          <a:latin typeface="Arial" charset="0"/>
        </a:defRPr>
      </a:lvl3pPr>
      <a:lvl4pPr algn="l" rtl="0" eaLnBrk="1" fontAlgn="base" hangingPunct="1">
        <a:lnSpc>
          <a:spcPct val="95000"/>
        </a:lnSpc>
        <a:spcBef>
          <a:spcPct val="0"/>
        </a:spcBef>
        <a:spcAft>
          <a:spcPct val="0"/>
        </a:spcAft>
        <a:defRPr sz="2800" b="1">
          <a:solidFill>
            <a:schemeClr val="accent2"/>
          </a:solidFill>
          <a:latin typeface="Arial" charset="0"/>
        </a:defRPr>
      </a:lvl4pPr>
      <a:lvl5pPr algn="l" rtl="0" eaLnBrk="1" fontAlgn="base" hangingPunct="1">
        <a:lnSpc>
          <a:spcPct val="95000"/>
        </a:lnSpc>
        <a:spcBef>
          <a:spcPct val="0"/>
        </a:spcBef>
        <a:spcAft>
          <a:spcPct val="0"/>
        </a:spcAft>
        <a:defRPr sz="2800" b="1">
          <a:solidFill>
            <a:schemeClr val="accent2"/>
          </a:solidFill>
          <a:latin typeface="Arial" charset="0"/>
        </a:defRPr>
      </a:lvl5pPr>
      <a:lvl6pPr marL="457200" algn="l" rtl="0" eaLnBrk="1" fontAlgn="base" hangingPunct="1">
        <a:lnSpc>
          <a:spcPct val="95000"/>
        </a:lnSpc>
        <a:spcBef>
          <a:spcPct val="0"/>
        </a:spcBef>
        <a:spcAft>
          <a:spcPct val="0"/>
        </a:spcAft>
        <a:defRPr sz="2800" b="1">
          <a:solidFill>
            <a:schemeClr val="bg2"/>
          </a:solidFill>
          <a:latin typeface="Arial" charset="0"/>
        </a:defRPr>
      </a:lvl6pPr>
      <a:lvl7pPr marL="914400" algn="l" rtl="0" eaLnBrk="1" fontAlgn="base" hangingPunct="1">
        <a:lnSpc>
          <a:spcPct val="95000"/>
        </a:lnSpc>
        <a:spcBef>
          <a:spcPct val="0"/>
        </a:spcBef>
        <a:spcAft>
          <a:spcPct val="0"/>
        </a:spcAft>
        <a:defRPr sz="2800" b="1">
          <a:solidFill>
            <a:schemeClr val="bg2"/>
          </a:solidFill>
          <a:latin typeface="Arial" charset="0"/>
        </a:defRPr>
      </a:lvl7pPr>
      <a:lvl8pPr marL="1371600" algn="l" rtl="0" eaLnBrk="1" fontAlgn="base" hangingPunct="1">
        <a:lnSpc>
          <a:spcPct val="95000"/>
        </a:lnSpc>
        <a:spcBef>
          <a:spcPct val="0"/>
        </a:spcBef>
        <a:spcAft>
          <a:spcPct val="0"/>
        </a:spcAft>
        <a:defRPr sz="2800" b="1">
          <a:solidFill>
            <a:schemeClr val="bg2"/>
          </a:solidFill>
          <a:latin typeface="Arial" charset="0"/>
        </a:defRPr>
      </a:lvl8pPr>
      <a:lvl9pPr marL="1828800" algn="l" rtl="0" eaLnBrk="1" fontAlgn="base" hangingPunct="1">
        <a:lnSpc>
          <a:spcPct val="95000"/>
        </a:lnSpc>
        <a:spcBef>
          <a:spcPct val="0"/>
        </a:spcBef>
        <a:spcAft>
          <a:spcPct val="0"/>
        </a:spcAft>
        <a:defRPr sz="2800" b="1">
          <a:solidFill>
            <a:schemeClr val="bg2"/>
          </a:solidFill>
          <a:latin typeface="Arial" charset="0"/>
        </a:defRPr>
      </a:lvl9pPr>
    </p:titleStyle>
    <p:bodyStyle>
      <a:lvl1pPr marL="342900" indent="-342900" algn="l" rtl="0" eaLnBrk="1" fontAlgn="base" hangingPunct="1">
        <a:spcBef>
          <a:spcPct val="0"/>
        </a:spcBef>
        <a:spcAft>
          <a:spcPct val="30000"/>
        </a:spcAft>
        <a:buSzPct val="75000"/>
        <a:defRPr sz="2000">
          <a:solidFill>
            <a:srgbClr val="5E676E"/>
          </a:solidFill>
          <a:latin typeface="+mn-lt"/>
          <a:ea typeface="+mn-ea"/>
          <a:cs typeface="+mn-cs"/>
        </a:defRPr>
      </a:lvl1pPr>
      <a:lvl2pPr marL="265113" indent="-263525" algn="l" rtl="0" eaLnBrk="1" fontAlgn="base" hangingPunct="1">
        <a:spcBef>
          <a:spcPct val="0"/>
        </a:spcBef>
        <a:spcAft>
          <a:spcPct val="30000"/>
        </a:spcAft>
        <a:buClr>
          <a:srgbClr val="120C80"/>
        </a:buClr>
        <a:buSzPct val="100000"/>
        <a:buFont typeface="Wingdings" panose="05000000000000000000" pitchFamily="2" charset="2"/>
        <a:buChar char="§"/>
        <a:defRPr>
          <a:solidFill>
            <a:srgbClr val="5E676E"/>
          </a:solidFill>
          <a:latin typeface="+mn-lt"/>
        </a:defRPr>
      </a:lvl2pPr>
      <a:lvl3pPr marL="536575" indent="-265113" algn="l" rtl="0" eaLnBrk="1" fontAlgn="base" hangingPunct="1">
        <a:spcBef>
          <a:spcPct val="0"/>
        </a:spcBef>
        <a:spcAft>
          <a:spcPct val="30000"/>
        </a:spcAft>
        <a:buClr>
          <a:srgbClr val="120C80"/>
        </a:buClr>
        <a:buSzPct val="90000"/>
        <a:buFont typeface="Wingdings" panose="05000000000000000000" pitchFamily="2" charset="2"/>
        <a:buChar char="§"/>
        <a:defRPr sz="1800">
          <a:solidFill>
            <a:srgbClr val="5E676E"/>
          </a:solidFill>
          <a:latin typeface="+mn-lt"/>
        </a:defRPr>
      </a:lvl3pPr>
      <a:lvl4pPr marL="803275" indent="-265113" algn="l" defTabSz="896938" rtl="0" eaLnBrk="1" fontAlgn="base" hangingPunct="1">
        <a:spcBef>
          <a:spcPct val="0"/>
        </a:spcBef>
        <a:spcAft>
          <a:spcPct val="30000"/>
        </a:spcAft>
        <a:buClr>
          <a:schemeClr val="bg2"/>
        </a:buClr>
        <a:buSzPct val="85000"/>
        <a:buFont typeface="Wingdings" panose="05000000000000000000" pitchFamily="2" charset="2"/>
        <a:buChar char="§"/>
        <a:defRPr sz="1600">
          <a:solidFill>
            <a:srgbClr val="5E676E"/>
          </a:solidFill>
          <a:latin typeface="+mn-lt"/>
        </a:defRPr>
      </a:lvl4pPr>
      <a:lvl5pPr marL="982663" indent="-177800" algn="l" rtl="0" eaLnBrk="1" fontAlgn="base" hangingPunct="1">
        <a:spcBef>
          <a:spcPct val="0"/>
        </a:spcBef>
        <a:spcAft>
          <a:spcPct val="30000"/>
        </a:spcAft>
        <a:buClr>
          <a:schemeClr val="bg2"/>
        </a:buClr>
        <a:buSzPct val="75000"/>
        <a:buChar char="-"/>
        <a:defRPr sz="1600">
          <a:solidFill>
            <a:srgbClr val="5E676E"/>
          </a:solidFill>
          <a:latin typeface="+mn-lt"/>
        </a:defRPr>
      </a:lvl5pPr>
      <a:lvl6pPr marL="1533525" indent="-177800" algn="l" rtl="0" eaLnBrk="1" fontAlgn="base" hangingPunct="1">
        <a:spcBef>
          <a:spcPct val="0"/>
        </a:spcBef>
        <a:spcAft>
          <a:spcPct val="30000"/>
        </a:spcAft>
        <a:buClr>
          <a:schemeClr val="bg2"/>
        </a:buClr>
        <a:buSzPct val="75000"/>
        <a:buChar char="-"/>
        <a:defRPr sz="1400">
          <a:solidFill>
            <a:schemeClr val="tx1"/>
          </a:solidFill>
          <a:latin typeface="+mn-lt"/>
        </a:defRPr>
      </a:lvl6pPr>
      <a:lvl7pPr marL="1990725" indent="-177800" algn="l" rtl="0" eaLnBrk="1" fontAlgn="base" hangingPunct="1">
        <a:spcBef>
          <a:spcPct val="0"/>
        </a:spcBef>
        <a:spcAft>
          <a:spcPct val="30000"/>
        </a:spcAft>
        <a:buClr>
          <a:schemeClr val="bg2"/>
        </a:buClr>
        <a:buSzPct val="75000"/>
        <a:buChar char="-"/>
        <a:defRPr sz="1400">
          <a:solidFill>
            <a:schemeClr val="tx1"/>
          </a:solidFill>
          <a:latin typeface="+mn-lt"/>
        </a:defRPr>
      </a:lvl7pPr>
      <a:lvl8pPr marL="2447925" indent="-177800" algn="l" rtl="0" eaLnBrk="1" fontAlgn="base" hangingPunct="1">
        <a:spcBef>
          <a:spcPct val="0"/>
        </a:spcBef>
        <a:spcAft>
          <a:spcPct val="30000"/>
        </a:spcAft>
        <a:buClr>
          <a:schemeClr val="bg2"/>
        </a:buClr>
        <a:buSzPct val="75000"/>
        <a:buChar char="-"/>
        <a:defRPr sz="1400">
          <a:solidFill>
            <a:schemeClr val="tx1"/>
          </a:solidFill>
          <a:latin typeface="+mn-lt"/>
        </a:defRPr>
      </a:lvl8pPr>
      <a:lvl9pPr marL="2905125" indent="-177800" algn="l" rtl="0" eaLnBrk="1" fontAlgn="base" hangingPunct="1">
        <a:spcBef>
          <a:spcPct val="0"/>
        </a:spcBef>
        <a:spcAft>
          <a:spcPct val="30000"/>
        </a:spcAft>
        <a:buClr>
          <a:schemeClr val="bg2"/>
        </a:buClr>
        <a:buSzPct val="75000"/>
        <a:buChar char="-"/>
        <a:defRPr sz="14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creativecommons.org/licenses/by-sa/4.0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hyperlink" Target="https://github.com/modelica/fmi-beginners-tutorial-2023/tree/main" TargetMode="Externa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urldefense.com/v3/__https:/github.com/modelica/fmi-ls-bus__;!!FbCVDoc3r24SyHFW!5l_S7VaMdkN0iUbwyc1QWMjSoM-4ajwim5JTJGcxHOcMteTDeFXbSgQLfNy15zVSTGnkWiz1iIR2F4dH8zt6890x6RTcUk4$" TargetMode="External"/><Relationship Id="rId2" Type="http://schemas.openxmlformats.org/officeDocument/2006/relationships/hyperlink" Target="https://urldefense.com/v3/__https:/github.com/modelica/fmi-ls-xcp__;!!FbCVDoc3r24SyHFW!5l_S7VaMdkN0iUbwyc1QWMjSoM-4ajwim5JTJGcxHOcMteTDeFXbSgQLfNy15zVSTGnkWiz1iIR2F4dH8zt6890xmtmCXYc$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jpg"/><Relationship Id="rId5" Type="http://schemas.openxmlformats.org/officeDocument/2006/relationships/hyperlink" Target="https://urldefense.com/v3/__https:/github.com/modelica/fmi-ls-ref__;!!FbCVDoc3r24SyHFW!5l_S7VaMdkN0iUbwyc1QWMjSoM-4ajwim5JTJGcxHOcMteTDeFXbSgQLfNy15zVSTGnkWiz1iIR2F4dH8zt6890xVlZrt2s$" TargetMode="External"/><Relationship Id="rId4" Type="http://schemas.openxmlformats.org/officeDocument/2006/relationships/hyperlink" Target="https://urldefense.com/v3/__https:/github.com/modelica/fmi-ls-struct__;!!FbCVDoc3r24SyHFW!5l_S7VaMdkN0iUbwyc1QWMjSoM-4ajwim5JTJGcxHOcMteTDeFXbSgQLfNy15zVSTGnkWiz1iIR2F4dH8zt6890xdWYmNFc$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creativecommons.org/licenses/by-sa/4.0/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hyperlink" Target="https://github.com/modelica/fmi-beginners-tutorial-2023/tree/main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0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emf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5555/3427510.3427532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hyperlink" Target="https://fmi-standard.org/validation/" TargetMode="External"/><Relationship Id="rId7" Type="http://schemas.openxmlformats.org/officeDocument/2006/relationships/hyperlink" Target="https://www.linkedin.com/groups/7477473/" TargetMode="External"/><Relationship Id="rId2" Type="http://schemas.openxmlformats.org/officeDocument/2006/relationships/hyperlink" Target="https://fmi-standard.org/tools/: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stackoverflow.com/questions/tagged/fmi" TargetMode="External"/><Relationship Id="rId5" Type="http://schemas.openxmlformats.org/officeDocument/2006/relationships/hyperlink" Target="https://github.com/modelica/Reference-FMUs/tree/main" TargetMode="External"/><Relationship Id="rId10" Type="http://schemas.openxmlformats.org/officeDocument/2006/relationships/image" Target="../media/image36.png"/><Relationship Id="rId4" Type="http://schemas.openxmlformats.org/officeDocument/2006/relationships/hyperlink" Target="https://fmi-standard.org/literature/" TargetMode="External"/><Relationship Id="rId9" Type="http://schemas.openxmlformats.org/officeDocument/2006/relationships/image" Target="../media/image3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mailto:contact@fmi-standard.org" TargetMode="External"/><Relationship Id="rId2" Type="http://schemas.openxmlformats.org/officeDocument/2006/relationships/hyperlink" Target="mailto:Christian.Bertsch@de.bosch.com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mailto:claudio.gomes@ece.au.dk" TargetMode="External"/><Relationship Id="rId4" Type="http://schemas.openxmlformats.org/officeDocument/2006/relationships/hyperlink" Target="mailto:maurizio.palmieri@ing.unipi.it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4">
            <a:extLst>
              <a:ext uri="{FF2B5EF4-FFF2-40B4-BE49-F238E27FC236}">
                <a16:creationId xmlns:a16="http://schemas.microsoft.com/office/drawing/2014/main" id="{0DB3F18D-4C30-4ACB-B112-0DA65BFB9624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1621971" y="2938298"/>
            <a:ext cx="9241972" cy="569920"/>
          </a:xfrm>
        </p:spPr>
        <p:txBody>
          <a:bodyPr/>
          <a:lstStyle/>
          <a:p>
            <a:r>
              <a:rPr lang="en-US" altLang="en-US" sz="3600" dirty="0"/>
              <a:t>FMI Advanced topics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8E81365-8BC5-0ED2-B57B-4A2854E67B43}"/>
              </a:ext>
            </a:extLst>
          </p:cNvPr>
          <p:cNvSpPr txBox="1"/>
          <p:nvPr/>
        </p:nvSpPr>
        <p:spPr>
          <a:xfrm>
            <a:off x="3118757" y="5992038"/>
            <a:ext cx="609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Released under </a:t>
            </a:r>
            <a:r>
              <a:rPr lang="en-US" dirty="0">
                <a:hlinkClick r:id="rId3"/>
              </a:rPr>
              <a:t>Attribution-</a:t>
            </a:r>
            <a:r>
              <a:rPr lang="en-US" dirty="0" err="1">
                <a:hlinkClick r:id="rId3"/>
              </a:rPr>
              <a:t>ShareAlike</a:t>
            </a:r>
            <a:r>
              <a:rPr lang="en-US" dirty="0">
                <a:hlinkClick r:id="rId3"/>
              </a:rPr>
              <a:t> 4.0 International</a:t>
            </a:r>
            <a:r>
              <a:rPr lang="en-US" dirty="0"/>
              <a:t> License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0722595-DD16-3C89-57F0-2D88EEA7533C}"/>
              </a:ext>
            </a:extLst>
          </p:cNvPr>
          <p:cNvSpPr txBox="1"/>
          <p:nvPr/>
        </p:nvSpPr>
        <p:spPr>
          <a:xfrm>
            <a:off x="4365171" y="3956033"/>
            <a:ext cx="3951515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dirty="0">
                <a:solidFill>
                  <a:srgbClr val="5E676E"/>
                </a:solidFill>
                <a:latin typeface="+mn-lt"/>
                <a:cs typeface="+mn-cs"/>
              </a:rPr>
              <a:t>Presenters:</a:t>
            </a:r>
          </a:p>
          <a:p>
            <a:pPr algn="ctr"/>
            <a:r>
              <a:rPr lang="en-US" sz="1600" dirty="0">
                <a:solidFill>
                  <a:srgbClr val="5E676E"/>
                </a:solidFill>
                <a:latin typeface="+mn-lt"/>
                <a:cs typeface="+mn-cs"/>
              </a:rPr>
              <a:t>Cinzia Bernardeschi, University of Pisa</a:t>
            </a:r>
          </a:p>
          <a:p>
            <a:pPr algn="ctr"/>
            <a:r>
              <a:rPr lang="en-US" dirty="0">
                <a:solidFill>
                  <a:srgbClr val="5E676E"/>
                </a:solidFill>
                <a:latin typeface="+mn-lt"/>
                <a:cs typeface="+mn-cs"/>
              </a:rPr>
              <a:t>Christian Bertsch, Bosch Research</a:t>
            </a:r>
          </a:p>
          <a:p>
            <a:pPr algn="ctr"/>
            <a:r>
              <a:rPr lang="en-US" sz="1600" dirty="0">
                <a:solidFill>
                  <a:srgbClr val="5E676E"/>
                </a:solidFill>
                <a:latin typeface="+mn-lt"/>
                <a:cs typeface="+mn-cs"/>
              </a:rPr>
              <a:t>Claudio Gomes, Aarhus University</a:t>
            </a:r>
          </a:p>
          <a:p>
            <a:pPr algn="ctr"/>
            <a:r>
              <a:rPr lang="en-US" sz="1600" dirty="0">
                <a:solidFill>
                  <a:srgbClr val="5E676E"/>
                </a:solidFill>
                <a:latin typeface="+mn-lt"/>
                <a:cs typeface="+mn-cs"/>
              </a:rPr>
              <a:t>Maurizio Palmieri, University of Pisa</a:t>
            </a:r>
          </a:p>
          <a:p>
            <a:pPr algn="ctr"/>
            <a:r>
              <a:rPr lang="en-US" dirty="0">
                <a:solidFill>
                  <a:srgbClr val="5E676E"/>
                </a:solidFill>
                <a:latin typeface="+mn-lt"/>
                <a:cs typeface="+mn-cs"/>
              </a:rPr>
              <a:t>Torsten Sommer, Dassault </a:t>
            </a:r>
            <a:r>
              <a:rPr lang="en-US" dirty="0" err="1">
                <a:solidFill>
                  <a:srgbClr val="5E676E"/>
                </a:solidFill>
                <a:latin typeface="+mn-lt"/>
                <a:cs typeface="+mn-cs"/>
              </a:rPr>
              <a:t>Systèmes</a:t>
            </a:r>
            <a:endParaRPr lang="en-US" sz="1600" dirty="0">
              <a:solidFill>
                <a:srgbClr val="5E676E"/>
              </a:solidFill>
              <a:latin typeface="+mn-lt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1D96AC6-CF00-3FD5-F8CA-C71EE1916A46}"/>
              </a:ext>
            </a:extLst>
          </p:cNvPr>
          <p:cNvSpPr txBox="1"/>
          <p:nvPr/>
        </p:nvSpPr>
        <p:spPr>
          <a:xfrm>
            <a:off x="9619757" y="3586701"/>
            <a:ext cx="21422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solidFill>
                  <a:srgbClr val="5E676E"/>
                </a:solidFill>
                <a:latin typeface="+mn-lt"/>
                <a:cs typeface="+mn-cs"/>
              </a:rPr>
              <a:t>Online Materials: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A6F751A-6DA8-5D6B-6AA8-9CFB62027B2C}"/>
              </a:ext>
            </a:extLst>
          </p:cNvPr>
          <p:cNvSpPr txBox="1"/>
          <p:nvPr/>
        </p:nvSpPr>
        <p:spPr>
          <a:xfrm>
            <a:off x="9350283" y="5890140"/>
            <a:ext cx="482346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5E676E"/>
                </a:solidFill>
                <a:latin typeface="+mn-lt"/>
                <a:cs typeface="+mn-cs"/>
                <a:hlinkClick r:id="rId4"/>
              </a:rPr>
              <a:t>https://github.com/modelica/</a:t>
            </a:r>
            <a:br>
              <a:rPr lang="en-US" sz="1200" dirty="0">
                <a:solidFill>
                  <a:srgbClr val="5E676E"/>
                </a:solidFill>
                <a:latin typeface="+mn-lt"/>
                <a:cs typeface="+mn-cs"/>
                <a:hlinkClick r:id="rId4"/>
              </a:rPr>
            </a:br>
            <a:r>
              <a:rPr lang="en-US" sz="1200" dirty="0">
                <a:solidFill>
                  <a:srgbClr val="5E676E"/>
                </a:solidFill>
                <a:latin typeface="+mn-lt"/>
                <a:cs typeface="+mn-cs"/>
                <a:hlinkClick r:id="rId4"/>
              </a:rPr>
              <a:t>fmi-beginners-tutorial-2025/tree/main</a:t>
            </a:r>
            <a:endParaRPr lang="en-US" sz="1200" dirty="0">
              <a:solidFill>
                <a:srgbClr val="5E676E"/>
              </a:solidFill>
              <a:latin typeface="+mn-lt"/>
              <a:cs typeface="+mn-cs"/>
            </a:endParaRPr>
          </a:p>
          <a:p>
            <a:endParaRPr lang="en-US" sz="1800" dirty="0">
              <a:solidFill>
                <a:srgbClr val="5E676E"/>
              </a:solidFill>
              <a:latin typeface="+mn-lt"/>
              <a:cs typeface="+mn-cs"/>
            </a:endParaRPr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F16029A5-4090-9F21-1EE7-AC7F1D537CE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8200" y="3898088"/>
            <a:ext cx="1681480" cy="1681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1949811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C2A51A01-30D4-A5F0-ED73-4E148EF0C4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Layered Standards</a:t>
            </a:r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ECB7B1AE-642E-C91D-397C-0B91AEF479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Content</a:t>
            </a:r>
          </a:p>
        </p:txBody>
      </p:sp>
    </p:spTree>
    <p:extLst>
      <p:ext uri="{BB962C8B-B14F-4D97-AF65-F5344CB8AC3E}">
        <p14:creationId xmlns:p14="http://schemas.microsoft.com/office/powerpoint/2010/main" val="2846784770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5139D521-490F-6164-8F25-817B789444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dirty="0">
                <a:latin typeface="Arial" panose="020B0604020202020204" pitchFamily="34" charset="0"/>
              </a:rPr>
              <a:t>Concept in FMI 3.0: Layered standards to allow standards from other organizations to be compatible, with embedded data inside an FMU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1800" kern="0" dirty="0">
                <a:latin typeface="Arial" panose="020B0604020202020204" pitchFamily="34" charset="0"/>
              </a:rPr>
              <a:t>Layered Standards in development by the FMI Project:</a:t>
            </a:r>
          </a:p>
          <a:p>
            <a:pPr marL="608013" lvl="1" indent="-342900"/>
            <a:r>
              <a:rPr lang="en-US" b="1" dirty="0">
                <a:latin typeface="Calibri" panose="020F0502020204030204" pitchFamily="34" charset="0"/>
                <a:cs typeface="+mn-cs"/>
              </a:rPr>
              <a:t>FMI-LS-XCP: </a:t>
            </a:r>
            <a:r>
              <a:rPr lang="en-US" dirty="0">
                <a:latin typeface="Calibri" panose="020F0502020204030204" pitchFamily="34" charset="0"/>
                <a:cs typeface="+mn-cs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https://github.com/modelica/fmi-ls-xcp</a:t>
            </a:r>
            <a:r>
              <a:rPr lang="en-US" dirty="0">
                <a:latin typeface="Calibri" panose="020F0502020204030204" pitchFamily="34" charset="0"/>
                <a:cs typeface="+mn-cs"/>
              </a:rPr>
              <a:t> for XCP support </a:t>
            </a:r>
            <a:br>
              <a:rPr lang="en-US" dirty="0">
                <a:latin typeface="Calibri" panose="020F0502020204030204" pitchFamily="34" charset="0"/>
                <a:cs typeface="+mn-cs"/>
              </a:rPr>
            </a:br>
            <a:r>
              <a:rPr lang="en-US" i="1" dirty="0">
                <a:effectLst/>
                <a:latin typeface="Arial" panose="020B0604020202020204" pitchFamily="34" charset="0"/>
              </a:rPr>
              <a:t>v1.0 released 12/2024</a:t>
            </a:r>
          </a:p>
          <a:p>
            <a:pPr lvl="1" indent="0">
              <a:buNone/>
            </a:pPr>
            <a:endParaRPr lang="en-US" dirty="0">
              <a:latin typeface="Calibri" panose="020F0502020204030204" pitchFamily="34" charset="0"/>
              <a:cs typeface="+mn-cs"/>
            </a:endParaRPr>
          </a:p>
          <a:p>
            <a:pPr marL="608013" lvl="1" indent="-342900"/>
            <a:r>
              <a:rPr lang="en-US" b="1" dirty="0">
                <a:latin typeface="Calibri" panose="020F0502020204030204" pitchFamily="34" charset="0"/>
                <a:cs typeface="+mn-cs"/>
              </a:rPr>
              <a:t>FMI-LS-BUS</a:t>
            </a:r>
            <a:r>
              <a:rPr lang="en-US" dirty="0">
                <a:latin typeface="Calibri" panose="020F0502020204030204" pitchFamily="34" charset="0"/>
                <a:cs typeface="+mn-cs"/>
              </a:rPr>
              <a:t>: </a:t>
            </a:r>
            <a:r>
              <a:rPr lang="en-US" dirty="0">
                <a:latin typeface="Calibri" panose="020F0502020204030204" pitchFamily="34" charset="0"/>
                <a:cs typeface="+mn-cs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https://github.com/modelica/fmi-ls-bus</a:t>
            </a:r>
            <a:r>
              <a:rPr lang="en-US" dirty="0">
                <a:latin typeface="Calibri" panose="020F0502020204030204" pitchFamily="34" charset="0"/>
                <a:cs typeface="+mn-cs"/>
              </a:rPr>
              <a:t> for network communication</a:t>
            </a:r>
            <a:br>
              <a:rPr lang="en-US" dirty="0">
                <a:latin typeface="Calibri" panose="020F0502020204030204" pitchFamily="34" charset="0"/>
                <a:cs typeface="+mn-cs"/>
              </a:rPr>
            </a:br>
            <a:r>
              <a:rPr lang="en-US" i="1" dirty="0">
                <a:effectLst/>
                <a:latin typeface="Arial" panose="020B0604020202020204" pitchFamily="34" charset="0"/>
              </a:rPr>
              <a:t>v1.0 released 07/2025</a:t>
            </a:r>
            <a:br>
              <a:rPr lang="en-US" i="1" dirty="0">
                <a:effectLst/>
                <a:latin typeface="Arial" panose="020B0604020202020204" pitchFamily="34" charset="0"/>
              </a:rPr>
            </a:br>
            <a:r>
              <a:rPr lang="en-US" i="1" dirty="0">
                <a:effectLst/>
                <a:latin typeface="Arial" panose="020B0604020202020204" pitchFamily="34" charset="0"/>
              </a:rPr>
              <a:t>Demo of </a:t>
            </a:r>
            <a:r>
              <a:rPr lang="en-US" i="1" dirty="0">
                <a:latin typeface="Arial" panose="020B0604020202020204" pitchFamily="34" charset="0"/>
              </a:rPr>
              <a:t>interoperability at International ASAM Conference </a:t>
            </a:r>
            <a:endParaRPr lang="en-US" i="1" dirty="0">
              <a:effectLst/>
              <a:latin typeface="Arial" panose="020B0604020202020204" pitchFamily="34" charset="0"/>
            </a:endParaRPr>
          </a:p>
          <a:p>
            <a:pPr lvl="1" indent="0">
              <a:buNone/>
            </a:pPr>
            <a:endParaRPr lang="en-US" dirty="0">
              <a:latin typeface="Calibri" panose="020F0502020204030204" pitchFamily="34" charset="0"/>
              <a:cs typeface="+mn-cs"/>
            </a:endParaRPr>
          </a:p>
          <a:p>
            <a:pPr marL="608013" lvl="1" indent="-342900"/>
            <a:r>
              <a:rPr lang="en-US" b="1" dirty="0">
                <a:latin typeface="Calibri" panose="020F0502020204030204" pitchFamily="34" charset="0"/>
                <a:cs typeface="+mn-cs"/>
              </a:rPr>
              <a:t>FMI-LS-STRUCT</a:t>
            </a:r>
            <a:r>
              <a:rPr lang="en-US" dirty="0">
                <a:latin typeface="Calibri" panose="020F0502020204030204" pitchFamily="34" charset="0"/>
                <a:cs typeface="+mn-cs"/>
              </a:rPr>
              <a:t>: </a:t>
            </a:r>
            <a:r>
              <a:rPr lang="en-US" dirty="0">
                <a:latin typeface="Calibri" panose="020F0502020204030204" pitchFamily="34" charset="0"/>
                <a:cs typeface="+mn-cs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https://github.com/modelica/fmi-ls-struct</a:t>
            </a:r>
            <a:r>
              <a:rPr lang="en-US" dirty="0">
                <a:latin typeface="Calibri" panose="020F0502020204030204" pitchFamily="34" charset="0"/>
                <a:cs typeface="+mn-cs"/>
              </a:rPr>
              <a:t> for sampled maps and structuring of variables </a:t>
            </a:r>
            <a:br>
              <a:rPr lang="en-US" dirty="0">
                <a:latin typeface="Calibri" panose="020F0502020204030204" pitchFamily="34" charset="0"/>
                <a:cs typeface="+mn-cs"/>
              </a:rPr>
            </a:br>
            <a:r>
              <a:rPr lang="en-US" dirty="0">
                <a:latin typeface="Calibri" panose="020F0502020204030204" pitchFamily="34" charset="0"/>
                <a:cs typeface="+mn-cs"/>
              </a:rPr>
              <a:t>v1.0.0-alpha.1 available</a:t>
            </a:r>
          </a:p>
          <a:p>
            <a:pPr marL="608013" lvl="1" indent="-342900"/>
            <a:endParaRPr lang="en-US" dirty="0">
              <a:latin typeface="Calibri" panose="020F0502020204030204" pitchFamily="34" charset="0"/>
              <a:cs typeface="+mn-cs"/>
            </a:endParaRPr>
          </a:p>
          <a:p>
            <a:pPr marL="608013" lvl="1" indent="-342900"/>
            <a:r>
              <a:rPr lang="en-US" b="1" dirty="0">
                <a:latin typeface="Calibri" panose="020F0502020204030204" pitchFamily="34" charset="0"/>
                <a:cs typeface="+mn-cs"/>
              </a:rPr>
              <a:t>FMI-LS-REF</a:t>
            </a:r>
            <a:r>
              <a:rPr lang="en-US" dirty="0">
                <a:latin typeface="Calibri" panose="020F0502020204030204" pitchFamily="34" charset="0"/>
                <a:cs typeface="+mn-cs"/>
              </a:rPr>
              <a:t> </a:t>
            </a:r>
            <a:r>
              <a:rPr lang="en-US" dirty="0">
                <a:latin typeface="Calibri" panose="020F0502020204030204" pitchFamily="34" charset="0"/>
                <a:cs typeface="+mn-cs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https://github.com/modelica/fmi-ls-ref</a:t>
            </a:r>
            <a:r>
              <a:rPr lang="en-US" dirty="0">
                <a:latin typeface="Calibri" panose="020F0502020204030204" pitchFamily="34" charset="0"/>
                <a:cs typeface="+mn-cs"/>
              </a:rPr>
              <a:t> for the description of basic validation experiments and other files attached to an FMU</a:t>
            </a:r>
            <a:endParaRPr lang="en-US" dirty="0">
              <a:effectLst/>
              <a:latin typeface="Arial" panose="020B0604020202020204" pitchFamily="34" charset="0"/>
            </a:endParaRPr>
          </a:p>
          <a:p>
            <a:endParaRPr lang="en-US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DC4410CB-3950-17CA-4B7C-3C2EF12A19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Layered Standards</a:t>
            </a: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9218CAC3-EA48-63E8-3478-95B2E10CB08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48952" y="3028749"/>
            <a:ext cx="2412124" cy="1625169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947347016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9C0D988-624D-2C10-7FFF-A70DA15F60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Simulation of automotive systems </a:t>
            </a:r>
            <a:r>
              <a:rPr lang="en-US" dirty="0"/>
              <a:t>requires </a:t>
            </a:r>
            <a:r>
              <a:rPr lang="en-US" b="1" dirty="0"/>
              <a:t>network communication between vECUs.</a:t>
            </a:r>
          </a:p>
          <a:p>
            <a:r>
              <a:rPr lang="en-US" dirty="0"/>
              <a:t>Idea: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b="1" dirty="0"/>
              <a:t>Use FMI 3.0 core standard features </a:t>
            </a:r>
            <a:r>
              <a:rPr lang="en-US" dirty="0"/>
              <a:t>to specify a common bus interface,</a:t>
            </a:r>
            <a:br>
              <a:rPr lang="en-US" dirty="0"/>
            </a:br>
            <a:r>
              <a:rPr lang="en-US" dirty="0"/>
              <a:t>using </a:t>
            </a:r>
            <a:r>
              <a:rPr lang="en-US" sz="1800" b="1" dirty="0"/>
              <a:t>Co-Simulation</a:t>
            </a:r>
            <a:r>
              <a:rPr lang="en-US" sz="1800" dirty="0"/>
              <a:t>, </a:t>
            </a:r>
            <a:r>
              <a:rPr lang="en-US" sz="1800" b="1" dirty="0"/>
              <a:t>Binary Variables</a:t>
            </a:r>
            <a:r>
              <a:rPr lang="en-US" sz="1800" dirty="0"/>
              <a:t>, </a:t>
            </a:r>
            <a:r>
              <a:rPr lang="en-US" sz="1800" b="1" dirty="0"/>
              <a:t>Clocks </a:t>
            </a:r>
            <a:r>
              <a:rPr lang="en-US" sz="1800" dirty="0"/>
              <a:t>and </a:t>
            </a:r>
            <a:r>
              <a:rPr lang="en-US" sz="1800" b="1" dirty="0"/>
              <a:t>Terminals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dirty="0"/>
              <a:t>Support </a:t>
            </a:r>
            <a:r>
              <a:rPr lang="en-US" b="1" dirty="0"/>
              <a:t>automotive networks protocols </a:t>
            </a:r>
            <a:r>
              <a:rPr lang="en-US" dirty="0"/>
              <a:t>and others from </a:t>
            </a:r>
            <a:r>
              <a:rPr lang="en-US" b="1" dirty="0"/>
              <a:t>different </a:t>
            </a:r>
            <a:br>
              <a:rPr lang="en-US" b="1" dirty="0"/>
            </a:br>
            <a:r>
              <a:rPr lang="en-US" b="1" dirty="0"/>
              <a:t>industries </a:t>
            </a:r>
            <a:r>
              <a:rPr lang="en-US" dirty="0"/>
              <a:t>(CAN, LIN, </a:t>
            </a:r>
            <a:r>
              <a:rPr lang="en-US" dirty="0" err="1"/>
              <a:t>FlexRay</a:t>
            </a:r>
            <a:r>
              <a:rPr lang="en-US" dirty="0"/>
              <a:t>, Ethernet, …)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dirty="0"/>
              <a:t>Using network description formats DBC, LDF,                 FIBEX, ARXML </a:t>
            </a:r>
            <a:endParaRPr lang="en-US" b="1" dirty="0"/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sz="800" b="1" dirty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b="1" dirty="0"/>
              <a:t>Two variants: </a:t>
            </a:r>
          </a:p>
          <a:p>
            <a:pPr marL="608013" lvl="1" indent="-342900"/>
            <a:r>
              <a:rPr lang="en-US" b="1" dirty="0"/>
              <a:t>Physical abstraction layer ("high cut"): </a:t>
            </a:r>
            <a:r>
              <a:rPr lang="en-US" dirty="0">
                <a:latin typeface="-apple-system"/>
              </a:rPr>
              <a:t>S</a:t>
            </a:r>
            <a:r>
              <a:rPr lang="en-US" b="0" i="0" dirty="0">
                <a:effectLst/>
                <a:latin typeface="-apple-system"/>
              </a:rPr>
              <a:t>imply transport physical signal </a:t>
            </a:r>
            <a:br>
              <a:rPr lang="en-US" b="0" i="0" dirty="0">
                <a:effectLst/>
                <a:latin typeface="-apple-system"/>
              </a:rPr>
            </a:br>
            <a:r>
              <a:rPr lang="en-US" b="0" i="0" dirty="0">
                <a:effectLst/>
                <a:latin typeface="-apple-system"/>
              </a:rPr>
              <a:t>values between virtual ECUs by using </a:t>
            </a:r>
            <a:r>
              <a:rPr lang="en-US" dirty="0">
                <a:latin typeface="-apple-system"/>
              </a:rPr>
              <a:t>unit-based and </a:t>
            </a:r>
            <a:r>
              <a:rPr lang="en-US" b="0" i="0" dirty="0">
                <a:effectLst/>
                <a:latin typeface="-apple-system"/>
              </a:rPr>
              <a:t>clocked </a:t>
            </a:r>
            <a:r>
              <a:rPr lang="en-US" dirty="0">
                <a:latin typeface="-apple-system"/>
              </a:rPr>
              <a:t>variables</a:t>
            </a:r>
          </a:p>
          <a:p>
            <a:pPr marL="608013" lvl="1" indent="-342900"/>
            <a:r>
              <a:rPr lang="en-US" b="1" dirty="0"/>
              <a:t>Network abstraction ("low cut"): </a:t>
            </a:r>
            <a:r>
              <a:rPr lang="en-US" dirty="0">
                <a:latin typeface="-apple-system"/>
              </a:rPr>
              <a:t>Detailed</a:t>
            </a:r>
            <a:r>
              <a:rPr lang="de-DE" b="0" i="0" dirty="0">
                <a:effectLst/>
                <a:latin typeface="-apple-system"/>
              </a:rPr>
              <a:t> </a:t>
            </a:r>
            <a:r>
              <a:rPr lang="de-DE" b="0" i="0" dirty="0" err="1">
                <a:effectLst/>
                <a:latin typeface="-apple-system"/>
              </a:rPr>
              <a:t>emulation</a:t>
            </a:r>
            <a:r>
              <a:rPr lang="de-DE" b="0" i="0" dirty="0">
                <a:effectLst/>
                <a:latin typeface="-apple-system"/>
              </a:rPr>
              <a:t> </a:t>
            </a:r>
            <a:r>
              <a:rPr lang="de-DE" b="0" i="0" dirty="0" err="1">
                <a:effectLst/>
                <a:latin typeface="-apple-system"/>
              </a:rPr>
              <a:t>of</a:t>
            </a:r>
            <a:r>
              <a:rPr lang="de-DE" b="0" i="0" dirty="0">
                <a:effectLst/>
                <a:latin typeface="-apple-system"/>
              </a:rPr>
              <a:t> a </a:t>
            </a:r>
            <a:r>
              <a:rPr lang="de-DE" b="0" i="0" dirty="0" err="1">
                <a:effectLst/>
                <a:latin typeface="-apple-system"/>
              </a:rPr>
              <a:t>specified</a:t>
            </a:r>
            <a:r>
              <a:rPr lang="de-DE" b="0" i="0" dirty="0">
                <a:effectLst/>
                <a:latin typeface="-apple-system"/>
              </a:rPr>
              <a:t> </a:t>
            </a:r>
            <a:r>
              <a:rPr lang="de-DE" b="0" i="0" dirty="0" err="1">
                <a:effectLst/>
                <a:latin typeface="-apple-system"/>
              </a:rPr>
              <a:t>bus</a:t>
            </a:r>
            <a:br>
              <a:rPr lang="de-DE" b="0" i="0" dirty="0">
                <a:effectLst/>
                <a:latin typeface="-apple-system"/>
              </a:rPr>
            </a:br>
            <a:r>
              <a:rPr lang="de-DE" b="0" i="0" dirty="0" err="1">
                <a:effectLst/>
                <a:latin typeface="-apple-system"/>
              </a:rPr>
              <a:t>system</a:t>
            </a:r>
            <a:r>
              <a:rPr lang="de-DE" b="0" i="0" dirty="0">
                <a:effectLst/>
                <a:latin typeface="-apple-system"/>
              </a:rPr>
              <a:t> </a:t>
            </a:r>
            <a:r>
              <a:rPr lang="en-US" b="0" i="0" dirty="0">
                <a:effectLst/>
                <a:latin typeface="-apple-system"/>
              </a:rPr>
              <a:t>to realize virtualized bus driver implementations, including feedback </a:t>
            </a:r>
            <a:br>
              <a:rPr lang="en-US" b="0" i="0" dirty="0">
                <a:effectLst/>
                <a:latin typeface="-apple-system"/>
              </a:rPr>
            </a:br>
            <a:r>
              <a:rPr lang="en-US" b="0" i="0" dirty="0">
                <a:effectLst/>
                <a:latin typeface="-apple-system"/>
              </a:rPr>
              <a:t>from the physical drivers about transmission status or network node states</a:t>
            </a:r>
            <a:endParaRPr lang="en-US" b="1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>
              <a:latin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>
              <a:effectLst/>
              <a:latin typeface="Arial" panose="020B0604020202020204" pitchFamily="34" charset="0"/>
            </a:endParaRPr>
          </a:p>
          <a:p>
            <a:pPr marL="342900" indent="-342900"/>
            <a:endParaRPr lang="en-US" b="1" dirty="0">
              <a:latin typeface="Arial" panose="020B0604020202020204" pitchFamily="34" charset="0"/>
            </a:endParaRPr>
          </a:p>
          <a:p>
            <a:pPr marL="342900" indent="-342900"/>
            <a:endParaRPr lang="en-US" b="1" dirty="0">
              <a:effectLst/>
              <a:latin typeface="Arial" panose="020B0604020202020204" pitchFamily="34" charset="0"/>
            </a:endParaRPr>
          </a:p>
          <a:p>
            <a:pPr marL="608013" lvl="1" indent="-342900"/>
            <a:endParaRPr lang="en-US" dirty="0"/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6DF15B6-1D6F-FCCA-9153-B35573510E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FMI-LS-BUS: Layered Standard Network Communication </a:t>
            </a:r>
            <a:endParaRPr lang="en-US" dirty="0"/>
          </a:p>
        </p:txBody>
      </p:sp>
      <p:pic>
        <p:nvPicPr>
          <p:cNvPr id="4" name="Picture 6">
            <a:extLst>
              <a:ext uri="{FF2B5EF4-FFF2-40B4-BE49-F238E27FC236}">
                <a16:creationId xmlns:a16="http://schemas.microsoft.com/office/drawing/2014/main" id="{C3058C0F-7887-859B-64A3-3FD5BC97CA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0424" y="4460706"/>
            <a:ext cx="2868439" cy="1506605"/>
          </a:xfrm>
          <a:prstGeom prst="rect">
            <a:avLst/>
          </a:prstGeom>
        </p:spPr>
      </p:pic>
      <p:pic>
        <p:nvPicPr>
          <p:cNvPr id="6" name="Picture 10">
            <a:extLst>
              <a:ext uri="{FF2B5EF4-FFF2-40B4-BE49-F238E27FC236}">
                <a16:creationId xmlns:a16="http://schemas.microsoft.com/office/drawing/2014/main" id="{0B1757C8-F9A3-7FFB-7A81-57657B0830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75577" y="2377880"/>
            <a:ext cx="2522043" cy="1828800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36C4393F-6CA0-87D0-E68B-2D451D5FEDB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65991" y="3674837"/>
            <a:ext cx="1095421" cy="2720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7783233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A1F1B4D-C109-D61F-C900-1450D418F7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09713" y="1643191"/>
            <a:ext cx="3255251" cy="3063766"/>
          </a:xfrm>
          <a:prstGeom prst="rect">
            <a:avLst/>
          </a:prstGeom>
        </p:spPr>
      </p:pic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87D4E26F-D711-B8AA-5603-9FE7583257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b="1" dirty="0" err="1"/>
              <a:t>Current</a:t>
            </a:r>
            <a:r>
              <a:rPr lang="de-DE" b="1" dirty="0"/>
              <a:t> </a:t>
            </a:r>
            <a:r>
              <a:rPr lang="de-DE" b="1" dirty="0" err="1"/>
              <a:t>scope</a:t>
            </a:r>
            <a:r>
              <a:rPr lang="de-DE" b="1" dirty="0"/>
              <a:t>: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b="1" dirty="0">
                <a:latin typeface="Arial" panose="020B0604020202020204" pitchFamily="34" charset="0"/>
              </a:rPr>
              <a:t>Maps sampled on rectilinear grids</a:t>
            </a:r>
            <a:br>
              <a:rPr lang="en-US" b="1" dirty="0">
                <a:latin typeface="Arial" panose="020B0604020202020204" pitchFamily="34" charset="0"/>
              </a:rPr>
            </a:br>
            <a:r>
              <a:rPr lang="de-DE" dirty="0" err="1">
                <a:effectLst/>
                <a:latin typeface="Arial" panose="020B0604020202020204" pitchFamily="34" charset="0"/>
              </a:rPr>
              <a:t>using</a:t>
            </a:r>
            <a:r>
              <a:rPr lang="de-DE" dirty="0">
                <a:effectLst/>
                <a:latin typeface="Arial" panose="020B0604020202020204" pitchFamily="34" charset="0"/>
              </a:rPr>
              <a:t> FMI 3.0 </a:t>
            </a:r>
            <a:r>
              <a:rPr lang="de-DE" dirty="0" err="1">
                <a:effectLst/>
                <a:latin typeface="Arial" panose="020B0604020202020204" pitchFamily="34" charset="0"/>
              </a:rPr>
              <a:t>arrays</a:t>
            </a:r>
            <a:r>
              <a:rPr lang="de-DE" dirty="0"/>
              <a:t> </a:t>
            </a:r>
            <a:r>
              <a:rPr lang="de-DE" dirty="0" err="1"/>
              <a:t>by</a:t>
            </a:r>
            <a:r>
              <a:rPr lang="de-DE" dirty="0"/>
              <a:t> </a:t>
            </a:r>
            <a:r>
              <a:rPr lang="de-DE" dirty="0" err="1"/>
              <a:t>adding</a:t>
            </a:r>
            <a:r>
              <a:rPr lang="de-DE" dirty="0"/>
              <a:t> meta-</a:t>
            </a:r>
            <a:r>
              <a:rPr lang="de-DE" dirty="0" err="1"/>
              <a:t>data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define</a:t>
            </a:r>
            <a:endParaRPr lang="de-DE" dirty="0"/>
          </a:p>
          <a:p>
            <a:pPr marL="608013" lvl="1" indent="-342900"/>
            <a:r>
              <a:rPr lang="en-US" dirty="0">
                <a:effectLst/>
                <a:latin typeface="Arial" panose="020B0604020202020204" pitchFamily="34" charset="0"/>
              </a:rPr>
              <a:t>Domains</a:t>
            </a:r>
          </a:p>
          <a:p>
            <a:pPr marL="608013" lvl="1" indent="-342900"/>
            <a:r>
              <a:rPr lang="en-US" dirty="0">
                <a:effectLst/>
                <a:latin typeface="Arial" panose="020B0604020202020204" pitchFamily="34" charset="0"/>
              </a:rPr>
              <a:t>Codomain</a:t>
            </a:r>
          </a:p>
          <a:p>
            <a:pPr marL="608013" lvl="1" indent="-342900"/>
            <a:r>
              <a:rPr lang="en-US" dirty="0">
                <a:effectLst/>
                <a:latin typeface="Arial" panose="020B0604020202020204" pitchFamily="34" charset="0"/>
              </a:rPr>
              <a:t>Optionally</a:t>
            </a:r>
            <a:r>
              <a:rPr lang="en-US" dirty="0">
                <a:latin typeface="Arial" panose="020B0604020202020204" pitchFamily="34" charset="0"/>
              </a:rPr>
              <a:t>: V</a:t>
            </a:r>
            <a:r>
              <a:rPr lang="en-US" dirty="0">
                <a:effectLst/>
                <a:latin typeface="Arial" panose="020B0604020202020204" pitchFamily="34" charset="0"/>
              </a:rPr>
              <a:t>ariables referencing current operating point, …</a:t>
            </a:r>
          </a:p>
          <a:p>
            <a:pPr marL="608013" lvl="1" indent="-342900"/>
            <a:r>
              <a:rPr lang="en-US" dirty="0">
                <a:latin typeface="Arial" panose="020B0604020202020204" pitchFamily="34" charset="0"/>
              </a:rPr>
              <a:t>Support for Modelica Standard Library </a:t>
            </a:r>
            <a:r>
              <a:rPr lang="en-US" dirty="0" err="1">
                <a:latin typeface="Arial" panose="020B0604020202020204" pitchFamily="34" charset="0"/>
              </a:rPr>
              <a:t>CombiTables</a:t>
            </a:r>
            <a:endParaRPr lang="en-US" dirty="0">
              <a:latin typeface="Arial" panose="020B0604020202020204" pitchFamily="34" charset="0"/>
            </a:endParaRPr>
          </a:p>
          <a:p>
            <a:pPr marL="608013" lvl="1" indent="-342900"/>
            <a:r>
              <a:rPr lang="en-US" dirty="0">
                <a:latin typeface="Arial" panose="020B0604020202020204" pitchFamily="34" charset="0"/>
              </a:rPr>
              <a:t>Compatible with                        -MCD2 MAPs, CURVEs, …</a:t>
            </a:r>
            <a:endParaRPr lang="en-US" dirty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dirty="0"/>
              <a:t>Maps sampled on an irregular grid ("Point Cloud“)</a:t>
            </a:r>
            <a:endParaRPr lang="en-US" dirty="0">
              <a:effectLst/>
              <a:latin typeface="Arial" panose="020B0604020202020204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dirty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dirty="0"/>
              <a:t>Using “FMI 3.0 Terminals” for grouping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dirty="0"/>
          </a:p>
          <a:p>
            <a:endParaRPr lang="en-US" dirty="0"/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5652F323-20E9-91F2-B2E8-A87C4C4A94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dirty="0">
                <a:effectLst/>
                <a:latin typeface="Arial" panose="020B0604020202020204" pitchFamily="34" charset="0"/>
              </a:rPr>
              <a:t>FMI LS-STRUCT: Layered Standard for </a:t>
            </a:r>
            <a:r>
              <a:rPr lang="en-US" sz="2400" dirty="0">
                <a:latin typeface="Arial" panose="020B0604020202020204" pitchFamily="34" charset="0"/>
              </a:rPr>
              <a:t>V</a:t>
            </a:r>
            <a:r>
              <a:rPr lang="en-US" sz="2400" dirty="0">
                <a:effectLst/>
                <a:latin typeface="Arial" panose="020B0604020202020204" pitchFamily="34" charset="0"/>
              </a:rPr>
              <a:t>ariable Structuring </a:t>
            </a:r>
            <a:endParaRPr lang="en-US" dirty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A002C4AB-D2AA-5FA2-59FB-78BAB9A6C02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9866" y="3895124"/>
            <a:ext cx="1402423" cy="348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1736768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4">
            <a:extLst>
              <a:ext uri="{FF2B5EF4-FFF2-40B4-BE49-F238E27FC236}">
                <a16:creationId xmlns:a16="http://schemas.microsoft.com/office/drawing/2014/main" id="{0DB3F18D-4C30-4ACB-B112-0DA65BFB9624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1621971" y="2675149"/>
            <a:ext cx="9241972" cy="1096218"/>
          </a:xfrm>
        </p:spPr>
        <p:txBody>
          <a:bodyPr/>
          <a:lstStyle/>
          <a:p>
            <a:r>
              <a:rPr lang="en-US" altLang="en-US" sz="3600" dirty="0"/>
              <a:t>FMI Applications </a:t>
            </a:r>
            <a:br>
              <a:rPr lang="en-US" altLang="en-US" sz="3600" dirty="0"/>
            </a:br>
            <a:r>
              <a:rPr lang="en-US" altLang="en-US" sz="3600" dirty="0"/>
              <a:t>  and Its Role in Digital Twins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8E81365-8BC5-0ED2-B57B-4A2854E67B43}"/>
              </a:ext>
            </a:extLst>
          </p:cNvPr>
          <p:cNvSpPr txBox="1"/>
          <p:nvPr/>
        </p:nvSpPr>
        <p:spPr>
          <a:xfrm>
            <a:off x="3118757" y="5992038"/>
            <a:ext cx="609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Released under </a:t>
            </a:r>
            <a:r>
              <a:rPr lang="en-US" dirty="0">
                <a:hlinkClick r:id="rId3"/>
              </a:rPr>
              <a:t>Attribution-</a:t>
            </a:r>
            <a:r>
              <a:rPr lang="en-US" dirty="0" err="1">
                <a:hlinkClick r:id="rId3"/>
              </a:rPr>
              <a:t>ShareAlike</a:t>
            </a:r>
            <a:r>
              <a:rPr lang="en-US" dirty="0">
                <a:hlinkClick r:id="rId3"/>
              </a:rPr>
              <a:t> 4.0 International</a:t>
            </a:r>
            <a:r>
              <a:rPr lang="en-US" dirty="0"/>
              <a:t> License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0722595-DD16-3C89-57F0-2D88EEA7533C}"/>
              </a:ext>
            </a:extLst>
          </p:cNvPr>
          <p:cNvSpPr txBox="1"/>
          <p:nvPr/>
        </p:nvSpPr>
        <p:spPr>
          <a:xfrm>
            <a:off x="4365171" y="3956033"/>
            <a:ext cx="3951515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dirty="0">
                <a:solidFill>
                  <a:srgbClr val="5E676E"/>
                </a:solidFill>
                <a:latin typeface="+mn-lt"/>
                <a:cs typeface="+mn-cs"/>
              </a:rPr>
              <a:t>Presenters:</a:t>
            </a:r>
          </a:p>
          <a:p>
            <a:pPr algn="ctr"/>
            <a:r>
              <a:rPr lang="en-US" sz="1600" dirty="0">
                <a:solidFill>
                  <a:srgbClr val="5E676E"/>
                </a:solidFill>
                <a:latin typeface="+mn-lt"/>
                <a:cs typeface="+mn-cs"/>
              </a:rPr>
              <a:t>Cinzia Bernardeschi, University of Pisa</a:t>
            </a:r>
          </a:p>
          <a:p>
            <a:pPr algn="ctr"/>
            <a:r>
              <a:rPr lang="en-US" dirty="0">
                <a:solidFill>
                  <a:srgbClr val="5E676E"/>
                </a:solidFill>
                <a:latin typeface="+mn-lt"/>
                <a:cs typeface="+mn-cs"/>
              </a:rPr>
              <a:t>Christian Bertsch, Bosch Research</a:t>
            </a:r>
          </a:p>
          <a:p>
            <a:pPr algn="ctr"/>
            <a:r>
              <a:rPr lang="en-US" sz="1600" dirty="0">
                <a:solidFill>
                  <a:srgbClr val="5E676E"/>
                </a:solidFill>
                <a:latin typeface="+mn-lt"/>
                <a:cs typeface="+mn-cs"/>
              </a:rPr>
              <a:t>Claudio Gomes, Aarhus University</a:t>
            </a:r>
          </a:p>
          <a:p>
            <a:pPr algn="ctr"/>
            <a:r>
              <a:rPr lang="en-US" sz="1600" dirty="0">
                <a:solidFill>
                  <a:srgbClr val="5E676E"/>
                </a:solidFill>
                <a:latin typeface="+mn-lt"/>
                <a:cs typeface="+mn-cs"/>
              </a:rPr>
              <a:t>Maurizio Palmieri, University of Pisa</a:t>
            </a:r>
          </a:p>
          <a:p>
            <a:pPr algn="ctr"/>
            <a:r>
              <a:rPr lang="en-US" dirty="0">
                <a:solidFill>
                  <a:srgbClr val="5E676E"/>
                </a:solidFill>
                <a:latin typeface="+mn-lt"/>
                <a:cs typeface="+mn-cs"/>
              </a:rPr>
              <a:t>Torsten Sommer, Dassault </a:t>
            </a:r>
            <a:r>
              <a:rPr lang="en-US" dirty="0" err="1">
                <a:solidFill>
                  <a:srgbClr val="5E676E"/>
                </a:solidFill>
                <a:latin typeface="+mn-lt"/>
                <a:cs typeface="+mn-cs"/>
              </a:rPr>
              <a:t>Systèmes</a:t>
            </a:r>
            <a:endParaRPr lang="en-US" sz="1600" dirty="0">
              <a:solidFill>
                <a:srgbClr val="5E676E"/>
              </a:solidFill>
              <a:latin typeface="+mn-lt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1D96AC6-CF00-3FD5-F8CA-C71EE1916A46}"/>
              </a:ext>
            </a:extLst>
          </p:cNvPr>
          <p:cNvSpPr txBox="1"/>
          <p:nvPr/>
        </p:nvSpPr>
        <p:spPr>
          <a:xfrm>
            <a:off x="9619757" y="3586701"/>
            <a:ext cx="21422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solidFill>
                  <a:srgbClr val="5E676E"/>
                </a:solidFill>
                <a:latin typeface="+mn-lt"/>
                <a:cs typeface="+mn-cs"/>
              </a:rPr>
              <a:t>Online Materials: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A6F751A-6DA8-5D6B-6AA8-9CFB62027B2C}"/>
              </a:ext>
            </a:extLst>
          </p:cNvPr>
          <p:cNvSpPr txBox="1"/>
          <p:nvPr/>
        </p:nvSpPr>
        <p:spPr>
          <a:xfrm>
            <a:off x="9350283" y="5890140"/>
            <a:ext cx="482346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5E676E"/>
                </a:solidFill>
                <a:latin typeface="+mn-lt"/>
                <a:cs typeface="+mn-cs"/>
                <a:hlinkClick r:id="rId4"/>
              </a:rPr>
              <a:t>https://github.com/modelica/</a:t>
            </a:r>
            <a:br>
              <a:rPr lang="en-US" sz="1200" dirty="0">
                <a:solidFill>
                  <a:srgbClr val="5E676E"/>
                </a:solidFill>
                <a:latin typeface="+mn-lt"/>
                <a:cs typeface="+mn-cs"/>
                <a:hlinkClick r:id="rId4"/>
              </a:rPr>
            </a:br>
            <a:r>
              <a:rPr lang="en-US" sz="1200" dirty="0">
                <a:solidFill>
                  <a:srgbClr val="5E676E"/>
                </a:solidFill>
                <a:latin typeface="+mn-lt"/>
                <a:cs typeface="+mn-cs"/>
                <a:hlinkClick r:id="rId4"/>
              </a:rPr>
              <a:t>fmi-beginners-tutorial-2025/tree/main</a:t>
            </a:r>
            <a:endParaRPr lang="en-US" sz="1200" dirty="0">
              <a:solidFill>
                <a:srgbClr val="5E676E"/>
              </a:solidFill>
              <a:latin typeface="+mn-lt"/>
              <a:cs typeface="+mn-cs"/>
            </a:endParaRPr>
          </a:p>
          <a:p>
            <a:endParaRPr lang="en-US" sz="1800" dirty="0">
              <a:solidFill>
                <a:srgbClr val="5E676E"/>
              </a:solidFill>
              <a:latin typeface="+mn-lt"/>
              <a:cs typeface="+mn-cs"/>
            </a:endParaRPr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F16029A5-4090-9F21-1EE7-AC7F1D537CE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8200" y="3898088"/>
            <a:ext cx="1681480" cy="1681480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17490BC4-95A0-F052-20AA-0836981CB7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0653" y="1349375"/>
            <a:ext cx="11003744" cy="5252135"/>
          </a:xfrm>
        </p:spPr>
        <p:txBody>
          <a:bodyPr/>
          <a:lstStyle/>
          <a:p>
            <a:r>
              <a:rPr lang="en-US" sz="1800" dirty="0"/>
              <a:t>Model Predictive Control simulation on selected Hardware platform</a:t>
            </a:r>
          </a:p>
          <a:p>
            <a:pPr algn="l"/>
            <a:r>
              <a:rPr lang="en-US" sz="1800" b="0" i="0" u="none" strike="noStrike" baseline="0" dirty="0"/>
              <a:t>Objective: </a:t>
            </a:r>
            <a:endParaRPr lang="en-US" sz="1800" b="0" i="0" u="none" strike="noStrike" baseline="0" dirty="0">
              <a:solidFill>
                <a:srgbClr val="000000"/>
              </a:solidFill>
            </a:endParaRPr>
          </a:p>
          <a:p>
            <a:pPr algn="l"/>
            <a:r>
              <a:rPr lang="en-US" sz="1800" b="0" i="0" u="none" strike="noStrike" baseline="0" dirty="0"/>
              <a:t>Validating the controller and assessing the adequacy  of the </a:t>
            </a:r>
            <a:r>
              <a:rPr lang="en-US" sz="1800" dirty="0"/>
              <a:t> </a:t>
            </a:r>
            <a:r>
              <a:rPr lang="en-US" sz="1800" b="0" i="0" u="none" strike="noStrike" baseline="0" dirty="0"/>
              <a:t>hardware </a:t>
            </a:r>
            <a:br>
              <a:rPr lang="en-US" sz="1800" b="0" i="0" u="none" strike="noStrike" baseline="0" dirty="0"/>
            </a:br>
            <a:r>
              <a:rPr lang="en-US" sz="1800" b="0" i="0" u="none" strike="noStrike" baseline="0" dirty="0"/>
              <a:t>platform with respect to timing constraints and its performance</a:t>
            </a:r>
            <a:endParaRPr lang="en-US" sz="1600" dirty="0">
              <a:solidFill>
                <a:schemeClr val="accent6"/>
              </a:solidFill>
            </a:endParaRPr>
          </a:p>
          <a:p>
            <a:pPr algn="l"/>
            <a:endParaRPr lang="en-US" sz="1600" dirty="0">
              <a:solidFill>
                <a:schemeClr val="accent6"/>
              </a:solidFill>
            </a:endParaRPr>
          </a:p>
          <a:p>
            <a:pPr algn="l"/>
            <a:r>
              <a:rPr lang="en-US" sz="1600" dirty="0">
                <a:solidFill>
                  <a:schemeClr val="accent6"/>
                </a:solidFill>
              </a:rPr>
              <a:t>- GRAMPC</a:t>
            </a:r>
          </a:p>
          <a:p>
            <a:r>
              <a:rPr lang="en-US" sz="1600" dirty="0">
                <a:solidFill>
                  <a:schemeClr val="accent6"/>
                </a:solidFill>
              </a:rPr>
              <a:t>- </a:t>
            </a:r>
            <a:r>
              <a:rPr lang="en-US" sz="1600" dirty="0" err="1">
                <a:solidFill>
                  <a:schemeClr val="bg1">
                    <a:lumMod val="50000"/>
                  </a:schemeClr>
                </a:solidFill>
              </a:rPr>
              <a:t>VPSim</a:t>
            </a:r>
            <a:r>
              <a:rPr lang="en-US" sz="1600" dirty="0">
                <a:solidFill>
                  <a:schemeClr val="accent6"/>
                </a:solidFill>
              </a:rPr>
              <a:t> </a:t>
            </a:r>
            <a:br>
              <a:rPr lang="en-US" sz="1600" dirty="0">
                <a:solidFill>
                  <a:schemeClr val="accent6"/>
                </a:solidFill>
              </a:rPr>
            </a:br>
            <a:r>
              <a:rPr lang="en-US" sz="1600" dirty="0">
                <a:solidFill>
                  <a:schemeClr val="accent6"/>
                </a:solidFill>
              </a:rPr>
              <a:t>-  Armv8 Quad-core 64-bit</a:t>
            </a:r>
          </a:p>
          <a:p>
            <a:r>
              <a:rPr lang="en-US" sz="1600" dirty="0">
                <a:solidFill>
                  <a:schemeClr val="accent6"/>
                </a:solidFill>
              </a:rPr>
              <a:t>-  Simulink </a:t>
            </a:r>
          </a:p>
          <a:p>
            <a:endParaRPr lang="en-US" sz="1600" dirty="0">
              <a:solidFill>
                <a:schemeClr val="accent6"/>
              </a:solidFill>
            </a:endParaRPr>
          </a:p>
          <a:p>
            <a:r>
              <a:rPr lang="en-US" sz="1600" dirty="0">
                <a:solidFill>
                  <a:schemeClr val="accent6"/>
                </a:solidFill>
              </a:rPr>
              <a:t>FMI role:</a:t>
            </a:r>
            <a:br>
              <a:rPr lang="en-US" sz="1600" dirty="0">
                <a:solidFill>
                  <a:schemeClr val="accent6"/>
                </a:solidFill>
              </a:rPr>
            </a:br>
            <a:r>
              <a:rPr lang="en-US" sz="1600" dirty="0">
                <a:solidFill>
                  <a:schemeClr val="accent6"/>
                </a:solidFill>
              </a:rPr>
              <a:t>easy validation of deployment of GRAMPC on a </a:t>
            </a:r>
            <a:br>
              <a:rPr lang="en-US" sz="1600" dirty="0">
                <a:solidFill>
                  <a:schemeClr val="accent6"/>
                </a:solidFill>
              </a:rPr>
            </a:br>
            <a:r>
              <a:rPr lang="en-US" sz="1600" dirty="0">
                <a:solidFill>
                  <a:schemeClr val="bg1">
                    <a:lumMod val="50000"/>
                  </a:schemeClr>
                </a:solidFill>
              </a:rPr>
              <a:t>simulated architecture</a:t>
            </a:r>
          </a:p>
          <a:p>
            <a:endParaRPr lang="en-US" sz="1400" dirty="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en-US" sz="1400" dirty="0"/>
              <a:t>C. Bernardeschi, P. Dini, et al. , Co-simulation of a Model Predictive Control System for Automotive Applications, </a:t>
            </a:r>
            <a:br>
              <a:rPr lang="en-US" sz="1400" dirty="0"/>
            </a:br>
            <a:r>
              <a:rPr lang="en-US" sz="1400" dirty="0"/>
              <a:t>SEFM 2021 Collocated Workshops, https://link.springer.com/chapter/10.1007/978-3-031-12429-7_15</a:t>
            </a:r>
          </a:p>
          <a:p>
            <a:endParaRPr lang="en-US" sz="1600" dirty="0">
              <a:solidFill>
                <a:schemeClr val="accent6"/>
              </a:solidFill>
            </a:endParaRPr>
          </a:p>
          <a:p>
            <a:endParaRPr lang="en-US" dirty="0"/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9ECFE586-4199-7BD1-A533-77473F0F9B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Autonomous Driving Advanced System (SW/HW co-simulation)</a:t>
            </a:r>
          </a:p>
        </p:txBody>
      </p:sp>
      <p:pic>
        <p:nvPicPr>
          <p:cNvPr id="2" name="Immagine 1">
            <a:extLst>
              <a:ext uri="{FF2B5EF4-FFF2-40B4-BE49-F238E27FC236}">
                <a16:creationId xmlns:a16="http://schemas.microsoft.com/office/drawing/2014/main" id="{B3E1BAE2-FC4C-1B6A-49F0-254522DEBE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37871" y="1435054"/>
            <a:ext cx="4154129" cy="2128562"/>
          </a:xfrm>
          <a:prstGeom prst="rect">
            <a:avLst/>
          </a:prstGeom>
        </p:spPr>
      </p:pic>
      <p:sp>
        <p:nvSpPr>
          <p:cNvPr id="3" name="CasellaDiTesto 2">
            <a:extLst>
              <a:ext uri="{FF2B5EF4-FFF2-40B4-BE49-F238E27FC236}">
                <a16:creationId xmlns:a16="http://schemas.microsoft.com/office/drawing/2014/main" id="{C0A17D11-DDC2-45E9-789E-C2D42FBDA38E}"/>
              </a:ext>
            </a:extLst>
          </p:cNvPr>
          <p:cNvSpPr txBox="1"/>
          <p:nvPr/>
        </p:nvSpPr>
        <p:spPr>
          <a:xfrm>
            <a:off x="8546715" y="4590556"/>
            <a:ext cx="222765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it-IT" sz="1200" u="none" strike="noStrike" baseline="0" dirty="0">
                <a:solidFill>
                  <a:schemeClr val="accent6"/>
                </a:solidFill>
                <a:latin typeface="+mn-lt"/>
              </a:rPr>
              <a:t>http://www.european-processor-initiative.eu/ </a:t>
            </a:r>
            <a:r>
              <a:rPr lang="en-US" sz="1200" u="none" strike="noStrike" baseline="0" dirty="0">
                <a:solidFill>
                  <a:schemeClr val="accent6"/>
                </a:solidFill>
                <a:latin typeface="+mn-lt"/>
              </a:rPr>
              <a:t>H2020, Grant Agreement No26647 </a:t>
            </a: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80D7BACD-ADCF-ACA3-48EF-C8A3ADC517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96909" y="3919548"/>
            <a:ext cx="1179595" cy="701859"/>
          </a:xfrm>
          <a:prstGeom prst="rect">
            <a:avLst/>
          </a:prstGeom>
        </p:spPr>
      </p:pic>
      <p:pic>
        <p:nvPicPr>
          <p:cNvPr id="8" name="Immagine 7">
            <a:extLst>
              <a:ext uri="{FF2B5EF4-FFF2-40B4-BE49-F238E27FC236}">
                <a16:creationId xmlns:a16="http://schemas.microsoft.com/office/drawing/2014/main" id="{9DDB89D0-C632-08A4-6520-6CA5C9B0AFB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06925" y="2916222"/>
            <a:ext cx="4785000" cy="1719956"/>
          </a:xfrm>
          <a:prstGeom prst="rect">
            <a:avLst/>
          </a:prstGeom>
        </p:spPr>
      </p:pic>
      <p:pic>
        <p:nvPicPr>
          <p:cNvPr id="9" name="Immagine 8">
            <a:extLst>
              <a:ext uri="{FF2B5EF4-FFF2-40B4-BE49-F238E27FC236}">
                <a16:creationId xmlns:a16="http://schemas.microsoft.com/office/drawing/2014/main" id="{8E0E2550-F0EA-8B7F-3E52-CAA8EFA2C5C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61901" y="4899076"/>
            <a:ext cx="1541609" cy="778751"/>
          </a:xfrm>
          <a:prstGeom prst="rect">
            <a:avLst/>
          </a:prstGeom>
        </p:spPr>
      </p:pic>
      <p:grpSp>
        <p:nvGrpSpPr>
          <p:cNvPr id="7" name="Gruppo 6">
            <a:extLst>
              <a:ext uri="{FF2B5EF4-FFF2-40B4-BE49-F238E27FC236}">
                <a16:creationId xmlns:a16="http://schemas.microsoft.com/office/drawing/2014/main" id="{92EDB0AE-3C34-4B33-D150-2AD0E5A70460}"/>
              </a:ext>
            </a:extLst>
          </p:cNvPr>
          <p:cNvGrpSpPr/>
          <p:nvPr/>
        </p:nvGrpSpPr>
        <p:grpSpPr>
          <a:xfrm>
            <a:off x="10338694" y="3751556"/>
            <a:ext cx="1604426" cy="1104190"/>
            <a:chOff x="10318733" y="3864454"/>
            <a:chExt cx="1604426" cy="1104190"/>
          </a:xfrm>
        </p:grpSpPr>
        <p:pic>
          <p:nvPicPr>
            <p:cNvPr id="10" name="Immagine 9">
              <a:extLst>
                <a:ext uri="{FF2B5EF4-FFF2-40B4-BE49-F238E27FC236}">
                  <a16:creationId xmlns:a16="http://schemas.microsoft.com/office/drawing/2014/main" id="{D2FC563B-F0C9-CCAD-C2C1-BEB3FA705CE0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0371804" y="3864454"/>
              <a:ext cx="1088892" cy="738664"/>
            </a:xfrm>
            <a:prstGeom prst="rect">
              <a:avLst/>
            </a:prstGeom>
          </p:spPr>
        </p:pic>
        <p:sp>
          <p:nvSpPr>
            <p:cNvPr id="11" name="CasellaDiTesto 10">
              <a:extLst>
                <a:ext uri="{FF2B5EF4-FFF2-40B4-BE49-F238E27FC236}">
                  <a16:creationId xmlns:a16="http://schemas.microsoft.com/office/drawing/2014/main" id="{0117C23B-5C88-121C-D867-5326600AB9C3}"/>
                </a:ext>
              </a:extLst>
            </p:cNvPr>
            <p:cNvSpPr txBox="1"/>
            <p:nvPr/>
          </p:nvSpPr>
          <p:spPr>
            <a:xfrm>
              <a:off x="10318733" y="4660867"/>
              <a:ext cx="1604426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fr-FR" sz="1400" dirty="0">
                  <a:solidFill>
                    <a:schemeClr val="accent6">
                      <a:lumMod val="50000"/>
                    </a:schemeClr>
                  </a:solidFill>
                  <a:latin typeface="Arial corpo"/>
                </a:rPr>
                <a:t>CEA, List, France</a:t>
              </a:r>
              <a:endParaRPr lang="it-IT" sz="1400" dirty="0">
                <a:solidFill>
                  <a:schemeClr val="accent6">
                    <a:lumMod val="50000"/>
                  </a:schemeClr>
                </a:solidFill>
                <a:latin typeface="Arial corpo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7922541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17490BC4-95A0-F052-20AA-0836981CB7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457" y="1349375"/>
            <a:ext cx="11003744" cy="5000625"/>
          </a:xfrm>
        </p:spPr>
        <p:txBody>
          <a:bodyPr/>
          <a:lstStyle/>
          <a:p>
            <a:r>
              <a:rPr lang="en-US" sz="1800" dirty="0"/>
              <a:t>Multi-UAV system: Planning &amp; Control</a:t>
            </a:r>
            <a:br>
              <a:rPr lang="en-US" sz="1800" dirty="0"/>
            </a:br>
            <a:r>
              <a:rPr lang="en-US" sz="1800" b="0" i="0" u="none" strike="noStrike" baseline="0" dirty="0"/>
              <a:t>Objective: </a:t>
            </a:r>
            <a:endParaRPr lang="en-US" sz="1800" b="0" i="0" u="none" strike="noStrike" baseline="0" dirty="0">
              <a:solidFill>
                <a:srgbClr val="000000"/>
              </a:solidFill>
            </a:endParaRPr>
          </a:p>
          <a:p>
            <a:r>
              <a:rPr lang="en-US" sz="1800" dirty="0"/>
              <a:t>Controller parameters (attitude and position control) calibration </a:t>
            </a:r>
            <a:br>
              <a:rPr lang="en-US" sz="1800" dirty="0"/>
            </a:br>
            <a:r>
              <a:rPr lang="en-US" sz="1800" dirty="0"/>
              <a:t>for stability in co-operative systems; </a:t>
            </a:r>
            <a:r>
              <a:rPr lang="en-US" sz="1800" dirty="0">
                <a:solidFill>
                  <a:schemeClr val="accent6"/>
                </a:solidFill>
                <a:latin typeface="Arial corpo "/>
              </a:rPr>
              <a:t>optimality of values </a:t>
            </a:r>
            <a:r>
              <a:rPr lang="it-IT" sz="1800" b="0" i="0" u="none" strike="noStrike" baseline="0" dirty="0">
                <a:latin typeface="Arial corpo "/>
              </a:rPr>
              <a:t>with </a:t>
            </a:r>
            <a:br>
              <a:rPr lang="it-IT" sz="1800" b="0" i="0" u="none" strike="noStrike" baseline="0" dirty="0">
                <a:latin typeface="Arial corpo "/>
              </a:rPr>
            </a:br>
            <a:r>
              <a:rPr lang="it-IT" sz="1800" b="0" i="0" u="none" strike="noStrike" baseline="0" dirty="0" err="1">
                <a:latin typeface="Arial corpo "/>
              </a:rPr>
              <a:t>respect</a:t>
            </a:r>
            <a:r>
              <a:rPr lang="it-IT" sz="1800" b="0" i="0" u="none" strike="noStrike" baseline="0" dirty="0">
                <a:latin typeface="Arial corpo "/>
              </a:rPr>
              <a:t> to </a:t>
            </a:r>
            <a:r>
              <a:rPr lang="it-IT" sz="1800" dirty="0">
                <a:latin typeface="Arial corpo "/>
              </a:rPr>
              <a:t> </a:t>
            </a:r>
            <a:r>
              <a:rPr lang="en-US" sz="1800" b="0" i="0" u="none" strike="noStrike" baseline="0" dirty="0">
                <a:latin typeface="Arial corpo "/>
              </a:rPr>
              <a:t>time to conv</a:t>
            </a:r>
            <a:r>
              <a:rPr lang="en-US" sz="1800" dirty="0">
                <a:latin typeface="Arial corpo "/>
              </a:rPr>
              <a:t>ergence </a:t>
            </a:r>
            <a:r>
              <a:rPr lang="en-US" sz="1800" b="0" i="0" u="none" strike="noStrike" baseline="0" dirty="0">
                <a:latin typeface="Arial corpo "/>
              </a:rPr>
              <a:t>and energy consumption</a:t>
            </a:r>
            <a:br>
              <a:rPr lang="en-US" sz="1600" dirty="0"/>
            </a:br>
            <a:endParaRPr lang="en-US" sz="1600" dirty="0"/>
          </a:p>
          <a:p>
            <a:pPr algn="l"/>
            <a:r>
              <a:rPr lang="en-US" sz="1600" dirty="0">
                <a:solidFill>
                  <a:schemeClr val="accent6"/>
                </a:solidFill>
              </a:rPr>
              <a:t>- Planning algorithm (logic language, python)</a:t>
            </a:r>
          </a:p>
          <a:p>
            <a:pPr algn="l"/>
            <a:r>
              <a:rPr lang="en-US" sz="1600" dirty="0">
                <a:solidFill>
                  <a:schemeClr val="accent6"/>
                </a:solidFill>
              </a:rPr>
              <a:t>- Controller (C)</a:t>
            </a:r>
          </a:p>
          <a:p>
            <a:r>
              <a:rPr lang="en-US" sz="1600" dirty="0">
                <a:solidFill>
                  <a:schemeClr val="accent6"/>
                </a:solidFill>
              </a:rPr>
              <a:t>-  Plant (</a:t>
            </a:r>
            <a:r>
              <a:rPr lang="en-US" sz="1600" dirty="0" err="1">
                <a:solidFill>
                  <a:schemeClr val="accent6"/>
                </a:solidFill>
              </a:rPr>
              <a:t>Modelica</a:t>
            </a:r>
            <a:r>
              <a:rPr lang="en-US" sz="1600" dirty="0">
                <a:solidFill>
                  <a:schemeClr val="accent6"/>
                </a:solidFill>
              </a:rPr>
              <a:t>)</a:t>
            </a:r>
            <a:br>
              <a:rPr lang="en-US" sz="1600" dirty="0">
                <a:solidFill>
                  <a:schemeClr val="accent6"/>
                </a:solidFill>
              </a:rPr>
            </a:br>
            <a:endParaRPr lang="en-US" sz="1600" dirty="0">
              <a:solidFill>
                <a:schemeClr val="accent6"/>
              </a:solidFill>
            </a:endParaRPr>
          </a:p>
          <a:p>
            <a:r>
              <a:rPr lang="en-US" sz="1600" dirty="0">
                <a:solidFill>
                  <a:schemeClr val="accent6"/>
                </a:solidFill>
              </a:rPr>
              <a:t>FMI role:</a:t>
            </a:r>
          </a:p>
          <a:p>
            <a:r>
              <a:rPr lang="en-US" sz="1600" dirty="0">
                <a:solidFill>
                  <a:schemeClr val="accent6"/>
                </a:solidFill>
                <a:latin typeface="Arial corpo "/>
              </a:rPr>
              <a:t>A</a:t>
            </a:r>
            <a:r>
              <a:rPr lang="en-US" sz="1600" dirty="0">
                <a:latin typeface="Arial corpo "/>
              </a:rPr>
              <a:t>nalysis of the relation between the numeric integration step (</a:t>
            </a:r>
            <a:r>
              <a:rPr lang="en-US" sz="1600" dirty="0">
                <a:solidFill>
                  <a:schemeClr val="accent6"/>
                </a:solidFill>
                <a:latin typeface="Arial corpo "/>
              </a:rPr>
              <a:t>co-simulation step) and time </a:t>
            </a:r>
            <a:br>
              <a:rPr lang="en-US" sz="1600" dirty="0">
                <a:solidFill>
                  <a:schemeClr val="accent6"/>
                </a:solidFill>
                <a:latin typeface="Arial corpo "/>
              </a:rPr>
            </a:br>
            <a:r>
              <a:rPr lang="en-US" sz="1600" dirty="0">
                <a:solidFill>
                  <a:schemeClr val="accent6"/>
                </a:solidFill>
                <a:latin typeface="Arial corpo "/>
              </a:rPr>
              <a:t>discretization interval for planning for stability; analysis of optimality of control parameters value</a:t>
            </a:r>
            <a:br>
              <a:rPr lang="en-US" sz="1600" dirty="0">
                <a:solidFill>
                  <a:schemeClr val="accent6"/>
                </a:solidFill>
                <a:latin typeface="Arial corpo "/>
              </a:rPr>
            </a:br>
            <a:endParaRPr lang="it-IT" sz="1600" b="0" i="0" u="none" strike="noStrike" baseline="0" dirty="0">
              <a:latin typeface="Arial corpo "/>
            </a:endParaRPr>
          </a:p>
          <a:p>
            <a:pPr algn="l"/>
            <a:r>
              <a:rPr lang="it-IT" sz="1400" dirty="0">
                <a:solidFill>
                  <a:schemeClr val="bg1">
                    <a:lumMod val="50000"/>
                  </a:schemeClr>
                </a:solidFill>
              </a:rPr>
              <a:t>- https://github.com/INTO-CPS-Association/example-linear-quadcopter</a:t>
            </a:r>
            <a:br>
              <a:rPr lang="en-US" sz="1400" dirty="0">
                <a:solidFill>
                  <a:schemeClr val="accent6"/>
                </a:solidFill>
              </a:rPr>
            </a:br>
            <a:r>
              <a:rPr lang="en-US" sz="1400" dirty="0">
                <a:solidFill>
                  <a:schemeClr val="accent6"/>
                </a:solidFill>
              </a:rPr>
              <a:t>- 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</a:rPr>
              <a:t>C. Bernardeschi, A. Domenici, et al., Co-simulation and Formal Verification of Co-operative Drone Control  With </a:t>
            </a:r>
            <a:br>
              <a:rPr lang="en-US" sz="1400" dirty="0">
                <a:solidFill>
                  <a:schemeClr val="bg1">
                    <a:lumMod val="50000"/>
                  </a:schemeClr>
                </a:solidFill>
              </a:rPr>
            </a:br>
            <a:r>
              <a:rPr lang="en-US" sz="1400" dirty="0">
                <a:solidFill>
                  <a:schemeClr val="bg1">
                    <a:lumMod val="50000"/>
                  </a:schemeClr>
                </a:solidFill>
              </a:rPr>
              <a:t>   Logic-Based Specifications The Computer Journal, vol. 66, Issue 2, 2023, https://doi.org/10.1093/comjnl/bxab161</a:t>
            </a:r>
            <a:endParaRPr lang="it-IT" sz="1400" dirty="0">
              <a:solidFill>
                <a:schemeClr val="bg1">
                  <a:lumMod val="50000"/>
                </a:schemeClr>
              </a:solidFill>
            </a:endParaRPr>
          </a:p>
          <a:p>
            <a:endParaRPr lang="en-US" sz="1800" dirty="0"/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9ECFE586-4199-7BD1-A533-77473F0F9B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Multi-agent systems: aerial, land vehicles</a:t>
            </a:r>
          </a:p>
        </p:txBody>
      </p:sp>
      <p:pic>
        <p:nvPicPr>
          <p:cNvPr id="9" name="Immagine 8">
            <a:extLst>
              <a:ext uri="{FF2B5EF4-FFF2-40B4-BE49-F238E27FC236}">
                <a16:creationId xmlns:a16="http://schemas.microsoft.com/office/drawing/2014/main" id="{66E4841E-F31F-411A-B0D0-5987239500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46990" y="3184094"/>
            <a:ext cx="1079018" cy="850765"/>
          </a:xfrm>
          <a:prstGeom prst="rect">
            <a:avLst/>
          </a:prstGeom>
        </p:spPr>
      </p:pic>
      <p:pic>
        <p:nvPicPr>
          <p:cNvPr id="8" name="Immagine 7">
            <a:extLst>
              <a:ext uri="{FF2B5EF4-FFF2-40B4-BE49-F238E27FC236}">
                <a16:creationId xmlns:a16="http://schemas.microsoft.com/office/drawing/2014/main" id="{EB3BEFAC-DBF5-2C19-C70E-5D01780A65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47675" y="890443"/>
            <a:ext cx="3488682" cy="2140963"/>
          </a:xfrm>
          <a:prstGeom prst="rect">
            <a:avLst/>
          </a:prstGeom>
        </p:spPr>
      </p:pic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379D1748-BCD0-5C4A-12B9-834BBAB6F238}"/>
              </a:ext>
            </a:extLst>
          </p:cNvPr>
          <p:cNvSpPr txBox="1"/>
          <p:nvPr/>
        </p:nvSpPr>
        <p:spPr>
          <a:xfrm>
            <a:off x="8380982" y="4060945"/>
            <a:ext cx="167711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chemeClr val="accent6"/>
                </a:solidFill>
              </a:rPr>
              <a:t>Erle-robotics quadcopter</a:t>
            </a:r>
          </a:p>
        </p:txBody>
      </p:sp>
      <p:pic>
        <p:nvPicPr>
          <p:cNvPr id="18" name="Immagine 17" descr="Immagine che contiene diagramma, linea, Simmetria, modello&#10;&#10;Descrizione generata automaticamente">
            <a:extLst>
              <a:ext uri="{FF2B5EF4-FFF2-40B4-BE49-F238E27FC236}">
                <a16:creationId xmlns:a16="http://schemas.microsoft.com/office/drawing/2014/main" id="{C28167DF-4C8B-DBED-0F21-4FC13951603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6022" y="2605954"/>
            <a:ext cx="1924960" cy="1443720"/>
          </a:xfrm>
          <a:prstGeom prst="rect">
            <a:avLst/>
          </a:prstGeom>
        </p:spPr>
      </p:pic>
      <p:pic>
        <p:nvPicPr>
          <p:cNvPr id="3" name="Immagine 2">
            <a:extLst>
              <a:ext uri="{FF2B5EF4-FFF2-40B4-BE49-F238E27FC236}">
                <a16:creationId xmlns:a16="http://schemas.microsoft.com/office/drawing/2014/main" id="{1F3576E8-F66D-6F02-8906-651A26C8820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84891" y="3188302"/>
            <a:ext cx="1705164" cy="861372"/>
          </a:xfrm>
          <a:prstGeom prst="rect">
            <a:avLst/>
          </a:prstGeom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29B8D3B2-A574-0A66-03B4-97791C070A5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72040" y="4206570"/>
            <a:ext cx="1084547" cy="1084547"/>
          </a:xfrm>
          <a:prstGeom prst="rect">
            <a:avLst/>
          </a:prstGeom>
        </p:spPr>
      </p:pic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9A556740-63F2-0320-34C2-9B16F61C902B}"/>
              </a:ext>
            </a:extLst>
          </p:cNvPr>
          <p:cNvSpPr txBox="1"/>
          <p:nvPr/>
        </p:nvSpPr>
        <p:spPr>
          <a:xfrm>
            <a:off x="6490988" y="3977787"/>
            <a:ext cx="240370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dirty="0" err="1">
                <a:solidFill>
                  <a:schemeClr val="bg1">
                    <a:lumMod val="50000"/>
                  </a:schemeClr>
                </a:solidFill>
              </a:rPr>
              <a:t>Voronoi</a:t>
            </a:r>
            <a:r>
              <a:rPr lang="it-IT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it-IT" dirty="0" err="1">
                <a:solidFill>
                  <a:schemeClr val="bg1">
                    <a:lumMod val="50000"/>
                  </a:schemeClr>
                </a:solidFill>
              </a:rPr>
              <a:t>tesselletion</a:t>
            </a:r>
            <a:endParaRPr lang="it-IT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72885470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17490BC4-95A0-F052-20AA-0836981CB7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4128" y="1349375"/>
            <a:ext cx="11003744" cy="4760007"/>
          </a:xfrm>
        </p:spPr>
        <p:txBody>
          <a:bodyPr/>
          <a:lstStyle/>
          <a:p>
            <a:r>
              <a:rPr lang="en-US" sz="1800" dirty="0"/>
              <a:t>Integrated Clinical Environment (ICE)</a:t>
            </a:r>
          </a:p>
          <a:p>
            <a:r>
              <a:rPr lang="en-US" sz="1600" dirty="0"/>
              <a:t>User interaction with the realistic interfaces of the devices</a:t>
            </a:r>
            <a:br>
              <a:rPr lang="en-US" sz="1600" dirty="0"/>
            </a:br>
            <a:r>
              <a:rPr lang="en-US" sz="1600" dirty="0"/>
              <a:t>Easy testing and validation of device interaction</a:t>
            </a:r>
            <a:br>
              <a:rPr lang="en-US" sz="1600" dirty="0"/>
            </a:br>
            <a:r>
              <a:rPr lang="en-US" sz="1600" dirty="0"/>
              <a:t>from different  manufactures (use error)</a:t>
            </a:r>
          </a:p>
          <a:p>
            <a:br>
              <a:rPr lang="en-US" sz="1800" dirty="0"/>
            </a:br>
            <a:r>
              <a:rPr lang="en-US" sz="1600" dirty="0"/>
              <a:t>Devices: </a:t>
            </a:r>
            <a:r>
              <a:rPr lang="en-US" sz="1600" dirty="0" err="1"/>
              <a:t>PVSioweb</a:t>
            </a:r>
            <a:endParaRPr lang="en-US" sz="1600" dirty="0"/>
          </a:p>
          <a:p>
            <a:r>
              <a:rPr lang="en-US" sz="1600" dirty="0"/>
              <a:t>Patient: </a:t>
            </a:r>
            <a:r>
              <a:rPr lang="en-US" sz="1600" dirty="0" err="1"/>
              <a:t>OpenModelica</a:t>
            </a:r>
            <a:r>
              <a:rPr lang="en-US" sz="1600" dirty="0"/>
              <a:t> </a:t>
            </a:r>
          </a:p>
          <a:p>
            <a:endParaRPr lang="en-US" sz="1600" dirty="0"/>
          </a:p>
          <a:p>
            <a:r>
              <a:rPr lang="en-US" sz="1600" dirty="0"/>
              <a:t>FMI role:</a:t>
            </a:r>
          </a:p>
          <a:p>
            <a:r>
              <a:rPr lang="en-US" sz="1600" dirty="0"/>
              <a:t>Validate ICE with respect to patient </a:t>
            </a:r>
            <a:br>
              <a:rPr lang="en-US" sz="1600" dirty="0"/>
            </a:br>
            <a:r>
              <a:rPr lang="en-US" sz="1600" dirty="0"/>
              <a:t>model. Formal proof of a use-related safety </a:t>
            </a:r>
            <a:br>
              <a:rPr lang="en-US" sz="1600" dirty="0"/>
            </a:br>
            <a:r>
              <a:rPr lang="en-US" sz="1600" dirty="0"/>
              <a:t>requirement of a device used in the </a:t>
            </a:r>
            <a:br>
              <a:rPr lang="en-US" sz="1600" dirty="0"/>
            </a:br>
            <a:r>
              <a:rPr lang="en-US" sz="1600" dirty="0"/>
              <a:t>co-simulation</a:t>
            </a:r>
          </a:p>
          <a:p>
            <a:endParaRPr lang="en-US" dirty="0"/>
          </a:p>
          <a:p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Arial corpo "/>
              </a:rPr>
              <a:t>M. Palmieri, C. Bernardeschi, P. </a:t>
            </a:r>
            <a:r>
              <a:rPr lang="en-US" sz="1400" dirty="0" err="1">
                <a:solidFill>
                  <a:schemeClr val="bg1">
                    <a:lumMod val="50000"/>
                  </a:schemeClr>
                </a:solidFill>
                <a:latin typeface="Arial corpo "/>
              </a:rPr>
              <a:t>Masci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Arial corpo "/>
              </a:rPr>
              <a:t>. A framework for FMI-based co-simulation of human–machine interfaces, Software and Systems Modeling, vol. 19, Issue 3, 2020, https://dl.acm.org/doi/abs/10.1007/s10270-019-00754-9</a:t>
            </a:r>
            <a:endParaRPr lang="it-IT" sz="1400" dirty="0">
              <a:solidFill>
                <a:schemeClr val="bg1">
                  <a:lumMod val="50000"/>
                </a:schemeClr>
              </a:solidFill>
              <a:latin typeface="Arial corpo "/>
            </a:endParaRPr>
          </a:p>
          <a:p>
            <a:endParaRPr lang="en-US" dirty="0"/>
          </a:p>
          <a:p>
            <a:br>
              <a:rPr lang="en-US" sz="1400" dirty="0">
                <a:solidFill>
                  <a:schemeClr val="bg1">
                    <a:lumMod val="50000"/>
                  </a:schemeClr>
                </a:solidFill>
                <a:latin typeface="Arial corpo "/>
              </a:rPr>
            </a:br>
            <a:br>
              <a:rPr lang="en-US" sz="1400" dirty="0">
                <a:solidFill>
                  <a:schemeClr val="bg1">
                    <a:lumMod val="50000"/>
                  </a:schemeClr>
                </a:solidFill>
                <a:latin typeface="Arial corpo "/>
              </a:rPr>
            </a:br>
            <a:br>
              <a:rPr lang="en-US" sz="1400" dirty="0">
                <a:solidFill>
                  <a:schemeClr val="bg1">
                    <a:lumMod val="50000"/>
                  </a:schemeClr>
                </a:solidFill>
                <a:latin typeface="Arial corpo "/>
              </a:rPr>
            </a:br>
            <a:endParaRPr lang="en-US" dirty="0"/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9ECFE586-4199-7BD1-A533-77473F0F9B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Human-centered systems</a:t>
            </a:r>
          </a:p>
        </p:txBody>
      </p:sp>
      <p:pic>
        <p:nvPicPr>
          <p:cNvPr id="10" name="Immagine 9">
            <a:extLst>
              <a:ext uri="{FF2B5EF4-FFF2-40B4-BE49-F238E27FC236}">
                <a16:creationId xmlns:a16="http://schemas.microsoft.com/office/drawing/2014/main" id="{93EB0632-D549-98D5-5F7F-03C915B9F6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8429" y="3512102"/>
            <a:ext cx="2216613" cy="1453113"/>
          </a:xfrm>
          <a:prstGeom prst="rect">
            <a:avLst/>
          </a:prstGeom>
        </p:spPr>
      </p:pic>
      <p:pic>
        <p:nvPicPr>
          <p:cNvPr id="2" name="Immagine 1">
            <a:extLst>
              <a:ext uri="{FF2B5EF4-FFF2-40B4-BE49-F238E27FC236}">
                <a16:creationId xmlns:a16="http://schemas.microsoft.com/office/drawing/2014/main" id="{7D68D053-39C0-D39B-E3C4-8CD26C123E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20056" y="4532362"/>
            <a:ext cx="1700931" cy="865707"/>
          </a:xfrm>
          <a:prstGeom prst="rect">
            <a:avLst/>
          </a:prstGeom>
        </p:spPr>
      </p:pic>
      <p:pic>
        <p:nvPicPr>
          <p:cNvPr id="12" name="Immagine 11" descr="Immagine che contiene testo, elettronica, Elettrodomestico, design&#10;&#10;Descrizione generata automaticamente">
            <a:extLst>
              <a:ext uri="{FF2B5EF4-FFF2-40B4-BE49-F238E27FC236}">
                <a16:creationId xmlns:a16="http://schemas.microsoft.com/office/drawing/2014/main" id="{DFCAD242-28BC-7FD1-5B60-D947CAEEFC3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8024" y="731774"/>
            <a:ext cx="4330945" cy="3089275"/>
          </a:xfrm>
          <a:prstGeom prst="rect">
            <a:avLst/>
          </a:prstGeom>
        </p:spPr>
      </p:pic>
      <p:pic>
        <p:nvPicPr>
          <p:cNvPr id="8" name="Immagine 7">
            <a:extLst>
              <a:ext uri="{FF2B5EF4-FFF2-40B4-BE49-F238E27FC236}">
                <a16:creationId xmlns:a16="http://schemas.microsoft.com/office/drawing/2014/main" id="{80C20FBB-C8A0-0C54-6E50-0BB2B85D11F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95353" y="2746251"/>
            <a:ext cx="4367873" cy="2463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4313873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" name="Immagine 157">
            <a:extLst>
              <a:ext uri="{FF2B5EF4-FFF2-40B4-BE49-F238E27FC236}">
                <a16:creationId xmlns:a16="http://schemas.microsoft.com/office/drawing/2014/main" id="{D4D29DC5-D6C3-D94A-8CEC-55F1E8A7FF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06259" y="958543"/>
            <a:ext cx="1535806" cy="781664"/>
          </a:xfrm>
          <a:prstGeom prst="rect">
            <a:avLst/>
          </a:prstGeom>
        </p:spPr>
      </p:pic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17490BC4-95A0-F052-20AA-0836981CB7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6680" y="1395757"/>
            <a:ext cx="8623192" cy="1619399"/>
          </a:xfrm>
        </p:spPr>
        <p:txBody>
          <a:bodyPr/>
          <a:lstStyle/>
          <a:p>
            <a:r>
              <a:rPr lang="en-US" sz="1800" dirty="0">
                <a:latin typeface="Arial corpo"/>
              </a:rPr>
              <a:t>Platoon of land vehicles</a:t>
            </a:r>
          </a:p>
          <a:p>
            <a:r>
              <a:rPr lang="en-US" sz="1800" dirty="0">
                <a:latin typeface="Arial corpo"/>
              </a:rPr>
              <a:t>V</a:t>
            </a:r>
            <a:r>
              <a:rPr lang="en-US" sz="1800" b="0" i="0" dirty="0">
                <a:effectLst/>
                <a:latin typeface="Arial corpo"/>
              </a:rPr>
              <a:t>2V communication against centralized multi-access edge computing. </a:t>
            </a:r>
            <a:br>
              <a:rPr lang="en-US" sz="1800" b="0" i="0" dirty="0">
                <a:effectLst/>
                <a:latin typeface="Arial corpo"/>
              </a:rPr>
            </a:br>
            <a:r>
              <a:rPr lang="en-US" sz="1800" b="0" i="0" dirty="0">
                <a:effectLst/>
                <a:latin typeface="Arial corpo"/>
              </a:rPr>
              <a:t>Performance with v</a:t>
            </a:r>
            <a:r>
              <a:rPr lang="it-IT" sz="1800" b="0" i="0" dirty="0" err="1">
                <a:effectLst/>
                <a:latin typeface="Arial corpo"/>
              </a:rPr>
              <a:t>ehicle</a:t>
            </a:r>
            <a:r>
              <a:rPr lang="it-IT" sz="1800" b="0" i="0" dirty="0">
                <a:effectLst/>
                <a:latin typeface="Arial corpo"/>
              </a:rPr>
              <a:t> dynamics and </a:t>
            </a:r>
            <a:r>
              <a:rPr lang="it-IT" sz="1800" b="0" i="0" dirty="0" err="1">
                <a:effectLst/>
                <a:latin typeface="Arial corpo"/>
              </a:rPr>
              <a:t>different</a:t>
            </a:r>
            <a:r>
              <a:rPr lang="it-IT" sz="1800" b="0" i="0" dirty="0">
                <a:effectLst/>
                <a:latin typeface="Arial corpo"/>
              </a:rPr>
              <a:t> road </a:t>
            </a:r>
            <a:r>
              <a:rPr lang="it-IT" sz="1800" b="0" i="0" dirty="0" err="1">
                <a:effectLst/>
                <a:latin typeface="Arial corpo"/>
              </a:rPr>
              <a:t>surface</a:t>
            </a:r>
            <a:r>
              <a:rPr lang="it-IT" sz="1800" b="0" i="0" dirty="0">
                <a:effectLst/>
                <a:latin typeface="Arial corpo"/>
              </a:rPr>
              <a:t> </a:t>
            </a:r>
            <a:r>
              <a:rPr lang="it-IT" sz="1800" b="0" i="0" dirty="0" err="1">
                <a:effectLst/>
                <a:latin typeface="Arial corpo"/>
              </a:rPr>
              <a:t>conditions</a:t>
            </a:r>
            <a:r>
              <a:rPr lang="it-IT" sz="1800" b="0" i="0" dirty="0">
                <a:effectLst/>
                <a:latin typeface="Arial corpo"/>
              </a:rPr>
              <a:t>. </a:t>
            </a:r>
            <a:br>
              <a:rPr lang="it-IT" sz="1800" b="0" i="0" dirty="0">
                <a:effectLst/>
                <a:latin typeface="Arial corpo"/>
              </a:rPr>
            </a:br>
            <a:r>
              <a:rPr lang="it-IT" sz="1800" dirty="0">
                <a:latin typeface="Arial corpo"/>
              </a:rPr>
              <a:t>Strategies to </a:t>
            </a:r>
            <a:r>
              <a:rPr lang="en-US" sz="1800" dirty="0">
                <a:latin typeface="Arial corpo"/>
              </a:rPr>
              <a:t>drive safely a platoon in critical road conditions.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9ECFE586-4199-7BD1-A533-77473F0F9B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Communications in connected vehicles  </a:t>
            </a:r>
          </a:p>
        </p:txBody>
      </p:sp>
      <p:pic>
        <p:nvPicPr>
          <p:cNvPr id="155" name="Immagine 154">
            <a:extLst>
              <a:ext uri="{FF2B5EF4-FFF2-40B4-BE49-F238E27FC236}">
                <a16:creationId xmlns:a16="http://schemas.microsoft.com/office/drawing/2014/main" id="{F37AF6A6-4FAF-A172-A4EB-7EE5CAC2C9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21543" y="1201687"/>
            <a:ext cx="4037814" cy="514759"/>
          </a:xfrm>
          <a:prstGeom prst="rect">
            <a:avLst/>
          </a:prstGeom>
        </p:spPr>
      </p:pic>
      <p:pic>
        <p:nvPicPr>
          <p:cNvPr id="157" name="Immagine 156">
            <a:extLst>
              <a:ext uri="{FF2B5EF4-FFF2-40B4-BE49-F238E27FC236}">
                <a16:creationId xmlns:a16="http://schemas.microsoft.com/office/drawing/2014/main" id="{4AF2AA48-660F-07E7-B985-2AD1FB21E8D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97141" y="845228"/>
            <a:ext cx="1023291" cy="1023291"/>
          </a:xfrm>
          <a:prstGeom prst="rect">
            <a:avLst/>
          </a:prstGeom>
        </p:spPr>
      </p:pic>
      <p:pic>
        <p:nvPicPr>
          <p:cNvPr id="160" name="Immagine 159">
            <a:extLst>
              <a:ext uri="{FF2B5EF4-FFF2-40B4-BE49-F238E27FC236}">
                <a16:creationId xmlns:a16="http://schemas.microsoft.com/office/drawing/2014/main" id="{77404EFD-3892-419C-AF70-8B33F31D52B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06797" y="1922749"/>
            <a:ext cx="1359363" cy="514759"/>
          </a:xfrm>
          <a:prstGeom prst="rect">
            <a:avLst/>
          </a:prstGeom>
        </p:spPr>
      </p:pic>
      <p:sp>
        <p:nvSpPr>
          <p:cNvPr id="166" name="CasellaDiTesto 165">
            <a:extLst>
              <a:ext uri="{FF2B5EF4-FFF2-40B4-BE49-F238E27FC236}">
                <a16:creationId xmlns:a16="http://schemas.microsoft.com/office/drawing/2014/main" id="{BE18AB85-B033-1B9C-0C54-DC36213EB1B2}"/>
              </a:ext>
            </a:extLst>
          </p:cNvPr>
          <p:cNvSpPr txBox="1"/>
          <p:nvPr/>
        </p:nvSpPr>
        <p:spPr>
          <a:xfrm>
            <a:off x="616680" y="4892279"/>
            <a:ext cx="735891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FMI role: </a:t>
            </a:r>
            <a:br>
              <a:rPr lang="en-US" dirty="0">
                <a:solidFill>
                  <a:schemeClr val="bg1">
                    <a:lumMod val="50000"/>
                  </a:schemeClr>
                </a:solidFill>
              </a:rPr>
            </a:b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swap from one network architecture to another; </a:t>
            </a:r>
            <a:br>
              <a:rPr lang="en-US" dirty="0">
                <a:solidFill>
                  <a:schemeClr val="bg1">
                    <a:lumMod val="50000"/>
                  </a:schemeClr>
                </a:solidFill>
              </a:rPr>
            </a:b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analysis of unsafe conditions</a:t>
            </a:r>
          </a:p>
        </p:txBody>
      </p:sp>
      <p:sp>
        <p:nvSpPr>
          <p:cNvPr id="168" name="CasellaDiTesto 167">
            <a:extLst>
              <a:ext uri="{FF2B5EF4-FFF2-40B4-BE49-F238E27FC236}">
                <a16:creationId xmlns:a16="http://schemas.microsoft.com/office/drawing/2014/main" id="{9154CB03-EBCA-7E29-DF85-3A6B0A00A47A}"/>
              </a:ext>
            </a:extLst>
          </p:cNvPr>
          <p:cNvSpPr txBox="1"/>
          <p:nvPr/>
        </p:nvSpPr>
        <p:spPr>
          <a:xfrm>
            <a:off x="616680" y="5747433"/>
            <a:ext cx="983191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400" dirty="0">
                <a:solidFill>
                  <a:schemeClr val="bg1">
                    <a:lumMod val="50000"/>
                  </a:schemeClr>
                </a:solidFill>
              </a:rPr>
              <a:t>M. Palmieri, C. Quadri, et.al, Co-simulated Digital Twin on the Network Edge: the case of platooning, IEEE International Symposium on a World of Wireless, Mobile and Multimedia Networks, 2022, doi:10.1109/WoWMoM54355.2022.00096.</a:t>
            </a: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C6F1D2FA-EFDC-9BB6-9737-744282DEC4C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27885" y="2687084"/>
            <a:ext cx="3623706" cy="2357960"/>
          </a:xfrm>
          <a:prstGeom prst="rect">
            <a:avLst/>
          </a:prstGeom>
        </p:spPr>
      </p:pic>
      <p:sp>
        <p:nvSpPr>
          <p:cNvPr id="10" name="CasellaDiTesto 9">
            <a:extLst>
              <a:ext uri="{FF2B5EF4-FFF2-40B4-BE49-F238E27FC236}">
                <a16:creationId xmlns:a16="http://schemas.microsoft.com/office/drawing/2014/main" id="{B5A18181-7E3B-2C67-5B24-0F00D91E7414}"/>
              </a:ext>
            </a:extLst>
          </p:cNvPr>
          <p:cNvSpPr txBox="1"/>
          <p:nvPr/>
        </p:nvSpPr>
        <p:spPr>
          <a:xfrm>
            <a:off x="807113" y="3550457"/>
            <a:ext cx="112077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3-vehicles </a:t>
            </a: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platoon</a:t>
            </a:r>
            <a:endParaRPr lang="it-IT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8" name="Immagine 7">
            <a:extLst>
              <a:ext uri="{FF2B5EF4-FFF2-40B4-BE49-F238E27FC236}">
                <a16:creationId xmlns:a16="http://schemas.microsoft.com/office/drawing/2014/main" id="{E13ECD0C-B566-1369-F73B-44FD79A5373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89549" y="2905445"/>
            <a:ext cx="3939615" cy="2556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8361464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1342451-FAF1-0153-5C73-224AAD4C27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applications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5D99BF9-0D7E-933A-797C-498F8E2D5D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100" y="1238692"/>
            <a:ext cx="3608813" cy="224561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3E6B16B-174A-1902-8004-1F8FCFDAA4EB}"/>
              </a:ext>
            </a:extLst>
          </p:cNvPr>
          <p:cNvSpPr txBox="1"/>
          <p:nvPr/>
        </p:nvSpPr>
        <p:spPr>
          <a:xfrm>
            <a:off x="620184" y="3428129"/>
            <a:ext cx="3606376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P. Palensky, E. </a:t>
            </a:r>
            <a:r>
              <a:rPr lang="en-US" sz="900" dirty="0" err="1">
                <a:solidFill>
                  <a:schemeClr val="bg1">
                    <a:lumMod val="50000"/>
                  </a:schemeClr>
                </a:solidFill>
              </a:rPr>
              <a:t>Widl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, M. </a:t>
            </a:r>
            <a:r>
              <a:rPr lang="en-US" sz="900" dirty="0" err="1">
                <a:solidFill>
                  <a:schemeClr val="bg1">
                    <a:lumMod val="50000"/>
                  </a:schemeClr>
                </a:solidFill>
              </a:rPr>
              <a:t>Stifter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 and A. Elsheikh, "Modeling Intelligent Energy Systems: Co-Simulation Platform for Validating Flexible-Demand EV Charging Management," in IEEE Transactions on Smart Grid, vol. 4, no. 4, pp. 1939-1947, Dec. 2013, </a:t>
            </a:r>
            <a:r>
              <a:rPr lang="en-US" sz="900" dirty="0" err="1">
                <a:solidFill>
                  <a:schemeClr val="bg1">
                    <a:lumMod val="50000"/>
                  </a:schemeClr>
                </a:solidFill>
              </a:rPr>
              <a:t>doi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: 10.1109/TSG.2013.2258050.</a:t>
            </a:r>
          </a:p>
        </p:txBody>
      </p:sp>
      <p:pic>
        <p:nvPicPr>
          <p:cNvPr id="2" name="Content Placeholder 7" descr="Diagram&#10;&#10;Description automatically generated">
            <a:extLst>
              <a:ext uri="{FF2B5EF4-FFF2-40B4-BE49-F238E27FC236}">
                <a16:creationId xmlns:a16="http://schemas.microsoft.com/office/drawing/2014/main" id="{99D73793-352D-FFEE-5394-9A8554E4E49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51825" y="4562475"/>
            <a:ext cx="5994567" cy="1713495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E54E9E8-548A-C838-0907-45CC6BECA768}"/>
              </a:ext>
            </a:extLst>
          </p:cNvPr>
          <p:cNvSpPr txBox="1"/>
          <p:nvPr/>
        </p:nvSpPr>
        <p:spPr>
          <a:xfrm>
            <a:off x="628266" y="5508406"/>
            <a:ext cx="474429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Gomes, Cláudio, Giuseppe Abbiati, and Peter Gorm Larsen. “Seismic Hybrid Testing Using FMI-Based Co-Simulation.” In Proceedings of the 14th International </a:t>
            </a:r>
            <a:r>
              <a:rPr lang="en-US" sz="900" dirty="0" err="1">
                <a:solidFill>
                  <a:schemeClr val="bg1">
                    <a:lumMod val="50000"/>
                  </a:schemeClr>
                </a:solidFill>
              </a:rPr>
              <a:t>Modelica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 Conference. online: Linköping University Electronic Press, </a:t>
            </a:r>
            <a:r>
              <a:rPr lang="en-US" sz="900" dirty="0" err="1">
                <a:solidFill>
                  <a:schemeClr val="bg1">
                    <a:lumMod val="50000"/>
                  </a:schemeClr>
                </a:solidFill>
              </a:rPr>
              <a:t>Linköpings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sz="900" dirty="0" err="1">
                <a:solidFill>
                  <a:schemeClr val="bg1">
                    <a:lumMod val="50000"/>
                  </a:schemeClr>
                </a:solidFill>
              </a:rPr>
              <a:t>Universitet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, 2021. https://doi.org/10.3384/ecp21181287.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536E032-284E-3039-8B50-D48A4954B1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21076" y="824761"/>
            <a:ext cx="2825316" cy="3421248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B79B2FED-05D5-5637-DA97-B180EC43C083}"/>
              </a:ext>
            </a:extLst>
          </p:cNvPr>
          <p:cNvSpPr/>
          <p:nvPr/>
        </p:nvSpPr>
        <p:spPr>
          <a:xfrm>
            <a:off x="6486525" y="2620216"/>
            <a:ext cx="2034551" cy="16158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04800" indent="-304800" algn="r"/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Pedersen, N., </a:t>
            </a:r>
            <a:r>
              <a:rPr lang="en-US" sz="900" dirty="0" err="1">
                <a:solidFill>
                  <a:schemeClr val="bg1">
                    <a:lumMod val="50000"/>
                  </a:schemeClr>
                </a:solidFill>
              </a:rPr>
              <a:t>Lausdahl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, et. al (2017). Distributed Co-Simulation of Embedded Control Software with Exhaust Gas Recirculation Water Handling System using INTO-CPS. In 7th International Conference on Simulation and Modeling Methodologies, Technologies and Applications (pp. 73–82).</a:t>
            </a:r>
          </a:p>
        </p:txBody>
      </p:sp>
    </p:spTree>
    <p:extLst>
      <p:ext uri="{BB962C8B-B14F-4D97-AF65-F5344CB8AC3E}">
        <p14:creationId xmlns:p14="http://schemas.microsoft.com/office/powerpoint/2010/main" val="3684372525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0942DFE2-B8E9-A1D6-3FAF-EB02B96DC6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4800" dirty="0"/>
              <a:t>FMI &amp; Digital Twins</a:t>
            </a:r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EF0451EF-4275-B5F4-7844-13C179D59E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325233337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D375C30-CB92-4B95-6A95-539AF087E8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Definition in this Tutorial: Digital Shadow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93F071C-A09C-2633-74C0-589E756A89BD}"/>
              </a:ext>
            </a:extLst>
          </p:cNvPr>
          <p:cNvSpPr/>
          <p:nvPr/>
        </p:nvSpPr>
        <p:spPr>
          <a:xfrm>
            <a:off x="1178019" y="2327434"/>
            <a:ext cx="4402627" cy="25435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 defTabSz="914126">
              <a:lnSpc>
                <a:spcPts val="4798"/>
              </a:lnSpc>
            </a:pPr>
            <a:r>
              <a:rPr lang="en-US" sz="2399" dirty="0">
                <a:solidFill>
                  <a:srgbClr val="000000"/>
                </a:solidFill>
                <a:latin typeface="AU Passata"/>
              </a:rPr>
              <a:t>Physical Twin (CPS)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F7A702C-0939-6606-880D-0C3C379EEF79}"/>
              </a:ext>
            </a:extLst>
          </p:cNvPr>
          <p:cNvSpPr/>
          <p:nvPr/>
        </p:nvSpPr>
        <p:spPr>
          <a:xfrm>
            <a:off x="2516065" y="2953476"/>
            <a:ext cx="2305770" cy="64571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914126">
              <a:lnSpc>
                <a:spcPts val="4798"/>
              </a:lnSpc>
            </a:pPr>
            <a:r>
              <a:rPr lang="en-US" sz="2399" dirty="0">
                <a:solidFill>
                  <a:srgbClr val="000000"/>
                </a:solidFill>
                <a:latin typeface="AU Passata"/>
              </a:rPr>
              <a:t>Plant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3D2B138-2CF5-393D-3646-9EA78E831F1A}"/>
              </a:ext>
            </a:extLst>
          </p:cNvPr>
          <p:cNvSpPr/>
          <p:nvPr/>
        </p:nvSpPr>
        <p:spPr>
          <a:xfrm>
            <a:off x="2516065" y="4046280"/>
            <a:ext cx="2305770" cy="64571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914126">
              <a:lnSpc>
                <a:spcPts val="4798"/>
              </a:lnSpc>
            </a:pPr>
            <a:r>
              <a:rPr lang="en-US" sz="2399" dirty="0">
                <a:solidFill>
                  <a:srgbClr val="000000"/>
                </a:solidFill>
                <a:latin typeface="AU Passata"/>
              </a:rPr>
              <a:t>Controller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AD6B4AEA-0B17-6958-7C2D-80AB1EAE06B2}"/>
              </a:ext>
            </a:extLst>
          </p:cNvPr>
          <p:cNvCxnSpPr/>
          <p:nvPr/>
        </p:nvCxnSpPr>
        <p:spPr>
          <a:xfrm flipV="1">
            <a:off x="3149102" y="3599195"/>
            <a:ext cx="0" cy="44708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7C05004E-4F9F-6850-CD67-3806D53C8D46}"/>
              </a:ext>
            </a:extLst>
          </p:cNvPr>
          <p:cNvCxnSpPr/>
          <p:nvPr/>
        </p:nvCxnSpPr>
        <p:spPr>
          <a:xfrm>
            <a:off x="4130103" y="3599195"/>
            <a:ext cx="0" cy="44708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0ABF0854-B31F-4B31-9942-8F6798B7B125}"/>
              </a:ext>
            </a:extLst>
          </p:cNvPr>
          <p:cNvSpPr/>
          <p:nvPr/>
        </p:nvSpPr>
        <p:spPr>
          <a:xfrm>
            <a:off x="6933132" y="2327434"/>
            <a:ext cx="3823389" cy="25435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 defTabSz="914126">
              <a:lnSpc>
                <a:spcPts val="4798"/>
              </a:lnSpc>
            </a:pPr>
            <a:r>
              <a:rPr lang="en-US" sz="2399" dirty="0">
                <a:solidFill>
                  <a:srgbClr val="000000"/>
                </a:solidFill>
                <a:latin typeface="AU Passata"/>
              </a:rPr>
              <a:t>Digital Shadow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7E914A35-8DB9-E079-FC75-1984F7C452BE}"/>
              </a:ext>
            </a:extLst>
          </p:cNvPr>
          <p:cNvCxnSpPr/>
          <p:nvPr/>
        </p:nvCxnSpPr>
        <p:spPr>
          <a:xfrm>
            <a:off x="5580643" y="2689411"/>
            <a:ext cx="1352489" cy="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D7746EEF-0869-D037-610E-5759C7969637}"/>
              </a:ext>
            </a:extLst>
          </p:cNvPr>
          <p:cNvSpPr txBox="1"/>
          <p:nvPr/>
        </p:nvSpPr>
        <p:spPr>
          <a:xfrm>
            <a:off x="7041489" y="3007342"/>
            <a:ext cx="3606673" cy="19382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578" indent="-285578" defTabSz="914126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999" dirty="0">
                <a:solidFill>
                  <a:srgbClr val="000000"/>
                </a:solidFill>
              </a:rPr>
              <a:t>Visualization</a:t>
            </a:r>
          </a:p>
          <a:p>
            <a:pPr marL="285578" indent="-285578" defTabSz="914126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999" dirty="0">
                <a:solidFill>
                  <a:srgbClr val="000000"/>
                </a:solidFill>
              </a:rPr>
              <a:t>Monitoring</a:t>
            </a:r>
          </a:p>
          <a:p>
            <a:pPr marL="285578" indent="-285578" defTabSz="914126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999" dirty="0">
                <a:solidFill>
                  <a:srgbClr val="000000"/>
                </a:solidFill>
              </a:rPr>
              <a:t>Predictive maintenance</a:t>
            </a:r>
          </a:p>
          <a:p>
            <a:pPr marL="285578" indent="-285578" defTabSz="914126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999" dirty="0">
                <a:solidFill>
                  <a:srgbClr val="000000"/>
                </a:solidFill>
              </a:rPr>
              <a:t>Fault Diagnosis</a:t>
            </a:r>
          </a:p>
          <a:p>
            <a:pPr marL="285578" indent="-285578" defTabSz="914126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999" dirty="0">
                <a:solidFill>
                  <a:srgbClr val="000000"/>
                </a:solidFill>
              </a:rPr>
              <a:t>Support for decision making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257E731-0CB2-5F69-C73D-58D175A36338}"/>
              </a:ext>
            </a:extLst>
          </p:cNvPr>
          <p:cNvSpPr/>
          <p:nvPr/>
        </p:nvSpPr>
        <p:spPr>
          <a:xfrm rot="16200000">
            <a:off x="5221060" y="2958240"/>
            <a:ext cx="2071655" cy="81004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914126">
              <a:lnSpc>
                <a:spcPct val="100000"/>
              </a:lnSpc>
            </a:pPr>
            <a:r>
              <a:rPr lang="en-US" sz="1999" dirty="0">
                <a:solidFill>
                  <a:srgbClr val="000000"/>
                </a:solidFill>
                <a:latin typeface="AU Passata"/>
              </a:rPr>
              <a:t>Communication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11E9472-2F7E-FCC6-0CF7-5276E681F498}"/>
              </a:ext>
            </a:extLst>
          </p:cNvPr>
          <p:cNvSpPr/>
          <p:nvPr/>
        </p:nvSpPr>
        <p:spPr>
          <a:xfrm rot="16200000">
            <a:off x="829299" y="3499877"/>
            <a:ext cx="1738523" cy="64571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914126">
              <a:lnSpc>
                <a:spcPts val="4798"/>
              </a:lnSpc>
            </a:pPr>
            <a:r>
              <a:rPr lang="en-US" sz="2399" dirty="0" err="1">
                <a:solidFill>
                  <a:srgbClr val="000000"/>
                </a:solidFill>
                <a:latin typeface="AU Passata"/>
              </a:rPr>
              <a:t>Env</a:t>
            </a:r>
            <a:endParaRPr lang="en-US" sz="2399" dirty="0">
              <a:solidFill>
                <a:srgbClr val="000000"/>
              </a:solidFill>
              <a:latin typeface="AU Passata"/>
            </a:endParaRP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5CF6DE94-7003-DE44-9673-A812D8C5AB68}"/>
              </a:ext>
            </a:extLst>
          </p:cNvPr>
          <p:cNvCxnSpPr>
            <a:endCxn id="18" idx="1"/>
          </p:cNvCxnSpPr>
          <p:nvPr/>
        </p:nvCxnSpPr>
        <p:spPr>
          <a:xfrm>
            <a:off x="2021421" y="4369140"/>
            <a:ext cx="494644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A2C9C512-F9C9-2169-06E7-9A8C6C7688F0}"/>
              </a:ext>
            </a:extLst>
          </p:cNvPr>
          <p:cNvCxnSpPr>
            <a:endCxn id="17" idx="1"/>
          </p:cNvCxnSpPr>
          <p:nvPr/>
        </p:nvCxnSpPr>
        <p:spPr>
          <a:xfrm>
            <a:off x="2021421" y="3276336"/>
            <a:ext cx="494644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04863366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26A439FB-CB60-485A-0A96-5B8F313E24F6}"/>
              </a:ext>
            </a:extLst>
          </p:cNvPr>
          <p:cNvSpPr/>
          <p:nvPr/>
        </p:nvSpPr>
        <p:spPr>
          <a:xfrm>
            <a:off x="1175376" y="2297519"/>
            <a:ext cx="4402627" cy="25435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 defTabSz="914126">
              <a:lnSpc>
                <a:spcPts val="4798"/>
              </a:lnSpc>
            </a:pPr>
            <a:r>
              <a:rPr lang="en-US" sz="2399" dirty="0">
                <a:solidFill>
                  <a:srgbClr val="000000"/>
                </a:solidFill>
                <a:latin typeface="AU Passata"/>
              </a:rPr>
              <a:t>Physical Twin (CPS)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209EAF3-19A2-EE81-BDAA-E9BEF35FCECE}"/>
              </a:ext>
            </a:extLst>
          </p:cNvPr>
          <p:cNvSpPr/>
          <p:nvPr/>
        </p:nvSpPr>
        <p:spPr>
          <a:xfrm>
            <a:off x="6930489" y="2297518"/>
            <a:ext cx="3823389" cy="314767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 defTabSz="914126">
              <a:lnSpc>
                <a:spcPts val="4798"/>
              </a:lnSpc>
            </a:pPr>
            <a:r>
              <a:rPr lang="en-US" sz="2399" dirty="0">
                <a:solidFill>
                  <a:srgbClr val="000000"/>
                </a:solidFill>
                <a:latin typeface="AU Passata"/>
              </a:rPr>
              <a:t>Digital Twin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0BFC453-033E-601B-4455-8A136710E3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Digital Twin Definition in this Tutorial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805A833C-2D15-DEA1-6768-8E5CF6E9FFB8}"/>
              </a:ext>
            </a:extLst>
          </p:cNvPr>
          <p:cNvCxnSpPr/>
          <p:nvPr/>
        </p:nvCxnSpPr>
        <p:spPr>
          <a:xfrm>
            <a:off x="5578000" y="2659496"/>
            <a:ext cx="1352489" cy="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DDF19669-0063-A555-4FC6-B36ABB050867}"/>
              </a:ext>
            </a:extLst>
          </p:cNvPr>
          <p:cNvSpPr txBox="1"/>
          <p:nvPr/>
        </p:nvSpPr>
        <p:spPr>
          <a:xfrm>
            <a:off x="7038846" y="2900949"/>
            <a:ext cx="3606673" cy="22458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578" indent="-285578" defTabSz="914126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999" dirty="0">
                <a:solidFill>
                  <a:srgbClr val="000000"/>
                </a:solidFill>
              </a:rPr>
              <a:t>Visualization</a:t>
            </a:r>
          </a:p>
          <a:p>
            <a:pPr marL="285578" indent="-285578" defTabSz="914126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999" dirty="0">
                <a:solidFill>
                  <a:srgbClr val="000000"/>
                </a:solidFill>
              </a:rPr>
              <a:t>Monitoring</a:t>
            </a:r>
          </a:p>
          <a:p>
            <a:pPr marL="285578" indent="-285578" defTabSz="914126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999" dirty="0">
                <a:solidFill>
                  <a:srgbClr val="000000"/>
                </a:solidFill>
              </a:rPr>
              <a:t>Predictive maintenance</a:t>
            </a:r>
          </a:p>
          <a:p>
            <a:pPr marL="285578" indent="-285578" defTabSz="914126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999" dirty="0">
                <a:solidFill>
                  <a:srgbClr val="000000"/>
                </a:solidFill>
              </a:rPr>
              <a:t>Fault Diagnosis</a:t>
            </a:r>
          </a:p>
          <a:p>
            <a:pPr marL="285578" indent="-285578" defTabSz="914126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999" dirty="0">
                <a:solidFill>
                  <a:srgbClr val="000000"/>
                </a:solidFill>
              </a:rPr>
              <a:t>Support for decision making</a:t>
            </a:r>
          </a:p>
          <a:p>
            <a:pPr marL="285578" indent="-285578" defTabSz="914126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999" b="1" dirty="0">
                <a:solidFill>
                  <a:srgbClr val="000000"/>
                </a:solidFill>
              </a:rPr>
              <a:t>Re-configuration of PT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7D24CCE8-A2FC-0623-8E41-D77F4A029BFA}"/>
              </a:ext>
            </a:extLst>
          </p:cNvPr>
          <p:cNvCxnSpPr/>
          <p:nvPr/>
        </p:nvCxnSpPr>
        <p:spPr>
          <a:xfrm flipH="1">
            <a:off x="5578000" y="4513152"/>
            <a:ext cx="1352487" cy="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A7AF8484-3859-08AF-9C28-5D4B6244EF1A}"/>
              </a:ext>
            </a:extLst>
          </p:cNvPr>
          <p:cNvSpPr/>
          <p:nvPr/>
        </p:nvSpPr>
        <p:spPr>
          <a:xfrm rot="16200000">
            <a:off x="5066908" y="3270340"/>
            <a:ext cx="2543523" cy="59787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914126">
              <a:lnSpc>
                <a:spcPct val="100000"/>
              </a:lnSpc>
            </a:pPr>
            <a:r>
              <a:rPr lang="en-US" sz="1999" dirty="0">
                <a:solidFill>
                  <a:srgbClr val="000000"/>
                </a:solidFill>
                <a:latin typeface="AU Passata"/>
              </a:rPr>
              <a:t>Communication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BF3236F-0757-98E7-3964-30B96F0FFB89}"/>
              </a:ext>
            </a:extLst>
          </p:cNvPr>
          <p:cNvSpPr/>
          <p:nvPr/>
        </p:nvSpPr>
        <p:spPr>
          <a:xfrm>
            <a:off x="2513422" y="2923561"/>
            <a:ext cx="2305770" cy="64571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914126">
              <a:lnSpc>
                <a:spcPts val="4798"/>
              </a:lnSpc>
            </a:pPr>
            <a:r>
              <a:rPr lang="en-US" sz="2399" dirty="0">
                <a:solidFill>
                  <a:srgbClr val="000000"/>
                </a:solidFill>
                <a:latin typeface="AU Passata"/>
              </a:rPr>
              <a:t>Plant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34F858B-B03F-74CF-272B-BC9DB5F7F6F1}"/>
              </a:ext>
            </a:extLst>
          </p:cNvPr>
          <p:cNvSpPr/>
          <p:nvPr/>
        </p:nvSpPr>
        <p:spPr>
          <a:xfrm>
            <a:off x="2513422" y="4016365"/>
            <a:ext cx="2305770" cy="64571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914126">
              <a:lnSpc>
                <a:spcPts val="4798"/>
              </a:lnSpc>
            </a:pPr>
            <a:r>
              <a:rPr lang="en-US" sz="2399" dirty="0">
                <a:solidFill>
                  <a:srgbClr val="000000"/>
                </a:solidFill>
                <a:latin typeface="AU Passata"/>
              </a:rPr>
              <a:t>Controller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6CD995E6-EBB4-E2A0-BFC7-F35014BA7F55}"/>
              </a:ext>
            </a:extLst>
          </p:cNvPr>
          <p:cNvCxnSpPr/>
          <p:nvPr/>
        </p:nvCxnSpPr>
        <p:spPr>
          <a:xfrm flipV="1">
            <a:off x="3146459" y="3569280"/>
            <a:ext cx="0" cy="44708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4C124B3D-5ADD-72AB-1A22-383007553E1C}"/>
              </a:ext>
            </a:extLst>
          </p:cNvPr>
          <p:cNvCxnSpPr/>
          <p:nvPr/>
        </p:nvCxnSpPr>
        <p:spPr>
          <a:xfrm>
            <a:off x="4127460" y="3569280"/>
            <a:ext cx="0" cy="44708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67483F5D-ED87-4443-4910-6CA629624FC7}"/>
              </a:ext>
            </a:extLst>
          </p:cNvPr>
          <p:cNvSpPr/>
          <p:nvPr/>
        </p:nvSpPr>
        <p:spPr>
          <a:xfrm rot="16200000">
            <a:off x="826656" y="3469962"/>
            <a:ext cx="1738523" cy="64571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914126">
              <a:lnSpc>
                <a:spcPts val="4798"/>
              </a:lnSpc>
            </a:pPr>
            <a:r>
              <a:rPr lang="en-US" sz="2399" dirty="0" err="1">
                <a:solidFill>
                  <a:srgbClr val="000000"/>
                </a:solidFill>
                <a:latin typeface="AU Passata"/>
              </a:rPr>
              <a:t>Env</a:t>
            </a:r>
            <a:endParaRPr lang="en-US" sz="2399" dirty="0">
              <a:solidFill>
                <a:srgbClr val="000000"/>
              </a:solidFill>
              <a:latin typeface="AU Passata"/>
            </a:endParaRP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39BA5857-3F74-6D34-8C50-51E28A530333}"/>
              </a:ext>
            </a:extLst>
          </p:cNvPr>
          <p:cNvCxnSpPr>
            <a:endCxn id="11" idx="1"/>
          </p:cNvCxnSpPr>
          <p:nvPr/>
        </p:nvCxnSpPr>
        <p:spPr>
          <a:xfrm>
            <a:off x="2018778" y="4339225"/>
            <a:ext cx="494644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1BE21299-93A8-2948-1515-08B1F7591543}"/>
              </a:ext>
            </a:extLst>
          </p:cNvPr>
          <p:cNvCxnSpPr>
            <a:endCxn id="10" idx="1"/>
          </p:cNvCxnSpPr>
          <p:nvPr/>
        </p:nvCxnSpPr>
        <p:spPr>
          <a:xfrm>
            <a:off x="2018778" y="3246421"/>
            <a:ext cx="494644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35734510"/>
      </p:ext>
    </p:extLst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D6222C01-890E-4E7C-86FB-8A6023CD87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4118" y="2170497"/>
            <a:ext cx="3612607" cy="738944"/>
          </a:xfrm>
        </p:spPr>
        <p:txBody>
          <a:bodyPr/>
          <a:lstStyle/>
          <a:p>
            <a:r>
              <a:rPr lang="en-US" dirty="0"/>
              <a:t>Leverage design time models at deployment time.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6314039-6624-BFB8-4D14-441DD0060B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Opportunities of FMI in DTs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D90E11AB-3C12-AEF6-9D13-2258CD1B0A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404803" y="1451710"/>
            <a:ext cx="3128744" cy="21765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Arrow: Right 4">
            <a:extLst>
              <a:ext uri="{FF2B5EF4-FFF2-40B4-BE49-F238E27FC236}">
                <a16:creationId xmlns:a16="http://schemas.microsoft.com/office/drawing/2014/main" id="{34BD628B-7732-BA91-6764-CC74CE2388CC}"/>
              </a:ext>
            </a:extLst>
          </p:cNvPr>
          <p:cNvSpPr/>
          <p:nvPr/>
        </p:nvSpPr>
        <p:spPr>
          <a:xfrm>
            <a:off x="4436704" y="5175700"/>
            <a:ext cx="2664795" cy="777449"/>
          </a:xfrm>
          <a:prstGeom prst="rightArrow">
            <a:avLst/>
          </a:prstGeom>
          <a:solidFill>
            <a:sysClr val="window" lastClr="FFFFFF"/>
          </a:solidFill>
          <a:ln w="12700" cap="flat" cmpd="sng" algn="ctr">
            <a:solidFill>
              <a:srgbClr val="4472C4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Development</a:t>
            </a:r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8331D62E-8F16-F85C-194E-1AF8674D22E3}"/>
              </a:ext>
            </a:extLst>
          </p:cNvPr>
          <p:cNvSpPr/>
          <p:nvPr/>
        </p:nvSpPr>
        <p:spPr>
          <a:xfrm>
            <a:off x="7478285" y="5192724"/>
            <a:ext cx="2768941" cy="777449"/>
          </a:xfrm>
          <a:prstGeom prst="rightArrow">
            <a:avLst/>
          </a:prstGeom>
          <a:solidFill>
            <a:sysClr val="window" lastClr="FFFFFF"/>
          </a:solidFill>
          <a:ln w="12700" cap="flat" cmpd="sng" algn="ctr">
            <a:solidFill>
              <a:srgbClr val="4472C4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Deployment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6992CAD-EBD8-5DD3-FC60-DD297C3611EA}"/>
              </a:ext>
            </a:extLst>
          </p:cNvPr>
          <p:cNvSpPr/>
          <p:nvPr/>
        </p:nvSpPr>
        <p:spPr>
          <a:xfrm>
            <a:off x="4404803" y="1716864"/>
            <a:ext cx="1324763" cy="2096835"/>
          </a:xfrm>
          <a:prstGeom prst="rect">
            <a:avLst/>
          </a:prstGeom>
          <a:solidFill>
            <a:srgbClr val="B4C7E7">
              <a:alpha val="40000"/>
            </a:srgbClr>
          </a:solidFill>
          <a:ln w="127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Arrow: Curved Down 7">
            <a:extLst>
              <a:ext uri="{FF2B5EF4-FFF2-40B4-BE49-F238E27FC236}">
                <a16:creationId xmlns:a16="http://schemas.microsoft.com/office/drawing/2014/main" id="{F4BF245B-313D-39ED-64A7-60201B53EA13}"/>
              </a:ext>
            </a:extLst>
          </p:cNvPr>
          <p:cNvSpPr/>
          <p:nvPr/>
        </p:nvSpPr>
        <p:spPr>
          <a:xfrm rot="10800000" flipH="1">
            <a:off x="4797244" y="3788694"/>
            <a:ext cx="4104456" cy="1421052"/>
          </a:xfrm>
          <a:prstGeom prst="curvedDownArrow">
            <a:avLst/>
          </a:prstGeom>
          <a:solidFill>
            <a:srgbClr val="4472C4"/>
          </a:solidFill>
          <a:ln w="127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52E296F-3635-CC89-D08F-4F6D5F3F3B55}"/>
              </a:ext>
            </a:extLst>
          </p:cNvPr>
          <p:cNvSpPr/>
          <p:nvPr/>
        </p:nvSpPr>
        <p:spPr>
          <a:xfrm>
            <a:off x="7956895" y="1669709"/>
            <a:ext cx="1376548" cy="777450"/>
          </a:xfrm>
          <a:prstGeom prst="rect">
            <a:avLst/>
          </a:prstGeom>
          <a:solidFill>
            <a:srgbClr val="4472C4"/>
          </a:solidFill>
          <a:ln w="127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Physical Twin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7CC3594-56F2-DE9F-F212-187CEEEA8799}"/>
              </a:ext>
            </a:extLst>
          </p:cNvPr>
          <p:cNvSpPr/>
          <p:nvPr/>
        </p:nvSpPr>
        <p:spPr>
          <a:xfrm>
            <a:off x="7956895" y="2991816"/>
            <a:ext cx="1376548" cy="777450"/>
          </a:xfrm>
          <a:prstGeom prst="rect">
            <a:avLst/>
          </a:prstGeom>
          <a:solidFill>
            <a:srgbClr val="ED7D31"/>
          </a:solidFill>
          <a:ln w="12700" cap="flat" cmpd="sng" algn="ctr">
            <a:solidFill>
              <a:srgbClr val="ED7D31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Digital Twin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44316868-9D99-0930-3A09-FE135F49D416}"/>
              </a:ext>
            </a:extLst>
          </p:cNvPr>
          <p:cNvCxnSpPr>
            <a:cxnSpLocks/>
          </p:cNvCxnSpPr>
          <p:nvPr/>
        </p:nvCxnSpPr>
        <p:spPr>
          <a:xfrm>
            <a:off x="9045715" y="2447159"/>
            <a:ext cx="0" cy="609880"/>
          </a:xfrm>
          <a:prstGeom prst="straightConnector1">
            <a:avLst/>
          </a:prstGeom>
          <a:noFill/>
          <a:ln w="3810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C59BB919-1EDF-8F15-B36D-EED15C4FA3CF}"/>
              </a:ext>
            </a:extLst>
          </p:cNvPr>
          <p:cNvCxnSpPr>
            <a:cxnSpLocks/>
          </p:cNvCxnSpPr>
          <p:nvPr/>
        </p:nvCxnSpPr>
        <p:spPr>
          <a:xfrm flipV="1">
            <a:off x="8253627" y="2447159"/>
            <a:ext cx="0" cy="544657"/>
          </a:xfrm>
          <a:prstGeom prst="straightConnector1">
            <a:avLst/>
          </a:prstGeom>
          <a:noFill/>
          <a:ln w="3810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sp>
        <p:nvSpPr>
          <p:cNvPr id="2" name="Content Placeholder 12">
            <a:extLst>
              <a:ext uri="{FF2B5EF4-FFF2-40B4-BE49-F238E27FC236}">
                <a16:creationId xmlns:a16="http://schemas.microsoft.com/office/drawing/2014/main" id="{19288A60-89D3-3207-0336-B54A9F8B4F60}"/>
              </a:ext>
            </a:extLst>
          </p:cNvPr>
          <p:cNvSpPr txBox="1">
            <a:spLocks/>
          </p:cNvSpPr>
          <p:nvPr/>
        </p:nvSpPr>
        <p:spPr bwMode="auto">
          <a:xfrm>
            <a:off x="664118" y="4129748"/>
            <a:ext cx="3612607" cy="7389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0" indent="0" algn="l" rtl="0" eaLnBrk="1" fontAlgn="base" hangingPunct="1">
              <a:spcBef>
                <a:spcPct val="0"/>
              </a:spcBef>
              <a:spcAft>
                <a:spcPct val="30000"/>
              </a:spcAft>
              <a:buSzPct val="75000"/>
              <a:buFont typeface="Arial" panose="020B0604020202020204" pitchFamily="34" charset="0"/>
              <a:buNone/>
              <a:defRPr sz="2000">
                <a:solidFill>
                  <a:srgbClr val="5E676E"/>
                </a:solidFill>
                <a:latin typeface="+mn-lt"/>
                <a:ea typeface="+mn-ea"/>
                <a:cs typeface="+mn-cs"/>
              </a:defRPr>
            </a:lvl1pPr>
            <a:lvl2pPr marL="265113" indent="-263525" algn="l" rtl="0" eaLnBrk="1" fontAlgn="base" hangingPunct="1">
              <a:spcBef>
                <a:spcPct val="0"/>
              </a:spcBef>
              <a:spcAft>
                <a:spcPct val="30000"/>
              </a:spcAft>
              <a:buClr>
                <a:srgbClr val="120C80"/>
              </a:buClr>
              <a:buSzPct val="100000"/>
              <a:buFont typeface="Wingdings" panose="05000000000000000000" pitchFamily="2" charset="2"/>
              <a:buChar char="§"/>
              <a:defRPr>
                <a:solidFill>
                  <a:srgbClr val="5E676E"/>
                </a:solidFill>
                <a:latin typeface="+mn-lt"/>
              </a:defRPr>
            </a:lvl2pPr>
            <a:lvl3pPr marL="536575" indent="-265113" algn="l" rtl="0" eaLnBrk="1" fontAlgn="base" hangingPunct="1">
              <a:spcBef>
                <a:spcPct val="0"/>
              </a:spcBef>
              <a:spcAft>
                <a:spcPct val="30000"/>
              </a:spcAft>
              <a:buClr>
                <a:srgbClr val="120C80"/>
              </a:buClr>
              <a:buSzPct val="90000"/>
              <a:buFont typeface="Wingdings" panose="05000000000000000000" pitchFamily="2" charset="2"/>
              <a:buChar char="§"/>
              <a:defRPr sz="1800">
                <a:solidFill>
                  <a:srgbClr val="5E676E"/>
                </a:solidFill>
                <a:latin typeface="+mn-lt"/>
              </a:defRPr>
            </a:lvl3pPr>
            <a:lvl4pPr marL="803275" indent="-265113" algn="l" defTabSz="896938" rtl="0" eaLnBrk="1" fontAlgn="base" hangingPunct="1">
              <a:spcBef>
                <a:spcPct val="0"/>
              </a:spcBef>
              <a:spcAft>
                <a:spcPct val="30000"/>
              </a:spcAft>
              <a:buClr>
                <a:schemeClr val="bg2"/>
              </a:buClr>
              <a:buSzPct val="85000"/>
              <a:buFont typeface="Wingdings" panose="05000000000000000000" pitchFamily="2" charset="2"/>
              <a:buChar char="§"/>
              <a:defRPr sz="1600">
                <a:solidFill>
                  <a:srgbClr val="5E676E"/>
                </a:solidFill>
                <a:latin typeface="+mn-lt"/>
              </a:defRPr>
            </a:lvl4pPr>
            <a:lvl5pPr marL="982663" indent="-177800" algn="l" rtl="0" eaLnBrk="1" fontAlgn="base" hangingPunct="1">
              <a:spcBef>
                <a:spcPct val="0"/>
              </a:spcBef>
              <a:spcAft>
                <a:spcPct val="30000"/>
              </a:spcAft>
              <a:buClr>
                <a:schemeClr val="bg2"/>
              </a:buClr>
              <a:buSzPct val="75000"/>
              <a:buChar char="-"/>
              <a:defRPr sz="1600">
                <a:solidFill>
                  <a:srgbClr val="5E676E"/>
                </a:solidFill>
                <a:latin typeface="+mn-lt"/>
              </a:defRPr>
            </a:lvl5pPr>
            <a:lvl6pPr marL="1533525" indent="-177800" algn="l" rtl="0" eaLnBrk="1" fontAlgn="base" hangingPunct="1">
              <a:spcBef>
                <a:spcPct val="0"/>
              </a:spcBef>
              <a:spcAft>
                <a:spcPct val="30000"/>
              </a:spcAft>
              <a:buClr>
                <a:schemeClr val="bg2"/>
              </a:buClr>
              <a:buSzPct val="75000"/>
              <a:buChar char="-"/>
              <a:defRPr sz="1400">
                <a:solidFill>
                  <a:schemeClr val="tx1"/>
                </a:solidFill>
                <a:latin typeface="+mn-lt"/>
              </a:defRPr>
            </a:lvl6pPr>
            <a:lvl7pPr marL="1990725" indent="-177800" algn="l" rtl="0" eaLnBrk="1" fontAlgn="base" hangingPunct="1">
              <a:spcBef>
                <a:spcPct val="0"/>
              </a:spcBef>
              <a:spcAft>
                <a:spcPct val="30000"/>
              </a:spcAft>
              <a:buClr>
                <a:schemeClr val="bg2"/>
              </a:buClr>
              <a:buSzPct val="75000"/>
              <a:buChar char="-"/>
              <a:defRPr sz="1400">
                <a:solidFill>
                  <a:schemeClr val="tx1"/>
                </a:solidFill>
                <a:latin typeface="+mn-lt"/>
              </a:defRPr>
            </a:lvl7pPr>
            <a:lvl8pPr marL="2447925" indent="-177800" algn="l" rtl="0" eaLnBrk="1" fontAlgn="base" hangingPunct="1">
              <a:spcBef>
                <a:spcPct val="0"/>
              </a:spcBef>
              <a:spcAft>
                <a:spcPct val="30000"/>
              </a:spcAft>
              <a:buClr>
                <a:schemeClr val="bg2"/>
              </a:buClr>
              <a:buSzPct val="75000"/>
              <a:buChar char="-"/>
              <a:defRPr sz="1400">
                <a:solidFill>
                  <a:schemeClr val="tx1"/>
                </a:solidFill>
                <a:latin typeface="+mn-lt"/>
              </a:defRPr>
            </a:lvl8pPr>
            <a:lvl9pPr marL="2905125" indent="-177800" algn="l" rtl="0" eaLnBrk="1" fontAlgn="base" hangingPunct="1">
              <a:spcBef>
                <a:spcPct val="0"/>
              </a:spcBef>
              <a:spcAft>
                <a:spcPct val="30000"/>
              </a:spcAft>
              <a:buClr>
                <a:schemeClr val="bg2"/>
              </a:buClr>
              <a:buSzPct val="75000"/>
              <a:buChar char="-"/>
              <a:defRPr sz="14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dirty="0"/>
              <a:t>Deploy models without design time tooling.</a:t>
            </a:r>
          </a:p>
        </p:txBody>
      </p:sp>
    </p:spTree>
    <p:extLst>
      <p:ext uri="{BB962C8B-B14F-4D97-AF65-F5344CB8AC3E}">
        <p14:creationId xmlns:p14="http://schemas.microsoft.com/office/powerpoint/2010/main" val="1572320460"/>
      </p:ext>
    </p:extLst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Rectangle 42">
            <a:extLst>
              <a:ext uri="{FF2B5EF4-FFF2-40B4-BE49-F238E27FC236}">
                <a16:creationId xmlns:a16="http://schemas.microsoft.com/office/drawing/2014/main" id="{0852EDBC-2EFB-C68F-D16F-FCB49370142A}"/>
              </a:ext>
            </a:extLst>
          </p:cNvPr>
          <p:cNvSpPr/>
          <p:nvPr/>
        </p:nvSpPr>
        <p:spPr>
          <a:xfrm>
            <a:off x="482945" y="1880561"/>
            <a:ext cx="3331886" cy="314767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 defTabSz="914126">
              <a:lnSpc>
                <a:spcPts val="4798"/>
              </a:lnSpc>
            </a:pPr>
            <a:r>
              <a:rPr lang="en-US" sz="2399" dirty="0">
                <a:solidFill>
                  <a:srgbClr val="000000"/>
                </a:solidFill>
                <a:latin typeface="AU Passata"/>
              </a:rPr>
              <a:t>Digital Twin</a:t>
            </a: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61FBCC3C-FBD5-F6D1-4677-632EC1815C64}"/>
              </a:ext>
            </a:extLst>
          </p:cNvPr>
          <p:cNvCxnSpPr/>
          <p:nvPr/>
        </p:nvCxnSpPr>
        <p:spPr>
          <a:xfrm>
            <a:off x="-869542" y="2411873"/>
            <a:ext cx="1352489" cy="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E02B05F3-2DD4-955E-F0B1-C49B31C728B8}"/>
              </a:ext>
            </a:extLst>
          </p:cNvPr>
          <p:cNvSpPr txBox="1"/>
          <p:nvPr/>
        </p:nvSpPr>
        <p:spPr>
          <a:xfrm>
            <a:off x="591304" y="2653326"/>
            <a:ext cx="3606673" cy="22458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578" indent="-285578" defTabSz="914126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999" dirty="0">
                <a:solidFill>
                  <a:srgbClr val="000000"/>
                </a:solidFill>
              </a:rPr>
              <a:t>Visualization</a:t>
            </a:r>
          </a:p>
          <a:p>
            <a:pPr marL="285578" indent="-285578" defTabSz="914126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999" dirty="0">
                <a:solidFill>
                  <a:srgbClr val="000000"/>
                </a:solidFill>
              </a:rPr>
              <a:t>Monitoring</a:t>
            </a:r>
          </a:p>
          <a:p>
            <a:pPr marL="285578" indent="-285578" defTabSz="914126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999" dirty="0">
                <a:solidFill>
                  <a:srgbClr val="000000"/>
                </a:solidFill>
              </a:rPr>
              <a:t>Predictive maintenance</a:t>
            </a:r>
          </a:p>
          <a:p>
            <a:pPr marL="285578" indent="-285578" defTabSz="914126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999" dirty="0">
                <a:solidFill>
                  <a:srgbClr val="000000"/>
                </a:solidFill>
              </a:rPr>
              <a:t>Fault Diagnosis</a:t>
            </a:r>
          </a:p>
          <a:p>
            <a:pPr marL="285578" indent="-285578" defTabSz="914126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999" dirty="0">
                <a:solidFill>
                  <a:srgbClr val="000000"/>
                </a:solidFill>
              </a:rPr>
              <a:t>Support for decision making</a:t>
            </a:r>
          </a:p>
          <a:p>
            <a:pPr marL="285578" indent="-285578" defTabSz="914126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999" dirty="0">
                <a:solidFill>
                  <a:srgbClr val="000000"/>
                </a:solidFill>
              </a:rPr>
              <a:t>Re-configuration</a:t>
            </a: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3A5AA926-2C06-7DE6-2467-10DBADC895EC}"/>
              </a:ext>
            </a:extLst>
          </p:cNvPr>
          <p:cNvCxnSpPr/>
          <p:nvPr/>
        </p:nvCxnSpPr>
        <p:spPr>
          <a:xfrm flipH="1">
            <a:off x="-869542" y="4265529"/>
            <a:ext cx="1352487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Rectangle 46">
            <a:extLst>
              <a:ext uri="{FF2B5EF4-FFF2-40B4-BE49-F238E27FC236}">
                <a16:creationId xmlns:a16="http://schemas.microsoft.com/office/drawing/2014/main" id="{EBB360F6-DB27-CAA0-4FFB-03E9DCA10B15}"/>
              </a:ext>
            </a:extLst>
          </p:cNvPr>
          <p:cNvSpPr/>
          <p:nvPr/>
        </p:nvSpPr>
        <p:spPr>
          <a:xfrm rot="16200000">
            <a:off x="-1465059" y="2916635"/>
            <a:ext cx="2543523" cy="81004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914126">
              <a:lnSpc>
                <a:spcPct val="100000"/>
              </a:lnSpc>
            </a:pPr>
            <a:r>
              <a:rPr lang="en-US" sz="1999" dirty="0">
                <a:solidFill>
                  <a:srgbClr val="000000"/>
                </a:solidFill>
                <a:latin typeface="AU Passata"/>
              </a:rPr>
              <a:t>Communication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0BFC453-033E-601B-4455-8A136710E3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Role of FMI in Digital Twinning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01D9917-A680-6AF1-4654-B59AC6755401}"/>
              </a:ext>
            </a:extLst>
          </p:cNvPr>
          <p:cNvSpPr/>
          <p:nvPr/>
        </p:nvSpPr>
        <p:spPr bwMode="auto">
          <a:xfrm>
            <a:off x="5680437" y="3242062"/>
            <a:ext cx="2164399" cy="586957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vert="horz" wrap="square" lIns="90000" tIns="46800" rIns="36000" bIns="468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normalizeH="0" baseline="0" dirty="0">
                <a:ln>
                  <a:noFill/>
                </a:ln>
                <a:solidFill>
                  <a:srgbClr val="120C80"/>
                </a:solidFill>
                <a:effectLst/>
                <a:latin typeface="Arial" charset="0"/>
                <a:cs typeface="Arial" charset="0"/>
              </a:rPr>
              <a:t>Models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93414A31-DC5C-D2A9-CD04-4A5D2C5A8658}"/>
              </a:ext>
            </a:extLst>
          </p:cNvPr>
          <p:cNvCxnSpPr>
            <a:cxnSpLocks/>
            <a:endCxn id="18" idx="1"/>
          </p:cNvCxnSpPr>
          <p:nvPr/>
        </p:nvCxnSpPr>
        <p:spPr bwMode="auto">
          <a:xfrm>
            <a:off x="2358436" y="2878666"/>
            <a:ext cx="3322001" cy="656875"/>
          </a:xfrm>
          <a:prstGeom prst="straightConnector1">
            <a:avLst/>
          </a:prstGeom>
          <a:noFill/>
          <a:ln w="28575" cap="flat" cmpd="sng" algn="ctr">
            <a:solidFill>
              <a:schemeClr val="tx1"/>
            </a:solidFill>
            <a:prstDash val="sysDash"/>
            <a:round/>
            <a:headEnd type="none" w="med" len="med"/>
            <a:tailEnd type="triangle"/>
          </a:ln>
          <a:effectLst/>
        </p:spPr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A19A96D3-D3B1-8D2F-C28F-D2962B65C0F2}"/>
              </a:ext>
            </a:extLst>
          </p:cNvPr>
          <p:cNvCxnSpPr>
            <a:cxnSpLocks/>
            <a:endCxn id="18" idx="1"/>
          </p:cNvCxnSpPr>
          <p:nvPr/>
        </p:nvCxnSpPr>
        <p:spPr bwMode="auto">
          <a:xfrm>
            <a:off x="2031058" y="3160889"/>
            <a:ext cx="3649379" cy="374652"/>
          </a:xfrm>
          <a:prstGeom prst="straightConnector1">
            <a:avLst/>
          </a:prstGeom>
          <a:noFill/>
          <a:ln w="28575" cap="flat" cmpd="sng" algn="ctr">
            <a:solidFill>
              <a:schemeClr val="tx1"/>
            </a:solidFill>
            <a:prstDash val="sysDash"/>
            <a:round/>
            <a:headEnd type="none" w="med" len="med"/>
            <a:tailEnd type="triangle"/>
          </a:ln>
          <a:effectLst/>
        </p:spPr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E4DFD33D-9561-D0A1-6330-AC410AFF60DF}"/>
              </a:ext>
            </a:extLst>
          </p:cNvPr>
          <p:cNvCxnSpPr>
            <a:cxnSpLocks/>
            <a:endCxn id="18" idx="1"/>
          </p:cNvCxnSpPr>
          <p:nvPr/>
        </p:nvCxnSpPr>
        <p:spPr bwMode="auto">
          <a:xfrm flipV="1">
            <a:off x="2708391" y="3535541"/>
            <a:ext cx="2972046" cy="223659"/>
          </a:xfrm>
          <a:prstGeom prst="straightConnector1">
            <a:avLst/>
          </a:prstGeom>
          <a:noFill/>
          <a:ln w="28575" cap="flat" cmpd="sng" algn="ctr">
            <a:solidFill>
              <a:schemeClr val="tx1"/>
            </a:solidFill>
            <a:prstDash val="sysDash"/>
            <a:round/>
            <a:headEnd type="none" w="med" len="med"/>
            <a:tailEnd type="triangle"/>
          </a:ln>
          <a:effectLst/>
        </p:spPr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7E392E46-BAAF-A733-D2FD-E411CEED968B}"/>
              </a:ext>
            </a:extLst>
          </p:cNvPr>
          <p:cNvCxnSpPr>
            <a:cxnSpLocks/>
            <a:endCxn id="18" idx="1"/>
          </p:cNvCxnSpPr>
          <p:nvPr/>
        </p:nvCxnSpPr>
        <p:spPr bwMode="auto">
          <a:xfrm flipV="1">
            <a:off x="3024480" y="3535541"/>
            <a:ext cx="2655957" cy="562326"/>
          </a:xfrm>
          <a:prstGeom prst="straightConnector1">
            <a:avLst/>
          </a:prstGeom>
          <a:noFill/>
          <a:ln w="28575" cap="flat" cmpd="sng" algn="ctr">
            <a:solidFill>
              <a:schemeClr val="tx1"/>
            </a:solidFill>
            <a:prstDash val="sysDash"/>
            <a:round/>
            <a:headEnd type="none" w="med" len="med"/>
            <a:tailEnd type="triangle"/>
          </a:ln>
          <a:effectLst/>
        </p:spPr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ADE61511-C74C-9A25-7D79-6A4C696158D6}"/>
              </a:ext>
            </a:extLst>
          </p:cNvPr>
          <p:cNvCxnSpPr>
            <a:cxnSpLocks/>
            <a:endCxn id="18" idx="1"/>
          </p:cNvCxnSpPr>
          <p:nvPr/>
        </p:nvCxnSpPr>
        <p:spPr bwMode="auto">
          <a:xfrm flipV="1">
            <a:off x="2798702" y="3535541"/>
            <a:ext cx="2881735" cy="1112735"/>
          </a:xfrm>
          <a:prstGeom prst="straightConnector1">
            <a:avLst/>
          </a:prstGeom>
          <a:noFill/>
          <a:ln w="28575" cap="flat" cmpd="sng" algn="ctr">
            <a:solidFill>
              <a:schemeClr val="tx1"/>
            </a:solidFill>
            <a:prstDash val="sysDash"/>
            <a:round/>
            <a:headEnd type="none" w="med" len="med"/>
            <a:tailEnd type="triangle"/>
          </a:ln>
          <a:effectLst/>
        </p:spPr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6503E524-972A-B694-5010-4F724BF7532E}"/>
              </a:ext>
            </a:extLst>
          </p:cNvPr>
          <p:cNvCxnSpPr>
            <a:cxnSpLocks/>
            <a:endCxn id="18" idx="1"/>
          </p:cNvCxnSpPr>
          <p:nvPr/>
        </p:nvCxnSpPr>
        <p:spPr bwMode="auto">
          <a:xfrm>
            <a:off x="3577636" y="3454400"/>
            <a:ext cx="2102801" cy="81141"/>
          </a:xfrm>
          <a:prstGeom prst="straightConnector1">
            <a:avLst/>
          </a:prstGeom>
          <a:noFill/>
          <a:ln w="28575" cap="flat" cmpd="sng" algn="ctr">
            <a:solidFill>
              <a:schemeClr val="tx1"/>
            </a:solidFill>
            <a:prstDash val="sysDash"/>
            <a:round/>
            <a:headEnd type="none" w="med" len="med"/>
            <a:tailEnd type="triangle"/>
          </a:ln>
          <a:effectLst/>
        </p:spPr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D655C722-4B34-D79A-BA72-1B7748DC5458}"/>
              </a:ext>
            </a:extLst>
          </p:cNvPr>
          <p:cNvSpPr txBox="1"/>
          <p:nvPr/>
        </p:nvSpPr>
        <p:spPr>
          <a:xfrm>
            <a:off x="7941322" y="1608800"/>
            <a:ext cx="391036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effectLst/>
              </a:rPr>
              <a:t>Laughman, Christopher, and Scott A </a:t>
            </a:r>
            <a:r>
              <a:rPr lang="en-US" sz="1200" dirty="0" err="1">
                <a:effectLst/>
              </a:rPr>
              <a:t>Bortoff</a:t>
            </a:r>
            <a:r>
              <a:rPr lang="en-US" sz="1200" dirty="0">
                <a:effectLst/>
              </a:rPr>
              <a:t>. “Nonlinear State Estimation with FMI: Tutorial and Applications,” 23–25, 2020.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6D9FD06E-261E-3DFC-4A67-37F162EE2984}"/>
              </a:ext>
            </a:extLst>
          </p:cNvPr>
          <p:cNvSpPr txBox="1"/>
          <p:nvPr/>
        </p:nvSpPr>
        <p:spPr>
          <a:xfrm>
            <a:off x="7941322" y="2488335"/>
            <a:ext cx="3958608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a-DK" sz="1200" dirty="0">
                <a:effectLst/>
              </a:rPr>
              <a:t>Legaard, Christian Møldrup, Cláudio Gomes, Peter Gorm Larsen, and Frederik F. Foldager. “Rapid Prototyping of Self-Adaptive-Systems Using Python Functional Mockup Units.” In </a:t>
            </a:r>
            <a:r>
              <a:rPr lang="da-DK" sz="1200" i="1" dirty="0">
                <a:effectLst/>
              </a:rPr>
              <a:t>Proceedings of the 2020 Summer Simulation Conference</a:t>
            </a:r>
            <a:r>
              <a:rPr lang="da-DK" sz="1200" dirty="0">
                <a:effectLst/>
              </a:rPr>
              <a:t>, 1–12. SummerSim ’20. Virtual Event. </a:t>
            </a:r>
            <a:r>
              <a:rPr lang="da-DK" sz="1200" dirty="0">
                <a:effectLst/>
                <a:hlinkClick r:id="rId3"/>
              </a:rPr>
              <a:t>https://doi.org/10.5555/3427510.3427532</a:t>
            </a:r>
            <a:r>
              <a:rPr lang="da-DK" sz="1200" dirty="0">
                <a:effectLst/>
              </a:rPr>
              <a:t>.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FF7E712E-6206-F90B-E1C8-FB68931BEE2A}"/>
              </a:ext>
            </a:extLst>
          </p:cNvPr>
          <p:cNvSpPr txBox="1"/>
          <p:nvPr/>
        </p:nvSpPr>
        <p:spPr>
          <a:xfrm>
            <a:off x="7941322" y="4106534"/>
            <a:ext cx="391036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a-DK" sz="1200" dirty="0">
                <a:effectLst/>
              </a:rPr>
              <a:t>Bogomolov, Sergiy, Cláudio Gomes, Carlos Isasa, Sadegh Soudjani, Paulius Stankaitis, and Thomas Wright. “Reachability Analysis of FMI Models Using Data-Driven Dynamic Sensitivity.” </a:t>
            </a:r>
            <a:r>
              <a:rPr lang="da-DK" sz="1200" i="1" dirty="0">
                <a:effectLst/>
              </a:rPr>
              <a:t>SIMULATION</a:t>
            </a:r>
            <a:r>
              <a:rPr lang="da-DK" sz="1200" dirty="0">
                <a:effectLst/>
              </a:rPr>
              <a:t>, Special Issue: Engineering of Dependable Digital Twins, 2023, accepted.</a:t>
            </a:r>
          </a:p>
        </p:txBody>
      </p:sp>
      <p:pic>
        <p:nvPicPr>
          <p:cNvPr id="65" name="Picture 64">
            <a:extLst>
              <a:ext uri="{FF2B5EF4-FFF2-40B4-BE49-F238E27FC236}">
                <a16:creationId xmlns:a16="http://schemas.microsoft.com/office/drawing/2014/main" id="{6B300246-4A86-6CC3-AF3B-0544575F89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8920" y="1449145"/>
            <a:ext cx="3594159" cy="1341616"/>
          </a:xfrm>
          <a:prstGeom prst="rect">
            <a:avLst/>
          </a:prstGeom>
        </p:spPr>
      </p:pic>
      <p:pic>
        <p:nvPicPr>
          <p:cNvPr id="66" name="Picture 65">
            <a:extLst>
              <a:ext uri="{FF2B5EF4-FFF2-40B4-BE49-F238E27FC236}">
                <a16:creationId xmlns:a16="http://schemas.microsoft.com/office/drawing/2014/main" id="{9B803D49-3867-8691-D995-5ECB5677B5A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94414" y="4201084"/>
            <a:ext cx="3551858" cy="1939281"/>
          </a:xfrm>
          <a:prstGeom prst="rect">
            <a:avLst/>
          </a:prstGeom>
        </p:spPr>
      </p:pic>
      <p:sp>
        <p:nvSpPr>
          <p:cNvPr id="67" name="Rectangle 66">
            <a:extLst>
              <a:ext uri="{FF2B5EF4-FFF2-40B4-BE49-F238E27FC236}">
                <a16:creationId xmlns:a16="http://schemas.microsoft.com/office/drawing/2014/main" id="{D476A3BC-B099-B8F3-7214-204D589D9A65}"/>
              </a:ext>
            </a:extLst>
          </p:cNvPr>
          <p:cNvSpPr/>
          <p:nvPr/>
        </p:nvSpPr>
        <p:spPr bwMode="auto">
          <a:xfrm>
            <a:off x="6681374" y="4334355"/>
            <a:ext cx="947279" cy="564842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vert="horz" wrap="square" lIns="90000" tIns="46800" rIns="36000" bIns="468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0" i="0" u="none" strike="noStrike" cap="none" normalizeH="0" baseline="0">
              <a:ln>
                <a:noFill/>
              </a:ln>
              <a:solidFill>
                <a:srgbClr val="120C80"/>
              </a:solidFill>
              <a:effectLst/>
              <a:latin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251613"/>
      </p:ext>
    </p:extLst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0942DFE2-B8E9-A1D6-3FAF-EB02B96DC6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4800" dirty="0"/>
              <a:t>Wrap up</a:t>
            </a:r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EF0451EF-4275-B5F4-7844-13C179D59E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1488898"/>
      </p:ext>
    </p:extLst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FEB1448-A606-356D-21CD-EB85865D2B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6973" y="1609754"/>
            <a:ext cx="11003744" cy="4760007"/>
          </a:xfrm>
        </p:spPr>
        <p:txBody>
          <a:bodyPr/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dirty="0">
                <a:hlinkClick r:id="rId2"/>
              </a:rPr>
              <a:t>FMI Webpage</a:t>
            </a:r>
            <a:endParaRPr lang="en-US" dirty="0"/>
          </a:p>
          <a:p>
            <a:pPr marL="608013" lvl="1" indent="-342900"/>
            <a:r>
              <a:rPr lang="en-US" dirty="0">
                <a:hlinkClick r:id="rId2"/>
              </a:rPr>
              <a:t>FMI tools list</a:t>
            </a:r>
            <a:endParaRPr lang="en-US" dirty="0"/>
          </a:p>
          <a:p>
            <a:pPr marL="608013" lvl="1" indent="-342900"/>
            <a:r>
              <a:rPr lang="en-US" dirty="0">
                <a:hlinkClick r:id="rId3"/>
              </a:rPr>
              <a:t>FMU validation</a:t>
            </a:r>
            <a:endParaRPr lang="en-US" dirty="0"/>
          </a:p>
          <a:p>
            <a:pPr marL="608013" lvl="1" indent="-342900"/>
            <a:r>
              <a:rPr lang="en-US" dirty="0">
                <a:hlinkClick r:id="rId4"/>
              </a:rPr>
              <a:t>Publications</a:t>
            </a:r>
            <a:endParaRPr lang="en-US" dirty="0"/>
          </a:p>
          <a:p>
            <a:endParaRPr lang="en-US" dirty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dirty="0">
                <a:hlinkClick r:id="rId5"/>
              </a:rPr>
              <a:t>Reference FMUs</a:t>
            </a:r>
            <a:endParaRPr lang="en-US" dirty="0"/>
          </a:p>
          <a:p>
            <a:pPr marL="608013" lvl="1" indent="-342900"/>
            <a:r>
              <a:rPr lang="en-US" dirty="0"/>
              <a:t>A set of hand-coded FMUs for development, testing and debugging of FMI.</a:t>
            </a:r>
          </a:p>
          <a:p>
            <a:endParaRPr lang="en-US" dirty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dirty="0"/>
              <a:t>In case of questions we recommend to use </a:t>
            </a:r>
            <a:r>
              <a:rPr lang="en-US" dirty="0" err="1">
                <a:hlinkClick r:id="rId6"/>
              </a:rPr>
              <a:t>StackOverflow</a:t>
            </a:r>
            <a:r>
              <a:rPr lang="en-US" dirty="0">
                <a:hlinkClick r:id="rId6"/>
              </a:rPr>
              <a:t> with tag „</a:t>
            </a:r>
            <a:r>
              <a:rPr lang="en-US" dirty="0" err="1">
                <a:hlinkClick r:id="rId6"/>
              </a:rPr>
              <a:t>fmi</a:t>
            </a:r>
            <a:r>
              <a:rPr lang="en-US" dirty="0">
                <a:hlinkClick r:id="rId6"/>
              </a:rPr>
              <a:t>“ </a:t>
            </a:r>
            <a:endParaRPr lang="en-US" dirty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dirty="0"/>
              <a:t>You are welcome to join the (unofficial) </a:t>
            </a:r>
            <a:r>
              <a:rPr lang="en-US" dirty="0">
                <a:hlinkClick r:id="rId7"/>
              </a:rPr>
              <a:t>FMI LinkedIn Group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42E9CC4-362C-29FA-8245-5663A7F1F9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Resources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022D0D8-DF6F-72F9-C17C-ECFEB083653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71530" y="1412081"/>
            <a:ext cx="3350698" cy="145616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4E3B75B-E2CB-6176-0877-2D1D3F895820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69879" y="4472298"/>
            <a:ext cx="1981364" cy="38613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93D4B93-BCA7-B3CA-C487-6DB71A87A01D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69879" y="5056103"/>
            <a:ext cx="501890" cy="501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4098594"/>
      </p:ext>
    </p:extLst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60001F4-E65E-6E2F-EC48-F883483ADE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/>
              <a:t>Thank you!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B6347E8-D638-C528-AB7E-0883994ABFBA}"/>
              </a:ext>
            </a:extLst>
          </p:cNvPr>
          <p:cNvSpPr txBox="1"/>
          <p:nvPr/>
        </p:nvSpPr>
        <p:spPr>
          <a:xfrm>
            <a:off x="620184" y="1911365"/>
            <a:ext cx="11040533" cy="3847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6000" b="1" i="1" dirty="0">
                <a:solidFill>
                  <a:srgbClr val="5E676E"/>
                </a:solidFill>
                <a:latin typeface="+mn-lt"/>
              </a:rPr>
              <a:t>Any questions or comments?</a:t>
            </a:r>
          </a:p>
          <a:p>
            <a:endParaRPr lang="en-US" sz="2800" b="1" dirty="0">
              <a:solidFill>
                <a:srgbClr val="5E676E"/>
              </a:solidFill>
              <a:latin typeface="+mn-lt"/>
            </a:endParaRPr>
          </a:p>
          <a:p>
            <a:endParaRPr lang="en-US" sz="2800" b="1" dirty="0">
              <a:solidFill>
                <a:srgbClr val="5E676E"/>
              </a:solidFill>
              <a:latin typeface="+mn-lt"/>
            </a:endParaRPr>
          </a:p>
          <a:p>
            <a:endParaRPr lang="en-US" b="1" dirty="0">
              <a:solidFill>
                <a:srgbClr val="5E676E"/>
              </a:solidFill>
              <a:latin typeface="+mn-lt"/>
            </a:endParaRPr>
          </a:p>
          <a:p>
            <a:r>
              <a:rPr lang="en-US" b="1" dirty="0">
                <a:solidFill>
                  <a:srgbClr val="5E676E"/>
                </a:solidFill>
                <a:latin typeface="+mn-lt"/>
              </a:rPr>
              <a:t>Presenter Contacts</a:t>
            </a:r>
          </a:p>
          <a:p>
            <a:endParaRPr lang="it-IT" dirty="0">
              <a:solidFill>
                <a:srgbClr val="5E676E"/>
              </a:solidFill>
              <a:latin typeface="+mn-lt"/>
            </a:endParaRPr>
          </a:p>
          <a:p>
            <a:r>
              <a:rPr lang="it-IT" dirty="0" err="1">
                <a:solidFill>
                  <a:srgbClr val="5E676E"/>
                </a:solidFill>
                <a:latin typeface="+mn-lt"/>
              </a:rPr>
              <a:t>Christian.Bertsch</a:t>
            </a:r>
            <a:r>
              <a:rPr lang="it-IT" dirty="0">
                <a:solidFill>
                  <a:srgbClr val="5E676E"/>
                </a:solidFill>
                <a:latin typeface="+mn-lt"/>
              </a:rPr>
              <a:t> </a:t>
            </a:r>
            <a:r>
              <a:rPr lang="it-IT" dirty="0">
                <a:solidFill>
                  <a:srgbClr val="5E676E"/>
                </a:solidFill>
                <a:latin typeface="+mn-lt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Christian.Bertsch@de.bosch.com</a:t>
            </a:r>
            <a:r>
              <a:rPr lang="it-IT" dirty="0">
                <a:solidFill>
                  <a:srgbClr val="5E676E"/>
                </a:solidFill>
                <a:latin typeface="+mn-lt"/>
              </a:rPr>
              <a:t>, </a:t>
            </a:r>
            <a:r>
              <a:rPr lang="it-IT" dirty="0">
                <a:solidFill>
                  <a:srgbClr val="5E676E"/>
                </a:solidFill>
                <a:latin typeface="+mn-l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contact@fmi-standard.org</a:t>
            </a:r>
            <a:r>
              <a:rPr lang="it-IT" dirty="0">
                <a:solidFill>
                  <a:srgbClr val="5E676E"/>
                </a:solidFill>
                <a:latin typeface="+mn-lt"/>
              </a:rPr>
              <a:t>  </a:t>
            </a:r>
          </a:p>
          <a:p>
            <a:endParaRPr lang="it-IT" dirty="0">
              <a:solidFill>
                <a:srgbClr val="5E676E"/>
              </a:solidFill>
              <a:latin typeface="+mn-lt"/>
            </a:endParaRPr>
          </a:p>
          <a:p>
            <a:r>
              <a:rPr lang="it-IT" dirty="0">
                <a:solidFill>
                  <a:srgbClr val="5E676E"/>
                </a:solidFill>
                <a:latin typeface="+mn-lt"/>
              </a:rPr>
              <a:t>Maurizio Palmieri </a:t>
            </a:r>
            <a:r>
              <a:rPr lang="it-IT" dirty="0">
                <a:solidFill>
                  <a:srgbClr val="5E676E"/>
                </a:solidFill>
                <a:latin typeface="+mn-l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maurizio.palmieri@ing.unipi.it</a:t>
            </a:r>
            <a:endParaRPr lang="it-IT" dirty="0">
              <a:solidFill>
                <a:srgbClr val="5E676E"/>
              </a:solidFill>
              <a:latin typeface="+mn-lt"/>
            </a:endParaRPr>
          </a:p>
          <a:p>
            <a:endParaRPr lang="it-IT" dirty="0">
              <a:solidFill>
                <a:srgbClr val="5E676E"/>
              </a:solidFill>
              <a:latin typeface="+mn-lt"/>
            </a:endParaRPr>
          </a:p>
          <a:p>
            <a:r>
              <a:rPr lang="pt-BR" dirty="0">
                <a:solidFill>
                  <a:srgbClr val="5E676E"/>
                </a:solidFill>
                <a:latin typeface="+mn-lt"/>
              </a:rPr>
              <a:t>Cláudio Gomes </a:t>
            </a:r>
            <a:r>
              <a:rPr lang="pt-BR" dirty="0">
                <a:solidFill>
                  <a:srgbClr val="5E676E"/>
                </a:solidFill>
                <a:latin typeface="+mn-l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claudio.gomes@ece.au.dk</a:t>
            </a:r>
            <a:endParaRPr lang="pt-BR" dirty="0">
              <a:solidFill>
                <a:srgbClr val="5E676E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896458247"/>
      </p:ext>
    </p:extLst>
  </p:cSld>
  <p:clrMapOvr>
    <a:masterClrMapping/>
  </p:clrMapOvr>
  <p:transition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A_0" val="AAAAAAH//////////wEAAAAAAAAAAAAAACoqIFRoaXMgaXMgYSBMaXRlREIgZmlsZSAqKgcE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gAAAAAAAAAEAAAACQAAAF9pZD0kLl9pZAEDAAAAAAADAAAAAQADAAAAIwAAAENvbWJpSW5kZXg9JC5OYW1lICsgJ18nICsgJC5WZXJzaW9uAQUAAAAAAAUAAAABAAU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IBAQEBAQEBAQEBAQEBAQMAAAAAAAAAAwAAAAMAAAAA/////wQASwwAAAAAAAAAAAAAIAD///////////////8AAAD///////////////8D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M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UAAAACABAACxFDsxXLpNBIlAhf2ovXpfcEAAAAAAADAAAAAAADAAAAAwADAAEA////////BQAAAAMAEAALHmXTd2OnlkKGc8roTf90kQQAAAABAAMAAAACAAMAAAA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////8CAI4OAAAAAAAAAAAAAP/////GAMYAAAAFX2lkABAAAAAEEUOzFcuk0EiUCF/ai9el9wNEYXRhAFMAAAAIUHJlc2VudGF0aW9uU2Nhbm5lZEZvckxpbmtlZFNoYXBlcwAAAk51bWJlckZvcm1hdFNlcGFyYXRvck1vZGUACgAAAEF1dG9tYXRpYwAAAk5hbWUAJAAAAExpbmtlZFNoYXBlUHJlc2VudGF0aW9uU2V0dGluZ3NEYXRhABBWZXJzaW9uAAAAAAAJTGFzdFdyaXRlABfTpjiYAQAAAAEA/////4MAgwAAAAVfaWQAEAAAAAQeZdN3Y6eWQoZzyuhN/3SRA0RhdGEAGwAAAARMaW5rZWRTaGFwZURhdGEABQAAAAAAAk5hbWUAGQAAAExpbmtlZFNoYXBlc0RhdGFQcm9wZXJ0eQAQVmVyc2lvbgABAAAACUxhc3RXcml0ZQD60qY4m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/////BAAgDAAAAAAAAAAAAAAgAf///////////////wAAAP///////////////wUAAAACAP///////wU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EAIAH///////////////8AAA7///////8FAAAAAw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CAAIBAwAAAAIA////////JQAGTGlua2VkU2hhcGVQcmVzZW50YXRpb25TZXR0aW5nc0RhdGFfMAQAAAAAAAUAAAAAAAUAAAADAAUAAAAAAP///////wMAAQEDAAAAAwD///////8aAAZMaW5rZWRTaGFwZXNEYXRhUHJvcGVydHlfMQQAAAABAAUAAAACAAUAAAA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A"/>
  <p:tag name="EMPOWERCHARTSPROPERTIES_LASTWRITEDATE" val="638888939139197104"/>
  <p:tag name="EMPOWERCHARTSPROPERTIES_A_LENGTH" val="24576"/>
</p:tagLst>
</file>

<file path=ppt/theme/theme1.xml><?xml version="1.0" encoding="utf-8"?>
<a:theme xmlns:a="http://schemas.openxmlformats.org/drawingml/2006/main" name="Modelisar Template - HighRes">
  <a:themeElements>
    <a:clrScheme name="FMI Colors">
      <a:dk1>
        <a:srgbClr val="00376F"/>
      </a:dk1>
      <a:lt1>
        <a:srgbClr val="FFFFFF"/>
      </a:lt1>
      <a:dk2>
        <a:srgbClr val="00376F"/>
      </a:dk2>
      <a:lt2>
        <a:srgbClr val="00376F"/>
      </a:lt2>
      <a:accent1>
        <a:srgbClr val="E8450B"/>
      </a:accent1>
      <a:accent2>
        <a:srgbClr val="006BAB"/>
      </a:accent2>
      <a:accent3>
        <a:srgbClr val="0099D9"/>
      </a:accent3>
      <a:accent4>
        <a:srgbClr val="000000"/>
      </a:accent4>
      <a:accent5>
        <a:srgbClr val="E5E6E8"/>
      </a:accent5>
      <a:accent6>
        <a:srgbClr val="6A6C6E"/>
      </a:accent6>
      <a:hlink>
        <a:srgbClr val="AFB2B4"/>
      </a:hlink>
      <a:folHlink>
        <a:srgbClr val="006BAB"/>
      </a:folHlink>
    </a:clrScheme>
    <a:fontScheme name="Modelisar Template - Variant3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arrow" w="med" len="med"/>
        </a:ln>
        <a:effectLst/>
      </a:spPr>
      <a:bodyPr vert="horz" wrap="square" lIns="90000" tIns="46800" rIns="36000" bIns="4680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de-DE" sz="1600" b="0" i="0" u="none" strike="noStrike" cap="none" normalizeH="0" baseline="0" smtClean="0">
            <a:ln>
              <a:noFill/>
            </a:ln>
            <a:solidFill>
              <a:srgbClr val="120C80"/>
            </a:solidFill>
            <a:effectLst/>
            <a:latin typeface="Arial" charset="0"/>
            <a:cs typeface="Arial" charset="0"/>
          </a:defRPr>
        </a:defPPr>
      </a:lstStyle>
    </a:spDef>
    <a:lnDef>
      <a:spPr bwMode="auto">
        <a:noFill/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arrow" w="med" len="med"/>
        </a:ln>
        <a:effectLst/>
      </a:spPr>
      <a:bodyPr/>
      <a:lstStyle/>
    </a:lnDef>
  </a:objectDefaults>
  <a:extraClrSchemeLst>
    <a:extraClrScheme>
      <a:clrScheme name="Modelisar Template - Variant3 1">
        <a:dk1>
          <a:srgbClr val="000000"/>
        </a:dk1>
        <a:lt1>
          <a:srgbClr val="FFFFFF"/>
        </a:lt1>
        <a:dk2>
          <a:srgbClr val="263F6A"/>
        </a:dk2>
        <a:lt2>
          <a:srgbClr val="3F9AC9"/>
        </a:lt2>
        <a:accent1>
          <a:srgbClr val="D2D4D6"/>
        </a:accent1>
        <a:accent2>
          <a:srgbClr val="76787A"/>
        </a:accent2>
        <a:accent3>
          <a:srgbClr val="FFFFFF"/>
        </a:accent3>
        <a:accent4>
          <a:srgbClr val="000000"/>
        </a:accent4>
        <a:accent5>
          <a:srgbClr val="E5E6E8"/>
        </a:accent5>
        <a:accent6>
          <a:srgbClr val="6A6C6E"/>
        </a:accent6>
        <a:hlink>
          <a:srgbClr val="AFB2B4"/>
        </a:hlink>
        <a:folHlink>
          <a:srgbClr val="DFE0E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FMI_Slides_Template.potx" id="{DDA90B7E-EDEC-4FD0-B18D-1DE6322ED5AA}" vid="{215188B0-EEDC-497C-AD67-C5A97F035758}"/>
    </a:ext>
  </a:extLst>
</a:theme>
</file>

<file path=ppt/theme/theme2.xml><?xml version="1.0" encoding="utf-8"?>
<a:theme xmlns:a="http://schemas.openxmlformats.org/drawingml/2006/main" name="1_Modelisar Template - HighRes">
  <a:themeElements>
    <a:clrScheme name="FMI Colors">
      <a:dk1>
        <a:srgbClr val="00376F"/>
      </a:dk1>
      <a:lt1>
        <a:srgbClr val="FFFFFF"/>
      </a:lt1>
      <a:dk2>
        <a:srgbClr val="00376F"/>
      </a:dk2>
      <a:lt2>
        <a:srgbClr val="00376F"/>
      </a:lt2>
      <a:accent1>
        <a:srgbClr val="E8450B"/>
      </a:accent1>
      <a:accent2>
        <a:srgbClr val="006BAB"/>
      </a:accent2>
      <a:accent3>
        <a:srgbClr val="0099D9"/>
      </a:accent3>
      <a:accent4>
        <a:srgbClr val="000000"/>
      </a:accent4>
      <a:accent5>
        <a:srgbClr val="E5E6E8"/>
      </a:accent5>
      <a:accent6>
        <a:srgbClr val="6A6C6E"/>
      </a:accent6>
      <a:hlink>
        <a:srgbClr val="AFB2B4"/>
      </a:hlink>
      <a:folHlink>
        <a:srgbClr val="006BAB"/>
      </a:folHlink>
    </a:clrScheme>
    <a:fontScheme name="Modelisar Template - Variant3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arrow" w="med" len="med"/>
        </a:ln>
        <a:effectLst/>
      </a:spPr>
      <a:bodyPr vert="horz" wrap="square" lIns="90000" tIns="46800" rIns="36000" bIns="4680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de-DE" sz="1600" b="0" i="0" u="none" strike="noStrike" cap="none" normalizeH="0" baseline="0" smtClean="0">
            <a:ln>
              <a:noFill/>
            </a:ln>
            <a:solidFill>
              <a:srgbClr val="120C80"/>
            </a:solidFill>
            <a:effectLst/>
            <a:latin typeface="Arial" charset="0"/>
            <a:cs typeface="Arial" charset="0"/>
          </a:defRPr>
        </a:defPPr>
      </a:lstStyle>
    </a:spDef>
    <a:lnDef>
      <a:spPr bwMode="auto">
        <a:noFill/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arrow" w="med" len="med"/>
        </a:ln>
        <a:effectLst/>
      </a:spPr>
      <a:bodyPr/>
      <a:lstStyle/>
    </a:lnDef>
  </a:objectDefaults>
  <a:extraClrSchemeLst>
    <a:extraClrScheme>
      <a:clrScheme name="Modelisar Template - Variant3 1">
        <a:dk1>
          <a:srgbClr val="000000"/>
        </a:dk1>
        <a:lt1>
          <a:srgbClr val="FFFFFF"/>
        </a:lt1>
        <a:dk2>
          <a:srgbClr val="263F6A"/>
        </a:dk2>
        <a:lt2>
          <a:srgbClr val="3F9AC9"/>
        </a:lt2>
        <a:accent1>
          <a:srgbClr val="D2D4D6"/>
        </a:accent1>
        <a:accent2>
          <a:srgbClr val="76787A"/>
        </a:accent2>
        <a:accent3>
          <a:srgbClr val="FFFFFF"/>
        </a:accent3>
        <a:accent4>
          <a:srgbClr val="000000"/>
        </a:accent4>
        <a:accent5>
          <a:srgbClr val="E5E6E8"/>
        </a:accent5>
        <a:accent6>
          <a:srgbClr val="6A6C6E"/>
        </a:accent6>
        <a:hlink>
          <a:srgbClr val="AFB2B4"/>
        </a:hlink>
        <a:folHlink>
          <a:srgbClr val="DFE0E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FMI_Slides_Template.potx" id="{DDA90B7E-EDEC-4FD0-B18D-1DE6322ED5AA}" vid="{215188B0-EEDC-497C-AD67-C5A97F035758}"/>
    </a:ext>
  </a:extLst>
</a:theme>
</file>

<file path=ppt/theme/theme3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E5FCAD8E6222F478CF98AE6458717E4" ma:contentTypeVersion="0" ma:contentTypeDescription="Create a new document." ma:contentTypeScope="" ma:versionID="ae4c969974cdc097ec4092e4953e579e">
  <xsd:schema xmlns:xsd="http://www.w3.org/2001/XMLSchema" xmlns:p="http://schemas.microsoft.com/office/2006/metadata/properties" targetNamespace="http://schemas.microsoft.com/office/2006/metadata/properties" ma:root="true" ma:fieldsID="9684e7e44b4b32ae9d4fdaa413507a5d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office/internal/2005/internalDocumentation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 ma:readOnly="tru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lastPrinted" minOccurs="0" maxOccurs="1" type="xsd:dateTime"/>
        <xsd:element name="contentStatus" minOccurs="0" maxOccurs="1" type="xsd:string"/>
      </xsd:all>
    </xsd:complexType>
  </xsd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D6DDF4F8-48B7-40A7-A044-30F13F7F87C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office/internal/2005/internalDocumentation"/>
  </ds:schemaRefs>
</ds:datastoreItem>
</file>

<file path=customXml/itemProps2.xml><?xml version="1.0" encoding="utf-8"?>
<ds:datastoreItem xmlns:ds="http://schemas.openxmlformats.org/officeDocument/2006/customXml" ds:itemID="{2605D1E8-C791-4C95-A083-CBF3AF871BEC}">
  <ds:schemaRefs>
    <ds:schemaRef ds:uri="http://purl.org/dc/terms/"/>
    <ds:schemaRef ds:uri="http://purl.org/dc/elements/1.1/"/>
    <ds:schemaRef ds:uri="http://schemas.openxmlformats.org/package/2006/metadata/core-properties"/>
    <ds:schemaRef ds:uri="http://schemas.microsoft.com/office/2006/documentManagement/types"/>
    <ds:schemaRef ds:uri="http://schemas.microsoft.com/office/2006/metadata/properties"/>
    <ds:schemaRef ds:uri="http://www.w3.org/XML/1998/namespace"/>
    <ds:schemaRef ds:uri="http://purl.org/dc/dcmitype/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1470</Words>
  <Application>Microsoft Office PowerPoint</Application>
  <PresentationFormat>Breitbild</PresentationFormat>
  <Paragraphs>185</Paragraphs>
  <Slides>19</Slides>
  <Notes>7</Notes>
  <HiddenSlides>1</HiddenSlides>
  <MMClips>0</MMClips>
  <ScaleCrop>false</ScaleCrop>
  <HeadingPairs>
    <vt:vector size="6" baseType="variant">
      <vt:variant>
        <vt:lpstr>Verwendete Schriftarten</vt:lpstr>
      </vt:variant>
      <vt:variant>
        <vt:i4>7</vt:i4>
      </vt:variant>
      <vt:variant>
        <vt:lpstr>Design</vt:lpstr>
      </vt:variant>
      <vt:variant>
        <vt:i4>2</vt:i4>
      </vt:variant>
      <vt:variant>
        <vt:lpstr>Folientitel</vt:lpstr>
      </vt:variant>
      <vt:variant>
        <vt:i4>19</vt:i4>
      </vt:variant>
    </vt:vector>
  </HeadingPairs>
  <TitlesOfParts>
    <vt:vector size="28" baseType="lpstr">
      <vt:lpstr>-apple-system</vt:lpstr>
      <vt:lpstr>Arial</vt:lpstr>
      <vt:lpstr>Arial corpo</vt:lpstr>
      <vt:lpstr>Arial corpo </vt:lpstr>
      <vt:lpstr>AU Passata</vt:lpstr>
      <vt:lpstr>Calibri</vt:lpstr>
      <vt:lpstr>Wingdings</vt:lpstr>
      <vt:lpstr>Modelisar Template - HighRes</vt:lpstr>
      <vt:lpstr>1_Modelisar Template - HighRes</vt:lpstr>
      <vt:lpstr>FMI Advanced topics</vt:lpstr>
      <vt:lpstr>Content</vt:lpstr>
      <vt:lpstr>Layered Standards</vt:lpstr>
      <vt:lpstr>FMI-LS-BUS: Layered Standard Network Communication </vt:lpstr>
      <vt:lpstr>FMI LS-STRUCT: Layered Standard for Variable Structuring </vt:lpstr>
      <vt:lpstr>FMI Applications    and Its Role in Digital Twins</vt:lpstr>
      <vt:lpstr>Autonomous Driving Advanced System (SW/HW co-simulation)</vt:lpstr>
      <vt:lpstr>Multi-agent systems: aerial, land vehicles</vt:lpstr>
      <vt:lpstr>Human-centered systems</vt:lpstr>
      <vt:lpstr>Communications in connected vehicles  </vt:lpstr>
      <vt:lpstr>Other applications</vt:lpstr>
      <vt:lpstr> </vt:lpstr>
      <vt:lpstr>Definition in this Tutorial: Digital Shadow</vt:lpstr>
      <vt:lpstr>Digital Twin Definition in this Tutorial</vt:lpstr>
      <vt:lpstr>Opportunities of FMI in DTs</vt:lpstr>
      <vt:lpstr>Role of FMI in Digital Twinning</vt:lpstr>
      <vt:lpstr> </vt:lpstr>
      <vt:lpstr>Resources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FMI – Current Challenges, Trends and Developments</dc:title>
  <dc:creator>Andreas Junghanns</dc:creator>
  <cp:lastModifiedBy>Bertsch Christian (CR/ASI3)</cp:lastModifiedBy>
  <cp:revision>294</cp:revision>
  <dcterms:created xsi:type="dcterms:W3CDTF">2021-01-29T10:20:31Z</dcterms:created>
  <dcterms:modified xsi:type="dcterms:W3CDTF">2025-07-23T19:25:14Z</dcterms:modified>
</cp:coreProperties>
</file>